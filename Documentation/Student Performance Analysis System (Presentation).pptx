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8288000" cy="10287000"/>
  <p:notesSz cx="6858000" cy="9144000"/>
  <p:embeddedFontLst>
    <p:embeddedFont>
      <p:font typeface="Futura" panose="020B0604020202020204" charset="0"/>
      <p:regular r:id="rId36"/>
    </p:embeddedFont>
    <p:embeddedFont>
      <p:font typeface="Futura Bold" panose="020B0604020202020204" charset="0"/>
      <p:regular r:id="rId37"/>
    </p:embeddedFont>
    <p:embeddedFont>
      <p:font typeface="League Spartan" panose="020B0604020202020204" charset="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1162"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2.png"/><Relationship Id="rId5" Type="http://schemas.openxmlformats.org/officeDocument/2006/relationships/image" Target="../media/image10.svg"/><Relationship Id="rId10"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1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2.png"/><Relationship Id="rId5" Type="http://schemas.openxmlformats.org/officeDocument/2006/relationships/image" Target="../media/image2.svg"/><Relationship Id="rId10" Type="http://schemas.openxmlformats.org/officeDocument/2006/relationships/image" Target="../media/image11.png"/><Relationship Id="rId4" Type="http://schemas.openxmlformats.org/officeDocument/2006/relationships/image" Target="../media/image1.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7.png"/><Relationship Id="rId3" Type="http://schemas.openxmlformats.org/officeDocument/2006/relationships/image" Target="../media/image16.svg"/><Relationship Id="rId7" Type="http://schemas.openxmlformats.org/officeDocument/2006/relationships/image" Target="../media/image2.svg"/><Relationship Id="rId12" Type="http://schemas.openxmlformats.org/officeDocument/2006/relationships/oleObject" Target="../embeddings/oleObject1.bin"/><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2.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4.svg"/><Relationship Id="rId1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10.svg"/><Relationship Id="rId18" Type="http://schemas.openxmlformats.org/officeDocument/2006/relationships/image" Target="../media/image24.png"/><Relationship Id="rId3" Type="http://schemas.openxmlformats.org/officeDocument/2006/relationships/image" Target="../media/image19.svg"/><Relationship Id="rId21" Type="http://schemas.openxmlformats.org/officeDocument/2006/relationships/image" Target="../media/image12.png"/><Relationship Id="rId7" Type="http://schemas.openxmlformats.org/officeDocument/2006/relationships/image" Target="../media/image4.svg"/><Relationship Id="rId12" Type="http://schemas.openxmlformats.org/officeDocument/2006/relationships/image" Target="../media/image9.png"/><Relationship Id="rId17" Type="http://schemas.openxmlformats.org/officeDocument/2006/relationships/image" Target="../media/image23.svg"/><Relationship Id="rId2" Type="http://schemas.openxmlformats.org/officeDocument/2006/relationships/image" Target="../media/image18.png"/><Relationship Id="rId16" Type="http://schemas.openxmlformats.org/officeDocument/2006/relationships/image" Target="../media/image22.png"/><Relationship Id="rId20"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4.svg"/><Relationship Id="rId5" Type="http://schemas.openxmlformats.org/officeDocument/2006/relationships/image" Target="../media/image16.svg"/><Relationship Id="rId15" Type="http://schemas.openxmlformats.org/officeDocument/2006/relationships/image" Target="../media/image21.svg"/><Relationship Id="rId10" Type="http://schemas.openxmlformats.org/officeDocument/2006/relationships/image" Target="../media/image13.png"/><Relationship Id="rId19" Type="http://schemas.openxmlformats.org/officeDocument/2006/relationships/image" Target="../media/image25.svg"/><Relationship Id="rId4" Type="http://schemas.openxmlformats.org/officeDocument/2006/relationships/image" Target="../media/image15.png"/><Relationship Id="rId9" Type="http://schemas.openxmlformats.org/officeDocument/2006/relationships/image" Target="../media/image2.sv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6.svg"/><Relationship Id="rId7" Type="http://schemas.openxmlformats.org/officeDocument/2006/relationships/image" Target="../media/image4.svg"/><Relationship Id="rId12"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1.png"/><Relationship Id="rId5" Type="http://schemas.openxmlformats.org/officeDocument/2006/relationships/image" Target="../media/image10.svg"/><Relationship Id="rId10" Type="http://schemas.openxmlformats.org/officeDocument/2006/relationships/image" Target="../media/image28.png"/><Relationship Id="rId4" Type="http://schemas.openxmlformats.org/officeDocument/2006/relationships/image" Target="../media/image9.png"/><Relationship Id="rId9"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4.sv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image" Target="../media/image6.svg"/><Relationship Id="rId9"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8.sv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svg"/><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4.svg"/><Relationship Id="rId3" Type="http://schemas.openxmlformats.org/officeDocument/2006/relationships/image" Target="../media/image6.svg"/><Relationship Id="rId7" Type="http://schemas.openxmlformats.org/officeDocument/2006/relationships/image" Target="../media/image12.png"/><Relationship Id="rId12"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svg"/><Relationship Id="rId5" Type="http://schemas.openxmlformats.org/officeDocument/2006/relationships/image" Target="../media/image10.svg"/><Relationship Id="rId10"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8.sv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8.svg"/></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10.svg"/><Relationship Id="rId10"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4.svg"/></Relationships>
</file>

<file path=ppt/slides/_rels/slide2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8.sv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4.svg"/><Relationship Id="rId3" Type="http://schemas.openxmlformats.org/officeDocument/2006/relationships/image" Target="../media/image6.svg"/><Relationship Id="rId7" Type="http://schemas.openxmlformats.org/officeDocument/2006/relationships/image" Target="../media/image12.png"/><Relationship Id="rId12"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svg"/><Relationship Id="rId5" Type="http://schemas.openxmlformats.org/officeDocument/2006/relationships/image" Target="../media/image10.svg"/><Relationship Id="rId10"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8.svg"/></Relationships>
</file>

<file path=ppt/slides/_rels/slide2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_rels/slide2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_rels/slide26.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6.sv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3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2.png"/></Relationships>
</file>

<file path=ppt/slides/_rels/slide3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3497880" y="5436094"/>
            <a:ext cx="5804607" cy="5804607"/>
          </a:xfrm>
          <a:custGeom>
            <a:avLst/>
            <a:gdLst/>
            <a:ahLst/>
            <a:cxnLst/>
            <a:rect l="l" t="t" r="r" b="b"/>
            <a:pathLst>
              <a:path w="5804607" h="5804607">
                <a:moveTo>
                  <a:pt x="0" y="0"/>
                </a:moveTo>
                <a:lnTo>
                  <a:pt x="5804607" y="0"/>
                </a:lnTo>
                <a:lnTo>
                  <a:pt x="5804607" y="5804607"/>
                </a:lnTo>
                <a:lnTo>
                  <a:pt x="0" y="58046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175781" y="7597308"/>
            <a:ext cx="5804607" cy="5804607"/>
          </a:xfrm>
          <a:custGeom>
            <a:avLst/>
            <a:gdLst/>
            <a:ahLst/>
            <a:cxnLst/>
            <a:rect l="l" t="t" r="r" b="b"/>
            <a:pathLst>
              <a:path w="5804607" h="5804607">
                <a:moveTo>
                  <a:pt x="0" y="0"/>
                </a:moveTo>
                <a:lnTo>
                  <a:pt x="5804607" y="0"/>
                </a:lnTo>
                <a:lnTo>
                  <a:pt x="5804607" y="5804607"/>
                </a:lnTo>
                <a:lnTo>
                  <a:pt x="0" y="5804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43526" y="7597308"/>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5980388" y="1346208"/>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4267336" y="7597308"/>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494844" y="2733491"/>
            <a:ext cx="16031368" cy="4393311"/>
          </a:xfrm>
          <a:prstGeom prst="rect">
            <a:avLst/>
          </a:prstGeom>
        </p:spPr>
        <p:txBody>
          <a:bodyPr lIns="0" tIns="0" rIns="0" bIns="0" rtlCol="0" anchor="t">
            <a:spAutoFit/>
          </a:bodyPr>
          <a:lstStyle/>
          <a:p>
            <a:pPr algn="l">
              <a:lnSpc>
                <a:spcPts val="11562"/>
              </a:lnSpc>
            </a:pPr>
            <a:r>
              <a:rPr lang="en-US" sz="9400">
                <a:solidFill>
                  <a:srgbClr val="000000"/>
                </a:solidFill>
                <a:latin typeface="League Spartan"/>
                <a:ea typeface="League Spartan"/>
                <a:cs typeface="League Spartan"/>
                <a:sym typeface="League Spartan"/>
              </a:rPr>
              <a:t>STUDENT PERFORMANCE ANALYSIS SYSTEM</a:t>
            </a:r>
          </a:p>
          <a:p>
            <a:pPr algn="l">
              <a:lnSpc>
                <a:spcPts val="11562"/>
              </a:lnSpc>
            </a:pPr>
            <a:endParaRPr lang="en-US" sz="9400">
              <a:solidFill>
                <a:srgbClr val="000000"/>
              </a:solidFill>
              <a:latin typeface="League Spartan"/>
              <a:ea typeface="League Spartan"/>
              <a:cs typeface="League Spartan"/>
              <a:sym typeface="League Spartan"/>
            </a:endParaRPr>
          </a:p>
        </p:txBody>
      </p:sp>
      <p:sp>
        <p:nvSpPr>
          <p:cNvPr id="8" name="TextBox 8"/>
          <p:cNvSpPr txBox="1"/>
          <p:nvPr/>
        </p:nvSpPr>
        <p:spPr>
          <a:xfrm>
            <a:off x="-143887" y="6477391"/>
            <a:ext cx="15752001" cy="1279771"/>
          </a:xfrm>
          <a:prstGeom prst="rect">
            <a:avLst/>
          </a:prstGeom>
        </p:spPr>
        <p:txBody>
          <a:bodyPr lIns="0" tIns="0" rIns="0" bIns="0" rtlCol="0" anchor="t">
            <a:spAutoFit/>
          </a:bodyPr>
          <a:lstStyle/>
          <a:p>
            <a:pPr algn="ctr">
              <a:lnSpc>
                <a:spcPts val="5045"/>
              </a:lnSpc>
            </a:pPr>
            <a:r>
              <a:rPr lang="en-US" sz="4101">
                <a:solidFill>
                  <a:srgbClr val="000000"/>
                </a:solidFill>
                <a:latin typeface="League Spartan"/>
                <a:ea typeface="League Spartan"/>
                <a:cs typeface="League Spartan"/>
                <a:sym typeface="League Spartan"/>
              </a:rPr>
              <a:t>Digital Egypt Pioneers Initiative (DEPI)</a:t>
            </a:r>
          </a:p>
          <a:p>
            <a:pPr algn="ctr">
              <a:lnSpc>
                <a:spcPts val="5045"/>
              </a:lnSpc>
            </a:pPr>
            <a:r>
              <a:rPr lang="en-US" sz="4101">
                <a:solidFill>
                  <a:srgbClr val="000000"/>
                </a:solidFill>
                <a:latin typeface="League Spartan"/>
                <a:ea typeface="League Spartan"/>
                <a:cs typeface="League Spartan"/>
                <a:sym typeface="League Spartan"/>
              </a:rPr>
              <a:t> AI &amp; Data Science Track</a:t>
            </a:r>
          </a:p>
        </p:txBody>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2"/>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3"/>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3202280" y="530646"/>
            <a:ext cx="19772807" cy="10398634"/>
          </a:xfrm>
          <a:custGeom>
            <a:avLst/>
            <a:gdLst/>
            <a:ahLst/>
            <a:cxnLst/>
            <a:rect l="l" t="t" r="r" b="b"/>
            <a:pathLst>
              <a:path w="19772807" h="10398634">
                <a:moveTo>
                  <a:pt x="0" y="0"/>
                </a:moveTo>
                <a:lnTo>
                  <a:pt x="19772806" y="0"/>
                </a:lnTo>
                <a:lnTo>
                  <a:pt x="19772806" y="10398634"/>
                </a:lnTo>
                <a:lnTo>
                  <a:pt x="0" y="10398634"/>
                </a:lnTo>
                <a:lnTo>
                  <a:pt x="0" y="0"/>
                </a:lnTo>
                <a:close/>
              </a:path>
            </a:pathLst>
          </a:custGeom>
          <a:blipFill>
            <a:blip r:embed="rId2">
              <a:alphaModFix amt="89000"/>
              <a:extLst>
                <a:ext uri="{96DAC541-7B7A-43D3-8B79-37D633B846F1}">
                  <asvg:svgBlip xmlns:asvg="http://schemas.microsoft.com/office/drawing/2016/SVG/main" r:embed="rId3"/>
                </a:ext>
              </a:extLst>
            </a:blip>
            <a:stretch>
              <a:fillRect t="-90148"/>
            </a:stretch>
          </a:blipFill>
        </p:spPr>
      </p:sp>
      <p:sp>
        <p:nvSpPr>
          <p:cNvPr id="3" name="Freeform 3"/>
          <p:cNvSpPr/>
          <p:nvPr/>
        </p:nvSpPr>
        <p:spPr>
          <a:xfrm>
            <a:off x="-471206" y="8735786"/>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AutoShape 4"/>
          <p:cNvSpPr/>
          <p:nvPr/>
        </p:nvSpPr>
        <p:spPr>
          <a:xfrm>
            <a:off x="5897880" y="10272712"/>
            <a:ext cx="6492240" cy="0"/>
          </a:xfrm>
          <a:prstGeom prst="line">
            <a:avLst/>
          </a:prstGeom>
          <a:ln w="28575" cap="rnd">
            <a:solidFill>
              <a:srgbClr val="000000"/>
            </a:solidFill>
            <a:prstDash val="solid"/>
            <a:headEnd type="none" w="sm" len="sm"/>
            <a:tailEnd type="none" w="sm" len="sm"/>
          </a:ln>
        </p:spPr>
      </p:sp>
      <p:sp>
        <p:nvSpPr>
          <p:cNvPr id="5" name="Freeform 5"/>
          <p:cNvSpPr/>
          <p:nvPr/>
        </p:nvSpPr>
        <p:spPr>
          <a:xfrm rot="3728645">
            <a:off x="-1906278" y="-4126557"/>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928974" y="5280219"/>
            <a:ext cx="9002364" cy="889963"/>
          </a:xfrm>
          <a:prstGeom prst="rect">
            <a:avLst/>
          </a:prstGeom>
        </p:spPr>
        <p:txBody>
          <a:bodyPr lIns="0" tIns="0" rIns="0" bIns="0" rtlCol="0" anchor="t">
            <a:spAutoFit/>
          </a:bodyPr>
          <a:lstStyle/>
          <a:p>
            <a:pPr algn="ctr">
              <a:lnSpc>
                <a:spcPts val="7118"/>
              </a:lnSpc>
            </a:pPr>
            <a:r>
              <a:rPr lang="en-US" sz="5787">
                <a:solidFill>
                  <a:srgbClr val="000000"/>
                </a:solidFill>
                <a:latin typeface="League Spartan"/>
                <a:ea typeface="League Spartan"/>
                <a:cs typeface="League Spartan"/>
                <a:sym typeface="League Spartan"/>
              </a:rPr>
              <a:t>Table of Contents</a:t>
            </a:r>
          </a:p>
        </p:txBody>
      </p:sp>
      <p:sp>
        <p:nvSpPr>
          <p:cNvPr id="7" name="TextBox 7"/>
          <p:cNvSpPr txBox="1"/>
          <p:nvPr/>
        </p:nvSpPr>
        <p:spPr>
          <a:xfrm>
            <a:off x="9980184" y="2277896"/>
            <a:ext cx="7914019" cy="7182029"/>
          </a:xfrm>
          <a:prstGeom prst="rect">
            <a:avLst/>
          </a:prstGeom>
        </p:spPr>
        <p:txBody>
          <a:bodyPr lIns="0" tIns="0" rIns="0" bIns="0" rtlCol="0" anchor="t">
            <a:spAutoFit/>
          </a:bodyPr>
          <a:lstStyle/>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Executive Summary</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Methodology &amp; Approach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Phase I: Data Preprocessing (ETL)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Phase II: Database Design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Phase III: SQL Analysis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Phase IV: Visual Analytics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Key Findings &amp; Insights </a:t>
            </a:r>
          </a:p>
          <a:p>
            <a:pPr marL="837291" lvl="1" indent="-418646" algn="l">
              <a:lnSpc>
                <a:spcPts val="7097"/>
              </a:lnSpc>
              <a:buAutoNum type="arabicPeriod"/>
            </a:pPr>
            <a:r>
              <a:rPr lang="en-US" sz="3878" b="1">
                <a:solidFill>
                  <a:srgbClr val="000000"/>
                </a:solidFill>
                <a:latin typeface="Futura Bold"/>
                <a:ea typeface="Futura Bold"/>
                <a:cs typeface="Futura Bold"/>
                <a:sym typeface="Futura Bold"/>
              </a:rPr>
              <a:t>Conclusion</a:t>
            </a:r>
          </a:p>
        </p:txBody>
      </p:sp>
      <p:sp>
        <p:nvSpPr>
          <p:cNvPr id="8" name="Freeform 8"/>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0"/>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1"/>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5163976" y="-2896148"/>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986252" y="-3401548"/>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474040"/>
            <a:ext cx="18288000" cy="5657850"/>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AFB3B1"/>
            </a:solidFill>
          </p:spPr>
        </p:sp>
      </p:grpSp>
      <p:sp>
        <p:nvSpPr>
          <p:cNvPr id="6" name="TextBox 6"/>
          <p:cNvSpPr txBox="1"/>
          <p:nvPr/>
        </p:nvSpPr>
        <p:spPr>
          <a:xfrm>
            <a:off x="540997" y="492966"/>
            <a:ext cx="8309792" cy="2295776"/>
          </a:xfrm>
          <a:prstGeom prst="rect">
            <a:avLst/>
          </a:prstGeom>
        </p:spPr>
        <p:txBody>
          <a:bodyPr lIns="0" tIns="0" rIns="0" bIns="0" rtlCol="0" anchor="t">
            <a:spAutoFit/>
          </a:bodyPr>
          <a:lstStyle/>
          <a:p>
            <a:pPr algn="l">
              <a:lnSpc>
                <a:spcPts val="9143"/>
              </a:lnSpc>
            </a:pPr>
            <a:r>
              <a:rPr lang="en-US" sz="7434">
                <a:solidFill>
                  <a:srgbClr val="000000"/>
                </a:solidFill>
                <a:latin typeface="League Spartan"/>
                <a:ea typeface="League Spartan"/>
                <a:cs typeface="League Spartan"/>
                <a:sym typeface="League Spartan"/>
              </a:rPr>
              <a:t>Team Composition</a:t>
            </a:r>
          </a:p>
        </p:txBody>
      </p:sp>
      <p:sp>
        <p:nvSpPr>
          <p:cNvPr id="7" name="AutoShape 7"/>
          <p:cNvSpPr/>
          <p:nvPr/>
        </p:nvSpPr>
        <p:spPr>
          <a:xfrm>
            <a:off x="541018" y="3139545"/>
            <a:ext cx="9432810" cy="14288"/>
          </a:xfrm>
          <a:prstGeom prst="line">
            <a:avLst/>
          </a:prstGeom>
          <a:ln w="28575" cap="rnd">
            <a:solidFill>
              <a:srgbClr val="000000"/>
            </a:solidFill>
            <a:prstDash val="solid"/>
            <a:headEnd type="none" w="sm" len="sm"/>
            <a:tailEnd type="none" w="sm" len="sm"/>
          </a:ln>
        </p:spPr>
      </p:sp>
      <p:sp>
        <p:nvSpPr>
          <p:cNvPr id="8" name="Freeform 8"/>
          <p:cNvSpPr/>
          <p:nvPr/>
        </p:nvSpPr>
        <p:spPr>
          <a:xfrm rot="5400000">
            <a:off x="-594561" y="-873308"/>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0" y="9459925"/>
            <a:ext cx="1470936" cy="827075"/>
          </a:xfrm>
          <a:custGeom>
            <a:avLst/>
            <a:gdLst/>
            <a:ahLst/>
            <a:cxnLst/>
            <a:rect l="l" t="t" r="r" b="b"/>
            <a:pathLst>
              <a:path w="1470936" h="827075">
                <a:moveTo>
                  <a:pt x="0" y="0"/>
                </a:moveTo>
                <a:lnTo>
                  <a:pt x="1470936" y="0"/>
                </a:lnTo>
                <a:lnTo>
                  <a:pt x="1470936" y="827075"/>
                </a:lnTo>
                <a:lnTo>
                  <a:pt x="0" y="827075"/>
                </a:lnTo>
                <a:lnTo>
                  <a:pt x="0" y="0"/>
                </a:lnTo>
                <a:close/>
              </a:path>
            </a:pathLst>
          </a:custGeom>
          <a:blipFill>
            <a:blip r:embed="rId8"/>
            <a:stretch>
              <a:fillRect/>
            </a:stretch>
          </a:blipFill>
          <a:ln cap="sq">
            <a:noFill/>
            <a:prstDash val="solid"/>
            <a:miter/>
          </a:ln>
        </p:spPr>
      </p:sp>
      <p:sp>
        <p:nvSpPr>
          <p:cNvPr id="10" name="Freeform 10"/>
          <p:cNvSpPr/>
          <p:nvPr/>
        </p:nvSpPr>
        <p:spPr>
          <a:xfrm>
            <a:off x="16734777" y="9517692"/>
            <a:ext cx="1553223" cy="769308"/>
          </a:xfrm>
          <a:custGeom>
            <a:avLst/>
            <a:gdLst/>
            <a:ahLst/>
            <a:cxnLst/>
            <a:rect l="l" t="t" r="r" b="b"/>
            <a:pathLst>
              <a:path w="1553223" h="769308">
                <a:moveTo>
                  <a:pt x="0" y="0"/>
                </a:moveTo>
                <a:lnTo>
                  <a:pt x="1553223" y="0"/>
                </a:lnTo>
                <a:lnTo>
                  <a:pt x="1553223" y="769308"/>
                </a:lnTo>
                <a:lnTo>
                  <a:pt x="0" y="769308"/>
                </a:lnTo>
                <a:lnTo>
                  <a:pt x="0" y="0"/>
                </a:lnTo>
                <a:close/>
              </a:path>
            </a:pathLst>
          </a:custGeom>
          <a:blipFill>
            <a:blip r:embed="rId9"/>
            <a:stretch>
              <a:fillRect/>
            </a:stretch>
          </a:blipFill>
          <a:ln cap="sq">
            <a:noFill/>
            <a:prstDash val="solid"/>
            <a:miter/>
          </a:ln>
        </p:spPr>
      </p:sp>
      <p:graphicFrame>
        <p:nvGraphicFramePr>
          <p:cNvPr id="12" name="Table 11">
            <a:extLst>
              <a:ext uri="{FF2B5EF4-FFF2-40B4-BE49-F238E27FC236}">
                <a16:creationId xmlns:a16="http://schemas.microsoft.com/office/drawing/2014/main" id="{F0D1AFC4-6777-1605-02EE-73EEA65E117A}"/>
              </a:ext>
            </a:extLst>
          </p:cNvPr>
          <p:cNvGraphicFramePr>
            <a:graphicFrameLocks noGrp="1"/>
          </p:cNvGraphicFramePr>
          <p:nvPr>
            <p:extLst>
              <p:ext uri="{D42A27DB-BD31-4B8C-83A1-F6EECF244321}">
                <p14:modId xmlns:p14="http://schemas.microsoft.com/office/powerpoint/2010/main" val="2331880015"/>
              </p:ext>
            </p:extLst>
          </p:nvPr>
        </p:nvGraphicFramePr>
        <p:xfrm>
          <a:off x="2781300" y="4058575"/>
          <a:ext cx="12725400" cy="4525962"/>
        </p:xfrm>
        <a:graphic>
          <a:graphicData uri="http://schemas.openxmlformats.org/drawingml/2006/table">
            <a:tbl>
              <a:tblPr/>
              <a:tblGrid>
                <a:gridCol w="6362700">
                  <a:extLst>
                    <a:ext uri="{9D8B030D-6E8A-4147-A177-3AD203B41FA5}">
                      <a16:colId xmlns:a16="http://schemas.microsoft.com/office/drawing/2014/main" val="187023203"/>
                    </a:ext>
                  </a:extLst>
                </a:gridCol>
                <a:gridCol w="6362700">
                  <a:extLst>
                    <a:ext uri="{9D8B030D-6E8A-4147-A177-3AD203B41FA5}">
                      <a16:colId xmlns:a16="http://schemas.microsoft.com/office/drawing/2014/main" val="4170925026"/>
                    </a:ext>
                  </a:extLst>
                </a:gridCol>
              </a:tblGrid>
              <a:tr h="754327">
                <a:tc>
                  <a:txBody>
                    <a:bodyPr/>
                    <a:lstStyle/>
                    <a:p>
                      <a:pPr>
                        <a:buNone/>
                      </a:pPr>
                      <a:r>
                        <a:rPr lang="en-US" sz="1700" b="1" dirty="0">
                          <a:solidFill>
                            <a:srgbClr val="FFFFFF"/>
                          </a:solidFill>
                          <a:effectLst/>
                        </a:rPr>
                        <a:t>Name</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14A16"/>
                    </a:solidFill>
                  </a:tcPr>
                </a:tc>
                <a:tc>
                  <a:txBody>
                    <a:bodyPr/>
                    <a:lstStyle/>
                    <a:p>
                      <a:pPr>
                        <a:buNone/>
                      </a:pPr>
                      <a:r>
                        <a:rPr lang="en-US" sz="1700" b="1" dirty="0">
                          <a:solidFill>
                            <a:srgbClr val="FFFFFF"/>
                          </a:solidFill>
                          <a:effectLst/>
                        </a:rPr>
                        <a:t>Responsibility</a:t>
                      </a:r>
                    </a:p>
                  </a:txBody>
                  <a:tcPr marL="88771" marR="88771" marT="44385" marB="44385" anchor="ctr">
                    <a:lnL w="15240" cap="flat" cmpd="sng" algn="ctr">
                      <a:solidFill>
                        <a:srgbClr val="FFFFFF"/>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170782177"/>
                  </a:ext>
                </a:extLst>
              </a:tr>
              <a:tr h="754327">
                <a:tc>
                  <a:txBody>
                    <a:bodyPr/>
                    <a:lstStyle/>
                    <a:p>
                      <a:pPr>
                        <a:buNone/>
                      </a:pPr>
                      <a:r>
                        <a:rPr lang="en-US" sz="1700" b="1">
                          <a:effectLst/>
                        </a:rPr>
                        <a:t>Omar Reda El-Shaer</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700" i="1">
                          <a:effectLst/>
                        </a:rPr>
                        <a:t>Coordination, stakeholder management, presentations</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787795552"/>
                  </a:ext>
                </a:extLst>
              </a:tr>
              <a:tr h="754327">
                <a:tc>
                  <a:txBody>
                    <a:bodyPr/>
                    <a:lstStyle/>
                    <a:p>
                      <a:pPr>
                        <a:buNone/>
                      </a:pPr>
                      <a:r>
                        <a:rPr lang="en-US" sz="1700" b="1">
                          <a:effectLst/>
                        </a:rPr>
                        <a:t>Sama El-Sayed Ahmed</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700" i="1">
                          <a:effectLst/>
                        </a:rPr>
                        <a:t>ETL pipeline, data preprocessing, quality assurance</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4196727122"/>
                  </a:ext>
                </a:extLst>
              </a:tr>
              <a:tr h="754327">
                <a:tc>
                  <a:txBody>
                    <a:bodyPr/>
                    <a:lstStyle/>
                    <a:p>
                      <a:pPr>
                        <a:buNone/>
                      </a:pPr>
                      <a:r>
                        <a:rPr lang="en-US" sz="1700" b="1">
                          <a:effectLst/>
                        </a:rPr>
                        <a:t>Phoebe Emile Roshdy</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700" i="1">
                          <a:effectLst/>
                        </a:rPr>
                        <a:t>Schema design, normalization, query optimization</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64558701"/>
                  </a:ext>
                </a:extLst>
              </a:tr>
              <a:tr h="754327">
                <a:tc>
                  <a:txBody>
                    <a:bodyPr/>
                    <a:lstStyle/>
                    <a:p>
                      <a:pPr>
                        <a:buNone/>
                      </a:pPr>
                      <a:r>
                        <a:rPr lang="en-US" sz="1700" b="1">
                          <a:effectLst/>
                        </a:rPr>
                        <a:t>Ammar Mahmoud Oweidat</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700" i="1">
                          <a:effectLst/>
                        </a:rPr>
                        <a:t>Database implementation, query development, testing</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922162117"/>
                  </a:ext>
                </a:extLst>
              </a:tr>
              <a:tr h="754327">
                <a:tc>
                  <a:txBody>
                    <a:bodyPr/>
                    <a:lstStyle/>
                    <a:p>
                      <a:pPr>
                        <a:buNone/>
                      </a:pPr>
                      <a:r>
                        <a:rPr lang="en-US" sz="1700" b="1">
                          <a:effectLst/>
                        </a:rPr>
                        <a:t>Mohamed Hossam El-Din</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700" i="1" dirty="0">
                          <a:effectLst/>
                        </a:rPr>
                        <a:t>Statistical analysis, visualization, insights extraction</a:t>
                      </a:r>
                    </a:p>
                  </a:txBody>
                  <a:tcPr marL="88771" marR="88771" marT="44385" marB="44385" anchor="ctr">
                    <a:lnL w="15240" cap="flat" cmpd="sng" algn="ctr">
                      <a:solidFill>
                        <a:srgbClr val="F14A16"/>
                      </a:solidFill>
                      <a:prstDash val="solid"/>
                      <a:round/>
                      <a:headEnd type="none" w="med" len="med"/>
                      <a:tailEnd type="none" w="med" len="med"/>
                    </a:lnL>
                    <a:lnR w="15240" cap="flat" cmpd="sng" algn="ctr">
                      <a:solidFill>
                        <a:srgbClr val="F14A16"/>
                      </a:solidFill>
                      <a:prstDash val="solid"/>
                      <a:round/>
                      <a:headEnd type="none" w="med" len="med"/>
                      <a:tailEnd type="none" w="med" len="med"/>
                    </a:lnR>
                    <a:lnT w="15240" cap="flat" cmpd="sng" algn="ctr">
                      <a:solidFill>
                        <a:srgbClr val="F14A16"/>
                      </a:solidFill>
                      <a:prstDash val="solid"/>
                      <a:round/>
                      <a:headEnd type="none" w="med" len="med"/>
                      <a:tailEnd type="none" w="med" len="med"/>
                    </a:lnT>
                    <a:lnB w="152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089374498"/>
                  </a:ext>
                </a:extLst>
              </a:tr>
            </a:tbl>
          </a:graphicData>
        </a:graphic>
      </p:graphicFrame>
      <p:sp>
        <p:nvSpPr>
          <p:cNvPr id="13" name="Rectangle 1">
            <a:extLst>
              <a:ext uri="{FF2B5EF4-FFF2-40B4-BE49-F238E27FC236}">
                <a16:creationId xmlns:a16="http://schemas.microsoft.com/office/drawing/2014/main" id="{BC44F90F-44E4-43F6-043E-A2F15B265388}"/>
              </a:ext>
            </a:extLst>
          </p:cNvPr>
          <p:cNvSpPr>
            <a:spLocks noChangeArrowheads="1"/>
          </p:cNvSpPr>
          <p:nvPr/>
        </p:nvSpPr>
        <p:spPr bwMode="auto">
          <a:xfrm>
            <a:off x="3353324" y="4979251"/>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15274206" y="2966571"/>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3508022" y="-208799"/>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78491" y="559621"/>
            <a:ext cx="7979129" cy="799415"/>
          </a:xfrm>
          <a:prstGeom prst="rect">
            <a:avLst/>
          </a:prstGeom>
        </p:spPr>
        <p:txBody>
          <a:bodyPr lIns="0" tIns="0" rIns="0" bIns="0" rtlCol="0" anchor="t">
            <a:spAutoFit/>
          </a:bodyPr>
          <a:lstStyle/>
          <a:p>
            <a:pPr algn="ctr">
              <a:lnSpc>
                <a:spcPts val="6309"/>
              </a:lnSpc>
            </a:pPr>
            <a:r>
              <a:rPr lang="en-US" sz="5129">
                <a:solidFill>
                  <a:srgbClr val="000000"/>
                </a:solidFill>
                <a:latin typeface="League Spartan"/>
                <a:ea typeface="League Spartan"/>
                <a:cs typeface="League Spartan"/>
                <a:sym typeface="League Spartan"/>
              </a:rPr>
              <a:t>Executive Summary</a:t>
            </a:r>
          </a:p>
        </p:txBody>
      </p:sp>
      <p:sp>
        <p:nvSpPr>
          <p:cNvPr id="5" name="Freeform 5"/>
          <p:cNvSpPr/>
          <p:nvPr/>
        </p:nvSpPr>
        <p:spPr>
          <a:xfrm rot="-5400000">
            <a:off x="17287079" y="-243839"/>
            <a:ext cx="2387900" cy="1202633"/>
          </a:xfrm>
          <a:custGeom>
            <a:avLst/>
            <a:gdLst/>
            <a:ahLst/>
            <a:cxnLst/>
            <a:rect l="l" t="t" r="r" b="b"/>
            <a:pathLst>
              <a:path w="2387900" h="1202633">
                <a:moveTo>
                  <a:pt x="0" y="0"/>
                </a:moveTo>
                <a:lnTo>
                  <a:pt x="2387900" y="0"/>
                </a:lnTo>
                <a:lnTo>
                  <a:pt x="2387900" y="1202634"/>
                </a:lnTo>
                <a:lnTo>
                  <a:pt x="0" y="120263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5400000">
            <a:off x="17488018" y="-999806"/>
            <a:ext cx="1986022" cy="2312689"/>
          </a:xfrm>
          <a:custGeom>
            <a:avLst/>
            <a:gdLst/>
            <a:ahLst/>
            <a:cxnLst/>
            <a:rect l="l" t="t" r="r" b="b"/>
            <a:pathLst>
              <a:path w="1986022" h="2312689">
                <a:moveTo>
                  <a:pt x="0" y="0"/>
                </a:moveTo>
                <a:lnTo>
                  <a:pt x="1986022" y="0"/>
                </a:lnTo>
                <a:lnTo>
                  <a:pt x="1986022" y="2312689"/>
                </a:lnTo>
                <a:lnTo>
                  <a:pt x="0" y="23126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3275026" y="3782888"/>
            <a:ext cx="14250974" cy="2761012"/>
          </a:xfrm>
          <a:prstGeom prst="rect">
            <a:avLst/>
          </a:prstGeom>
        </p:spPr>
        <p:txBody>
          <a:bodyPr wrap="square" lIns="0" tIns="0" rIns="0" bIns="0" rtlCol="0" anchor="t">
            <a:spAutoFit/>
          </a:bodyPr>
          <a:lstStyle/>
          <a:p>
            <a:pPr algn="l">
              <a:lnSpc>
                <a:spcPts val="4429"/>
              </a:lnSpc>
            </a:pPr>
            <a:r>
              <a:rPr lang="en-US" sz="3601" dirty="0">
                <a:solidFill>
                  <a:srgbClr val="000000"/>
                </a:solidFill>
                <a:latin typeface="Futura"/>
                <a:ea typeface="Futura"/>
                <a:cs typeface="Futura"/>
                <a:sym typeface="Futura"/>
              </a:rPr>
              <a:t>The </a:t>
            </a:r>
            <a:r>
              <a:rPr lang="en-US" sz="3601" b="1" dirty="0">
                <a:solidFill>
                  <a:srgbClr val="000000"/>
                </a:solidFill>
                <a:latin typeface="Futura Bold"/>
                <a:ea typeface="Futura Bold"/>
                <a:cs typeface="Futura Bold"/>
                <a:sym typeface="Futura Bold"/>
              </a:rPr>
              <a:t>Student Performance Analysis System</a:t>
            </a:r>
            <a:r>
              <a:rPr lang="en-US" sz="3601" dirty="0">
                <a:solidFill>
                  <a:srgbClr val="000000"/>
                </a:solidFill>
                <a:latin typeface="Futura"/>
                <a:ea typeface="Futura"/>
                <a:cs typeface="Futura"/>
                <a:sym typeface="Futura"/>
              </a:rPr>
              <a:t> is a comprehensive data analytics pipeline that transforms raw student academic data into actionable insights. This system processes 36,500+ student assessments through a four-phase ETL-to-visualization pipeline, enabling evidence-based decision-making for educational administrators</a:t>
            </a:r>
          </a:p>
        </p:txBody>
      </p:sp>
      <p:sp>
        <p:nvSpPr>
          <p:cNvPr id="8" name="Freeform 8"/>
          <p:cNvSpPr/>
          <p:nvPr/>
        </p:nvSpPr>
        <p:spPr>
          <a:xfrm>
            <a:off x="9144000" y="8617994"/>
            <a:ext cx="10959214" cy="10959214"/>
          </a:xfrm>
          <a:custGeom>
            <a:avLst/>
            <a:gdLst/>
            <a:ahLst/>
            <a:cxnLst/>
            <a:rect l="l" t="t" r="r" b="b"/>
            <a:pathLst>
              <a:path w="10959214" h="10959214">
                <a:moveTo>
                  <a:pt x="0" y="0"/>
                </a:moveTo>
                <a:lnTo>
                  <a:pt x="10959214" y="0"/>
                </a:lnTo>
                <a:lnTo>
                  <a:pt x="10959214" y="10959213"/>
                </a:lnTo>
                <a:lnTo>
                  <a:pt x="0" y="10959213"/>
                </a:lnTo>
                <a:lnTo>
                  <a:pt x="0" y="0"/>
                </a:lnTo>
                <a:close/>
              </a:path>
            </a:pathLst>
          </a:custGeom>
          <a:blipFill>
            <a:blip r:embed="rId2">
              <a:alphaModFix amt="90000"/>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560414" y="2741203"/>
            <a:ext cx="4336657" cy="778270"/>
          </a:xfrm>
          <a:prstGeom prst="rect">
            <a:avLst/>
          </a:prstGeom>
        </p:spPr>
        <p:txBody>
          <a:bodyPr lIns="0" tIns="0" rIns="0" bIns="0" rtlCol="0" anchor="t">
            <a:spAutoFit/>
          </a:bodyPr>
          <a:lstStyle/>
          <a:p>
            <a:pPr algn="l">
              <a:lnSpc>
                <a:spcPts val="5474"/>
              </a:lnSpc>
            </a:pPr>
            <a:r>
              <a:rPr lang="en-US" sz="4451" b="1">
                <a:solidFill>
                  <a:srgbClr val="000000"/>
                </a:solidFill>
                <a:latin typeface="Futura Bold"/>
                <a:ea typeface="Futura Bold"/>
                <a:cs typeface="Futura Bold"/>
                <a:sym typeface="Futura Bold"/>
              </a:rPr>
              <a:t>Project Overview</a:t>
            </a:r>
          </a:p>
        </p:txBody>
      </p:sp>
      <p:grpSp>
        <p:nvGrpSpPr>
          <p:cNvPr id="10" name="Group 10"/>
          <p:cNvGrpSpPr/>
          <p:nvPr/>
        </p:nvGrpSpPr>
        <p:grpSpPr>
          <a:xfrm>
            <a:off x="0" y="9459925"/>
            <a:ext cx="18288000" cy="827075"/>
            <a:chOff x="0" y="0"/>
            <a:chExt cx="24384000" cy="1102766"/>
          </a:xfrm>
        </p:grpSpPr>
        <p:sp>
          <p:nvSpPr>
            <p:cNvPr id="11" name="Freeform 11"/>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0"/>
              <a:stretch>
                <a:fillRect/>
              </a:stretch>
            </a:blipFill>
            <a:ln cap="sq">
              <a:noFill/>
              <a:prstDash val="solid"/>
              <a:miter/>
            </a:ln>
          </p:spPr>
        </p:sp>
        <p:sp>
          <p:nvSpPr>
            <p:cNvPr id="12" name="Freeform 12"/>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1"/>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934992" y="9330216"/>
            <a:ext cx="1213483" cy="1213483"/>
          </a:xfrm>
          <a:custGeom>
            <a:avLst/>
            <a:gdLst/>
            <a:ahLst/>
            <a:cxnLst/>
            <a:rect l="l" t="t" r="r" b="b"/>
            <a:pathLst>
              <a:path w="1213483" h="1213483">
                <a:moveTo>
                  <a:pt x="0" y="0"/>
                </a:moveTo>
                <a:lnTo>
                  <a:pt x="1213483" y="0"/>
                </a:lnTo>
                <a:lnTo>
                  <a:pt x="1213483" y="1213483"/>
                </a:lnTo>
                <a:lnTo>
                  <a:pt x="0" y="12134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011277" y="1772621"/>
            <a:ext cx="10959214" cy="10959214"/>
          </a:xfrm>
          <a:custGeom>
            <a:avLst/>
            <a:gdLst/>
            <a:ahLst/>
            <a:cxnLst/>
            <a:rect l="l" t="t" r="r" b="b"/>
            <a:pathLst>
              <a:path w="10959214" h="10959214">
                <a:moveTo>
                  <a:pt x="0" y="0"/>
                </a:moveTo>
                <a:lnTo>
                  <a:pt x="10959214" y="0"/>
                </a:lnTo>
                <a:lnTo>
                  <a:pt x="10959214" y="10959213"/>
                </a:lnTo>
                <a:lnTo>
                  <a:pt x="0" y="10959213"/>
                </a:lnTo>
                <a:lnTo>
                  <a:pt x="0" y="0"/>
                </a:lnTo>
                <a:close/>
              </a:path>
            </a:pathLst>
          </a:custGeom>
          <a:blipFill>
            <a:blip r:embed="rId4">
              <a:alphaModFix amt="90000"/>
              <a:extLst>
                <a:ext uri="{96DAC541-7B7A-43D3-8B79-37D633B846F1}">
                  <asvg:svgBlip xmlns:asvg="http://schemas.microsoft.com/office/drawing/2016/SVG/main" r:embed="rId5"/>
                </a:ext>
              </a:extLst>
            </a:blip>
            <a:stretch>
              <a:fillRect/>
            </a:stretch>
          </a:blipFill>
        </p:spPr>
      </p:sp>
      <p:sp>
        <p:nvSpPr>
          <p:cNvPr id="4" name="Freeform 4"/>
          <p:cNvSpPr/>
          <p:nvPr/>
        </p:nvSpPr>
        <p:spPr>
          <a:xfrm>
            <a:off x="-3642726" y="-183004"/>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6">
              <a:alphaModFix amt="90000"/>
              <a:extLst>
                <a:ext uri="{96DAC541-7B7A-43D3-8B79-37D633B846F1}">
                  <asvg:svgBlip xmlns:asvg="http://schemas.microsoft.com/office/drawing/2016/SVG/main" r:embed="rId7"/>
                </a:ext>
              </a:extLst>
            </a:blip>
            <a:stretch>
              <a:fillRect/>
            </a:stretch>
          </a:blipFill>
        </p:spPr>
      </p:sp>
      <p:sp>
        <p:nvSpPr>
          <p:cNvPr id="5" name="Freeform 5"/>
          <p:cNvSpPr/>
          <p:nvPr/>
        </p:nvSpPr>
        <p:spPr>
          <a:xfrm rot="-5400000">
            <a:off x="17094050" y="-1216596"/>
            <a:ext cx="2387900" cy="1202633"/>
          </a:xfrm>
          <a:custGeom>
            <a:avLst/>
            <a:gdLst/>
            <a:ahLst/>
            <a:cxnLst/>
            <a:rect l="l" t="t" r="r" b="b"/>
            <a:pathLst>
              <a:path w="2387900" h="1202633">
                <a:moveTo>
                  <a:pt x="0" y="0"/>
                </a:moveTo>
                <a:lnTo>
                  <a:pt x="2387900" y="0"/>
                </a:lnTo>
                <a:lnTo>
                  <a:pt x="2387900" y="1202633"/>
                </a:lnTo>
                <a:lnTo>
                  <a:pt x="0" y="12026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5400000">
            <a:off x="-1602402" y="6369546"/>
            <a:ext cx="1986022" cy="2312689"/>
          </a:xfrm>
          <a:custGeom>
            <a:avLst/>
            <a:gdLst/>
            <a:ahLst/>
            <a:cxnLst/>
            <a:rect l="l" t="t" r="r" b="b"/>
            <a:pathLst>
              <a:path w="1986022" h="2312689">
                <a:moveTo>
                  <a:pt x="0" y="0"/>
                </a:moveTo>
                <a:lnTo>
                  <a:pt x="1986022" y="0"/>
                </a:lnTo>
                <a:lnTo>
                  <a:pt x="1986022" y="2312690"/>
                </a:lnTo>
                <a:lnTo>
                  <a:pt x="0" y="231269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278491" y="559621"/>
            <a:ext cx="7979129" cy="799415"/>
          </a:xfrm>
          <a:prstGeom prst="rect">
            <a:avLst/>
          </a:prstGeom>
        </p:spPr>
        <p:txBody>
          <a:bodyPr lIns="0" tIns="0" rIns="0" bIns="0" rtlCol="0" anchor="t">
            <a:spAutoFit/>
          </a:bodyPr>
          <a:lstStyle/>
          <a:p>
            <a:pPr algn="ctr">
              <a:lnSpc>
                <a:spcPts val="6309"/>
              </a:lnSpc>
            </a:pPr>
            <a:r>
              <a:rPr lang="en-US" sz="5129">
                <a:solidFill>
                  <a:srgbClr val="000000"/>
                </a:solidFill>
                <a:latin typeface="League Spartan"/>
                <a:ea typeface="League Spartan"/>
                <a:cs typeface="League Spartan"/>
                <a:sym typeface="League Spartan"/>
              </a:rPr>
              <a:t>Executive Summary</a:t>
            </a:r>
          </a:p>
        </p:txBody>
      </p:sp>
      <p:graphicFrame>
        <p:nvGraphicFramePr>
          <p:cNvPr id="8" name="Object 8"/>
          <p:cNvGraphicFramePr/>
          <p:nvPr/>
        </p:nvGraphicFramePr>
        <p:xfrm>
          <a:off x="1346232" y="2034078"/>
          <a:ext cx="15715018" cy="6756086"/>
        </p:xfrm>
        <a:graphic>
          <a:graphicData uri="http://schemas.openxmlformats.org/presentationml/2006/ole">
            <mc:AlternateContent xmlns:mc="http://schemas.openxmlformats.org/markup-compatibility/2006">
              <mc:Choice xmlns:v="urn:schemas-microsoft-com:vml" Requires="v">
                <p:oleObj name="Worksheet" r:id="rId12" imgW="18859500" imgH="9893300" progId="Excel.Sheet.12">
                  <p:embed/>
                </p:oleObj>
              </mc:Choice>
              <mc:Fallback>
                <p:oleObj name="Worksheet" r:id="rId12" imgW="18859500" imgH="9893300" progId="Excel.Sheet.12">
                  <p:embed/>
                  <p:pic>
                    <p:nvPicPr>
                      <p:cNvPr id="0" name=""/>
                      <p:cNvPicPr/>
                      <p:nvPr/>
                    </p:nvPicPr>
                    <p:blipFill>
                      <a:blip r:embed="rId13"/>
                      <a:stretch>
                        <a:fillRect/>
                      </a:stretch>
                    </p:blipFill>
                    <p:spPr>
                      <a:xfrm>
                        <a:off x="1346232" y="2034078"/>
                        <a:ext cx="15715018" cy="6756086"/>
                      </a:xfrm>
                      <a:prstGeom prst="rect">
                        <a:avLst/>
                      </a:prstGeom>
                    </p:spPr>
                  </p:pic>
                </p:oleObj>
              </mc:Fallback>
            </mc:AlternateContent>
          </a:graphicData>
        </a:graphic>
      </p:graphicFrame>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4"/>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5"/>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4347940" y="3573119"/>
            <a:ext cx="1094470" cy="1094470"/>
          </a:xfrm>
          <a:custGeom>
            <a:avLst/>
            <a:gdLst/>
            <a:ahLst/>
            <a:cxnLst/>
            <a:rect l="l" t="t" r="r" b="b"/>
            <a:pathLst>
              <a:path w="1094470" h="1094470">
                <a:moveTo>
                  <a:pt x="0" y="0"/>
                </a:moveTo>
                <a:lnTo>
                  <a:pt x="1094470" y="0"/>
                </a:lnTo>
                <a:lnTo>
                  <a:pt x="1094470" y="1094470"/>
                </a:lnTo>
                <a:lnTo>
                  <a:pt x="0" y="1094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841819" y="3291619"/>
            <a:ext cx="1213483" cy="1213483"/>
          </a:xfrm>
          <a:custGeom>
            <a:avLst/>
            <a:gdLst/>
            <a:ahLst/>
            <a:cxnLst/>
            <a:rect l="l" t="t" r="r" b="b"/>
            <a:pathLst>
              <a:path w="1213483" h="1213483">
                <a:moveTo>
                  <a:pt x="0" y="0"/>
                </a:moveTo>
                <a:lnTo>
                  <a:pt x="1213483" y="0"/>
                </a:lnTo>
                <a:lnTo>
                  <a:pt x="1213483" y="1213483"/>
                </a:lnTo>
                <a:lnTo>
                  <a:pt x="0" y="121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4512206" y="334467"/>
            <a:ext cx="10959214" cy="10959214"/>
          </a:xfrm>
          <a:custGeom>
            <a:avLst/>
            <a:gdLst/>
            <a:ahLst/>
            <a:cxnLst/>
            <a:rect l="l" t="t" r="r" b="b"/>
            <a:pathLst>
              <a:path w="10959214" h="10959214">
                <a:moveTo>
                  <a:pt x="0" y="0"/>
                </a:moveTo>
                <a:lnTo>
                  <a:pt x="10959213" y="0"/>
                </a:lnTo>
                <a:lnTo>
                  <a:pt x="10959213" y="10959214"/>
                </a:lnTo>
                <a:lnTo>
                  <a:pt x="0" y="10959214"/>
                </a:lnTo>
                <a:lnTo>
                  <a:pt x="0" y="0"/>
                </a:lnTo>
                <a:close/>
              </a:path>
            </a:pathLst>
          </a:custGeom>
          <a:blipFill>
            <a:blip r:embed="rId6">
              <a:alphaModFix amt="90000"/>
              <a:extLst>
                <a:ext uri="{96DAC541-7B7A-43D3-8B79-37D633B846F1}">
                  <asvg:svgBlip xmlns:asvg="http://schemas.microsoft.com/office/drawing/2016/SVG/main" r:embed="rId7"/>
                </a:ext>
              </a:extLst>
            </a:blip>
            <a:stretch>
              <a:fillRect/>
            </a:stretch>
          </a:blipFill>
        </p:spPr>
      </p:sp>
      <p:sp>
        <p:nvSpPr>
          <p:cNvPr id="5" name="Freeform 5"/>
          <p:cNvSpPr/>
          <p:nvPr/>
        </p:nvSpPr>
        <p:spPr>
          <a:xfrm>
            <a:off x="-3642726" y="-183004"/>
            <a:ext cx="6783048" cy="6783048"/>
          </a:xfrm>
          <a:custGeom>
            <a:avLst/>
            <a:gdLst/>
            <a:ahLst/>
            <a:cxnLst/>
            <a:rect l="l" t="t" r="r" b="b"/>
            <a:pathLst>
              <a:path w="6783048" h="6783048">
                <a:moveTo>
                  <a:pt x="0" y="0"/>
                </a:moveTo>
                <a:lnTo>
                  <a:pt x="6783048" y="0"/>
                </a:lnTo>
                <a:lnTo>
                  <a:pt x="6783048" y="6783048"/>
                </a:lnTo>
                <a:lnTo>
                  <a:pt x="0" y="6783048"/>
                </a:lnTo>
                <a:lnTo>
                  <a:pt x="0" y="0"/>
                </a:lnTo>
                <a:close/>
              </a:path>
            </a:pathLst>
          </a:custGeom>
          <a:blipFill>
            <a:blip r:embed="rId8">
              <a:alphaModFix amt="90000"/>
              <a:extLst>
                <a:ext uri="{96DAC541-7B7A-43D3-8B79-37D633B846F1}">
                  <asvg:svgBlip xmlns:asvg="http://schemas.microsoft.com/office/drawing/2016/SVG/main" r:embed="rId9"/>
                </a:ext>
              </a:extLst>
            </a:blip>
            <a:stretch>
              <a:fillRect/>
            </a:stretch>
          </a:blipFill>
        </p:spPr>
      </p:sp>
      <p:sp>
        <p:nvSpPr>
          <p:cNvPr id="6" name="Freeform 6"/>
          <p:cNvSpPr/>
          <p:nvPr/>
        </p:nvSpPr>
        <p:spPr>
          <a:xfrm rot="-5400000">
            <a:off x="17094050" y="-266849"/>
            <a:ext cx="2387900" cy="1202633"/>
          </a:xfrm>
          <a:custGeom>
            <a:avLst/>
            <a:gdLst/>
            <a:ahLst/>
            <a:cxnLst/>
            <a:rect l="l" t="t" r="r" b="b"/>
            <a:pathLst>
              <a:path w="2387900" h="1202633">
                <a:moveTo>
                  <a:pt x="0" y="0"/>
                </a:moveTo>
                <a:lnTo>
                  <a:pt x="2387900" y="0"/>
                </a:lnTo>
                <a:lnTo>
                  <a:pt x="2387900" y="1202633"/>
                </a:lnTo>
                <a:lnTo>
                  <a:pt x="0" y="12026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5400000">
            <a:off x="-993011" y="8643599"/>
            <a:ext cx="1986022" cy="2312689"/>
          </a:xfrm>
          <a:custGeom>
            <a:avLst/>
            <a:gdLst/>
            <a:ahLst/>
            <a:cxnLst/>
            <a:rect l="l" t="t" r="r" b="b"/>
            <a:pathLst>
              <a:path w="1986022" h="2312689">
                <a:moveTo>
                  <a:pt x="0" y="0"/>
                </a:moveTo>
                <a:lnTo>
                  <a:pt x="1986022" y="0"/>
                </a:lnTo>
                <a:lnTo>
                  <a:pt x="1986022" y="2312690"/>
                </a:lnTo>
                <a:lnTo>
                  <a:pt x="0" y="231269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7124905" y="6777994"/>
            <a:ext cx="2019095" cy="1211457"/>
          </a:xfrm>
          <a:custGeom>
            <a:avLst/>
            <a:gdLst/>
            <a:ahLst/>
            <a:cxnLst/>
            <a:rect l="l" t="t" r="r" b="b"/>
            <a:pathLst>
              <a:path w="2019095" h="1211457">
                <a:moveTo>
                  <a:pt x="0" y="0"/>
                </a:moveTo>
                <a:lnTo>
                  <a:pt x="2019095" y="0"/>
                </a:lnTo>
                <a:lnTo>
                  <a:pt x="2019095" y="1211457"/>
                </a:lnTo>
                <a:lnTo>
                  <a:pt x="0" y="1211457"/>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9" name="Group 9"/>
          <p:cNvGrpSpPr/>
          <p:nvPr/>
        </p:nvGrpSpPr>
        <p:grpSpPr>
          <a:xfrm>
            <a:off x="1817524" y="6942944"/>
            <a:ext cx="4084414" cy="2207798"/>
            <a:chOff x="0" y="0"/>
            <a:chExt cx="5445886" cy="2943731"/>
          </a:xfrm>
        </p:grpSpPr>
        <p:sp>
          <p:nvSpPr>
            <p:cNvPr id="10" name="Freeform 10"/>
            <p:cNvSpPr/>
            <p:nvPr/>
          </p:nvSpPr>
          <p:spPr>
            <a:xfrm>
              <a:off x="1591787" y="0"/>
              <a:ext cx="2456342" cy="1326425"/>
            </a:xfrm>
            <a:custGeom>
              <a:avLst/>
              <a:gdLst/>
              <a:ahLst/>
              <a:cxnLst/>
              <a:rect l="l" t="t" r="r" b="b"/>
              <a:pathLst>
                <a:path w="2456342" h="1326425">
                  <a:moveTo>
                    <a:pt x="0" y="0"/>
                  </a:moveTo>
                  <a:lnTo>
                    <a:pt x="2456343" y="0"/>
                  </a:lnTo>
                  <a:lnTo>
                    <a:pt x="2456343" y="1326425"/>
                  </a:lnTo>
                  <a:lnTo>
                    <a:pt x="0" y="132642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TextBox 11"/>
            <p:cNvSpPr txBox="1"/>
            <p:nvPr/>
          </p:nvSpPr>
          <p:spPr>
            <a:xfrm>
              <a:off x="0" y="1512695"/>
              <a:ext cx="5445886" cy="1431036"/>
            </a:xfrm>
            <a:prstGeom prst="rect">
              <a:avLst/>
            </a:prstGeom>
          </p:spPr>
          <p:txBody>
            <a:bodyPr lIns="0" tIns="0" rIns="0" bIns="0" rtlCol="0" anchor="t">
              <a:spAutoFit/>
            </a:bodyPr>
            <a:lstStyle/>
            <a:p>
              <a:pPr algn="ctr">
                <a:lnSpc>
                  <a:spcPts val="4058"/>
                </a:lnSpc>
              </a:pPr>
              <a:r>
                <a:rPr lang="en-US" sz="3300">
                  <a:solidFill>
                    <a:srgbClr val="000000"/>
                  </a:solidFill>
                  <a:latin typeface="Futura"/>
                  <a:ea typeface="Futura"/>
                  <a:cs typeface="Futura"/>
                  <a:sym typeface="Futura"/>
                </a:rPr>
                <a:t>Recognize high performers</a:t>
              </a:r>
            </a:p>
          </p:txBody>
        </p:sp>
      </p:grpSp>
      <p:sp>
        <p:nvSpPr>
          <p:cNvPr id="12" name="Freeform 12"/>
          <p:cNvSpPr/>
          <p:nvPr/>
        </p:nvSpPr>
        <p:spPr>
          <a:xfrm>
            <a:off x="11448561" y="6600044"/>
            <a:ext cx="1505878" cy="1505878"/>
          </a:xfrm>
          <a:custGeom>
            <a:avLst/>
            <a:gdLst/>
            <a:ahLst/>
            <a:cxnLst/>
            <a:rect l="l" t="t" r="r" b="b"/>
            <a:pathLst>
              <a:path w="1505878" h="1505878">
                <a:moveTo>
                  <a:pt x="0" y="0"/>
                </a:moveTo>
                <a:lnTo>
                  <a:pt x="1505877" y="0"/>
                </a:lnTo>
                <a:lnTo>
                  <a:pt x="1505877" y="1505878"/>
                </a:lnTo>
                <a:lnTo>
                  <a:pt x="0" y="150587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3" name="TextBox 13"/>
          <p:cNvSpPr txBox="1"/>
          <p:nvPr/>
        </p:nvSpPr>
        <p:spPr>
          <a:xfrm>
            <a:off x="278491" y="559621"/>
            <a:ext cx="7979129" cy="799415"/>
          </a:xfrm>
          <a:prstGeom prst="rect">
            <a:avLst/>
          </a:prstGeom>
        </p:spPr>
        <p:txBody>
          <a:bodyPr lIns="0" tIns="0" rIns="0" bIns="0" rtlCol="0" anchor="t">
            <a:spAutoFit/>
          </a:bodyPr>
          <a:lstStyle/>
          <a:p>
            <a:pPr algn="ctr">
              <a:lnSpc>
                <a:spcPts val="6309"/>
              </a:lnSpc>
            </a:pPr>
            <a:r>
              <a:rPr lang="en-US" sz="5129">
                <a:solidFill>
                  <a:srgbClr val="000000"/>
                </a:solidFill>
                <a:latin typeface="League Spartan"/>
                <a:ea typeface="League Spartan"/>
                <a:cs typeface="League Spartan"/>
                <a:sym typeface="League Spartan"/>
              </a:rPr>
              <a:t>Executive Summary</a:t>
            </a:r>
          </a:p>
        </p:txBody>
      </p:sp>
      <p:sp>
        <p:nvSpPr>
          <p:cNvPr id="14" name="TextBox 14"/>
          <p:cNvSpPr txBox="1"/>
          <p:nvPr/>
        </p:nvSpPr>
        <p:spPr>
          <a:xfrm>
            <a:off x="3140322" y="4844954"/>
            <a:ext cx="4498547" cy="577977"/>
          </a:xfrm>
          <a:prstGeom prst="rect">
            <a:avLst/>
          </a:prstGeom>
        </p:spPr>
        <p:txBody>
          <a:bodyPr lIns="0" tIns="0" rIns="0" bIns="0" rtlCol="0" anchor="t">
            <a:spAutoFit/>
          </a:bodyPr>
          <a:lstStyle/>
          <a:p>
            <a:pPr algn="ctr">
              <a:lnSpc>
                <a:spcPts val="4058"/>
              </a:lnSpc>
            </a:pPr>
            <a:r>
              <a:rPr lang="en-US" sz="3300">
                <a:solidFill>
                  <a:srgbClr val="000000"/>
                </a:solidFill>
                <a:latin typeface="Futura"/>
                <a:ea typeface="Futura"/>
                <a:cs typeface="Futura"/>
                <a:sym typeface="Futura"/>
              </a:rPr>
              <a:t>Identify at-risk students </a:t>
            </a:r>
          </a:p>
        </p:txBody>
      </p:sp>
      <p:sp>
        <p:nvSpPr>
          <p:cNvPr id="15" name="TextBox 15"/>
          <p:cNvSpPr txBox="1"/>
          <p:nvPr/>
        </p:nvSpPr>
        <p:spPr>
          <a:xfrm>
            <a:off x="9358559" y="4838668"/>
            <a:ext cx="4645807" cy="1092327"/>
          </a:xfrm>
          <a:prstGeom prst="rect">
            <a:avLst/>
          </a:prstGeom>
        </p:spPr>
        <p:txBody>
          <a:bodyPr lIns="0" tIns="0" rIns="0" bIns="0" rtlCol="0" anchor="t">
            <a:spAutoFit/>
          </a:bodyPr>
          <a:lstStyle/>
          <a:p>
            <a:pPr algn="ctr">
              <a:lnSpc>
                <a:spcPts val="4058"/>
              </a:lnSpc>
            </a:pPr>
            <a:r>
              <a:rPr lang="en-US" sz="3300">
                <a:solidFill>
                  <a:srgbClr val="000000"/>
                </a:solidFill>
                <a:latin typeface="Futura"/>
                <a:ea typeface="Futura"/>
                <a:cs typeface="Futura"/>
                <a:sym typeface="Futura"/>
              </a:rPr>
              <a:t>Evaluate curriculum effectiveness</a:t>
            </a:r>
          </a:p>
        </p:txBody>
      </p:sp>
      <p:sp>
        <p:nvSpPr>
          <p:cNvPr id="16" name="TextBox 16"/>
          <p:cNvSpPr txBox="1"/>
          <p:nvPr/>
        </p:nvSpPr>
        <p:spPr>
          <a:xfrm>
            <a:off x="9878596" y="8479844"/>
            <a:ext cx="4645807" cy="577977"/>
          </a:xfrm>
          <a:prstGeom prst="rect">
            <a:avLst/>
          </a:prstGeom>
        </p:spPr>
        <p:txBody>
          <a:bodyPr lIns="0" tIns="0" rIns="0" bIns="0" rtlCol="0" anchor="t">
            <a:spAutoFit/>
          </a:bodyPr>
          <a:lstStyle/>
          <a:p>
            <a:pPr algn="ctr">
              <a:lnSpc>
                <a:spcPts val="4058"/>
              </a:lnSpc>
            </a:pPr>
            <a:r>
              <a:rPr lang="en-US" sz="3300">
                <a:solidFill>
                  <a:srgbClr val="000000"/>
                </a:solidFill>
                <a:latin typeface="Futura"/>
                <a:ea typeface="Futura"/>
                <a:cs typeface="Futura"/>
                <a:sym typeface="Futura"/>
              </a:rPr>
              <a:t>Increase Sales</a:t>
            </a:r>
          </a:p>
        </p:txBody>
      </p:sp>
      <p:sp>
        <p:nvSpPr>
          <p:cNvPr id="17" name="TextBox 17"/>
          <p:cNvSpPr txBox="1"/>
          <p:nvPr/>
        </p:nvSpPr>
        <p:spPr>
          <a:xfrm>
            <a:off x="5071446" y="1837074"/>
            <a:ext cx="6126013" cy="778270"/>
          </a:xfrm>
          <a:prstGeom prst="rect">
            <a:avLst/>
          </a:prstGeom>
        </p:spPr>
        <p:txBody>
          <a:bodyPr lIns="0" tIns="0" rIns="0" bIns="0" rtlCol="0" anchor="t">
            <a:spAutoFit/>
          </a:bodyPr>
          <a:lstStyle/>
          <a:p>
            <a:pPr algn="l">
              <a:lnSpc>
                <a:spcPts val="5474"/>
              </a:lnSpc>
            </a:pPr>
            <a:r>
              <a:rPr lang="en-US" sz="4451" b="1">
                <a:solidFill>
                  <a:srgbClr val="F14A16"/>
                </a:solidFill>
                <a:latin typeface="Futura Bold"/>
                <a:ea typeface="Futura Bold"/>
                <a:cs typeface="Futura Bold"/>
                <a:sym typeface="Futura Bold"/>
              </a:rPr>
              <a:t>Project Value Proposition</a:t>
            </a:r>
          </a:p>
        </p:txBody>
      </p:sp>
      <p:sp>
        <p:nvSpPr>
          <p:cNvPr id="18" name="TextBox 18"/>
          <p:cNvSpPr txBox="1"/>
          <p:nvPr/>
        </p:nvSpPr>
        <p:spPr>
          <a:xfrm>
            <a:off x="6359314" y="8222669"/>
            <a:ext cx="3796613" cy="1092327"/>
          </a:xfrm>
          <a:prstGeom prst="rect">
            <a:avLst/>
          </a:prstGeom>
        </p:spPr>
        <p:txBody>
          <a:bodyPr lIns="0" tIns="0" rIns="0" bIns="0" rtlCol="0" anchor="t">
            <a:spAutoFit/>
          </a:bodyPr>
          <a:lstStyle/>
          <a:p>
            <a:pPr algn="ctr">
              <a:lnSpc>
                <a:spcPts val="4058"/>
              </a:lnSpc>
            </a:pPr>
            <a:r>
              <a:rPr lang="en-US" sz="3300">
                <a:solidFill>
                  <a:srgbClr val="000000"/>
                </a:solidFill>
                <a:latin typeface="Futura"/>
                <a:ea typeface="Futura"/>
                <a:cs typeface="Futura"/>
                <a:sym typeface="Futura"/>
              </a:rPr>
              <a:t>Track engagement trends</a:t>
            </a:r>
          </a:p>
        </p:txBody>
      </p:sp>
      <p:grpSp>
        <p:nvGrpSpPr>
          <p:cNvPr id="19" name="Group 19"/>
          <p:cNvGrpSpPr/>
          <p:nvPr/>
        </p:nvGrpSpPr>
        <p:grpSpPr>
          <a:xfrm>
            <a:off x="0" y="9459925"/>
            <a:ext cx="18288000" cy="827075"/>
            <a:chOff x="0" y="0"/>
            <a:chExt cx="24384000" cy="1102766"/>
          </a:xfrm>
        </p:grpSpPr>
        <p:sp>
          <p:nvSpPr>
            <p:cNvPr id="20" name="Freeform 2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20"/>
              <a:stretch>
                <a:fillRect/>
              </a:stretch>
            </a:blipFill>
            <a:ln cap="sq">
              <a:noFill/>
              <a:prstDash val="solid"/>
              <a:miter/>
            </a:ln>
          </p:spPr>
        </p:sp>
        <p:sp>
          <p:nvSpPr>
            <p:cNvPr id="21" name="Freeform 2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21"/>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800669" y="3723354"/>
            <a:ext cx="4810046" cy="679053"/>
          </a:xfrm>
          <a:prstGeom prst="rect">
            <a:avLst/>
          </a:prstGeom>
        </p:spPr>
        <p:txBody>
          <a:bodyPr lIns="0" tIns="0" rIns="0" bIns="0" rtlCol="0" anchor="t">
            <a:spAutoFit/>
          </a:bodyPr>
          <a:lstStyle/>
          <a:p>
            <a:pPr algn="l">
              <a:lnSpc>
                <a:spcPts val="5327"/>
              </a:lnSpc>
            </a:pPr>
            <a:r>
              <a:rPr lang="en-US" sz="4331">
                <a:solidFill>
                  <a:srgbClr val="F14A16"/>
                </a:solidFill>
                <a:latin typeface="League Spartan"/>
                <a:ea typeface="League Spartan"/>
                <a:cs typeface="League Spartan"/>
                <a:sym typeface="League Spartan"/>
              </a:rPr>
              <a:t>The Challenge</a:t>
            </a:r>
          </a:p>
        </p:txBody>
      </p:sp>
      <p:sp>
        <p:nvSpPr>
          <p:cNvPr id="3" name="TextBox 3"/>
          <p:cNvSpPr txBox="1"/>
          <p:nvPr/>
        </p:nvSpPr>
        <p:spPr>
          <a:xfrm>
            <a:off x="484152" y="6176081"/>
            <a:ext cx="17319696" cy="1195958"/>
          </a:xfrm>
          <a:prstGeom prst="rect">
            <a:avLst/>
          </a:prstGeom>
        </p:spPr>
        <p:txBody>
          <a:bodyPr lIns="0" tIns="0" rIns="0" bIns="0" rtlCol="0" anchor="t">
            <a:spAutoFit/>
          </a:bodyPr>
          <a:lstStyle/>
          <a:p>
            <a:pPr algn="l">
              <a:lnSpc>
                <a:spcPts val="4428"/>
              </a:lnSpc>
            </a:pPr>
            <a:r>
              <a:rPr lang="en-US" sz="3600" b="1">
                <a:solidFill>
                  <a:srgbClr val="000000"/>
                </a:solidFill>
                <a:latin typeface="Futura Bold"/>
                <a:ea typeface="Futura Bold"/>
                <a:cs typeface="Futura Bold"/>
                <a:sym typeface="Futura Bold"/>
              </a:rPr>
              <a:t>Educational institutions operate with vast amounts of student data—yet this data often remains unstructured, unanalyzed, and unused for strategic decision-making.</a:t>
            </a:r>
          </a:p>
        </p:txBody>
      </p:sp>
      <p:sp>
        <p:nvSpPr>
          <p:cNvPr id="4" name="Freeform 4"/>
          <p:cNvSpPr/>
          <p:nvPr/>
        </p:nvSpPr>
        <p:spPr>
          <a:xfrm rot="5400000">
            <a:off x="16654492" y="-790321"/>
            <a:ext cx="1986022" cy="2312689"/>
          </a:xfrm>
          <a:custGeom>
            <a:avLst/>
            <a:gdLst/>
            <a:ahLst/>
            <a:cxnLst/>
            <a:rect l="l" t="t" r="r" b="b"/>
            <a:pathLst>
              <a:path w="1986022" h="2312689">
                <a:moveTo>
                  <a:pt x="0" y="0"/>
                </a:moveTo>
                <a:lnTo>
                  <a:pt x="1986022" y="0"/>
                </a:lnTo>
                <a:lnTo>
                  <a:pt x="1986022" y="2312690"/>
                </a:lnTo>
                <a:lnTo>
                  <a:pt x="0" y="23126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rot="5207">
            <a:off x="-1471338" y="8059698"/>
            <a:ext cx="9432820" cy="0"/>
          </a:xfrm>
          <a:prstGeom prst="line">
            <a:avLst/>
          </a:prstGeom>
          <a:ln w="28575" cap="rnd">
            <a:solidFill>
              <a:srgbClr val="000000"/>
            </a:solidFill>
            <a:prstDash val="solid"/>
            <a:headEnd type="none" w="sm" len="sm"/>
            <a:tailEnd type="none" w="sm" len="sm"/>
          </a:ln>
        </p:spPr>
      </p:sp>
      <p:sp>
        <p:nvSpPr>
          <p:cNvPr id="6" name="TextBox 6"/>
          <p:cNvSpPr txBox="1"/>
          <p:nvPr/>
        </p:nvSpPr>
        <p:spPr>
          <a:xfrm>
            <a:off x="-17652" y="1772755"/>
            <a:ext cx="7979129" cy="799415"/>
          </a:xfrm>
          <a:prstGeom prst="rect">
            <a:avLst/>
          </a:prstGeom>
        </p:spPr>
        <p:txBody>
          <a:bodyPr lIns="0" tIns="0" rIns="0" bIns="0" rtlCol="0" anchor="t">
            <a:spAutoFit/>
          </a:bodyPr>
          <a:lstStyle/>
          <a:p>
            <a:pPr algn="ctr">
              <a:lnSpc>
                <a:spcPts val="6309"/>
              </a:lnSpc>
            </a:pPr>
            <a:r>
              <a:rPr lang="en-US" sz="5129">
                <a:solidFill>
                  <a:srgbClr val="000000"/>
                </a:solidFill>
                <a:latin typeface="League Spartan"/>
                <a:ea typeface="League Spartan"/>
                <a:cs typeface="League Spartan"/>
                <a:sym typeface="League Spartan"/>
              </a:rPr>
              <a:t>Problem Statement</a:t>
            </a:r>
          </a:p>
        </p:txBody>
      </p:sp>
      <p:sp>
        <p:nvSpPr>
          <p:cNvPr id="7" name="Freeform 7"/>
          <p:cNvSpPr/>
          <p:nvPr/>
        </p:nvSpPr>
        <p:spPr>
          <a:xfrm rot="-1984596">
            <a:off x="17299230" y="-4215914"/>
            <a:ext cx="12484703" cy="12484703"/>
          </a:xfrm>
          <a:custGeom>
            <a:avLst/>
            <a:gdLst/>
            <a:ahLst/>
            <a:cxnLst/>
            <a:rect l="l" t="t" r="r" b="b"/>
            <a:pathLst>
              <a:path w="12484703" h="12484703">
                <a:moveTo>
                  <a:pt x="0" y="0"/>
                </a:moveTo>
                <a:lnTo>
                  <a:pt x="12484702" y="0"/>
                </a:lnTo>
                <a:lnTo>
                  <a:pt x="12484702" y="12484702"/>
                </a:lnTo>
                <a:lnTo>
                  <a:pt x="0" y="124847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3023169" y="-3350482"/>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0" y="9474040"/>
            <a:ext cx="18288000" cy="5657850"/>
            <a:chOff x="0" y="0"/>
            <a:chExt cx="6186311" cy="1913890"/>
          </a:xfrm>
        </p:grpSpPr>
        <p:sp>
          <p:nvSpPr>
            <p:cNvPr id="10" name="Freeform 10"/>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D9D9D9"/>
            </a:solidFill>
          </p:spPr>
        </p:sp>
      </p:grpSp>
      <p:grpSp>
        <p:nvGrpSpPr>
          <p:cNvPr id="11" name="Group 11"/>
          <p:cNvGrpSpPr/>
          <p:nvPr/>
        </p:nvGrpSpPr>
        <p:grpSpPr>
          <a:xfrm>
            <a:off x="-17652" y="9459925"/>
            <a:ext cx="18288000" cy="827075"/>
            <a:chOff x="0" y="0"/>
            <a:chExt cx="24384000" cy="1102766"/>
          </a:xfrm>
        </p:grpSpPr>
        <p:sp>
          <p:nvSpPr>
            <p:cNvPr id="12" name="Freeform 12"/>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13" name="Freeform 13"/>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1984596">
            <a:off x="17638908" y="1146140"/>
            <a:ext cx="12484703" cy="12484703"/>
          </a:xfrm>
          <a:custGeom>
            <a:avLst/>
            <a:gdLst/>
            <a:ahLst/>
            <a:cxnLst/>
            <a:rect l="l" t="t" r="r" b="b"/>
            <a:pathLst>
              <a:path w="12484703" h="12484703">
                <a:moveTo>
                  <a:pt x="0" y="0"/>
                </a:moveTo>
                <a:lnTo>
                  <a:pt x="12484702" y="0"/>
                </a:lnTo>
                <a:lnTo>
                  <a:pt x="12484702" y="12484702"/>
                </a:lnTo>
                <a:lnTo>
                  <a:pt x="0" y="124847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79031" y="6172200"/>
            <a:ext cx="5108668" cy="4114800"/>
          </a:xfrm>
          <a:custGeom>
            <a:avLst/>
            <a:gdLst/>
            <a:ahLst/>
            <a:cxnLst/>
            <a:rect l="l" t="t" r="r" b="b"/>
            <a:pathLst>
              <a:path w="5108668" h="4114800">
                <a:moveTo>
                  <a:pt x="0" y="0"/>
                </a:moveTo>
                <a:lnTo>
                  <a:pt x="5108668" y="0"/>
                </a:lnTo>
                <a:lnTo>
                  <a:pt x="510866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79031" y="1981841"/>
            <a:ext cx="11969776" cy="1273683"/>
          </a:xfrm>
          <a:prstGeom prst="rect">
            <a:avLst/>
          </a:prstGeom>
        </p:spPr>
        <p:txBody>
          <a:bodyPr lIns="0" tIns="0" rIns="0" bIns="0" rtlCol="0" anchor="t">
            <a:spAutoFit/>
          </a:bodyPr>
          <a:lstStyle/>
          <a:p>
            <a:pPr algn="l">
              <a:lnSpc>
                <a:spcPts val="10085"/>
              </a:lnSpc>
            </a:pPr>
            <a:r>
              <a:rPr lang="en-US" sz="8199">
                <a:solidFill>
                  <a:srgbClr val="000000"/>
                </a:solidFill>
                <a:latin typeface="League Spartan"/>
                <a:ea typeface="League Spartan"/>
                <a:cs typeface="League Spartan"/>
                <a:sym typeface="League Spartan"/>
              </a:rPr>
              <a:t>Business Impact</a:t>
            </a:r>
          </a:p>
        </p:txBody>
      </p:sp>
      <p:pic>
        <p:nvPicPr>
          <p:cNvPr id="7" name="Picture 7"/>
          <p:cNvPicPr>
            <a:picLocks noChangeAspect="1"/>
          </p:cNvPicPr>
          <p:nvPr/>
        </p:nvPicPr>
        <p:blipFill>
          <a:blip r:embed="rId10">
            <a:alphaModFix amt="90000"/>
          </a:blip>
          <a:stretch>
            <a:fillRect/>
          </a:stretch>
        </p:blipFill>
        <p:spPr>
          <a:xfrm>
            <a:off x="9027988" y="154212"/>
            <a:ext cx="9471392" cy="10493858"/>
          </a:xfrm>
          <a:prstGeom prst="rect">
            <a:avLst/>
          </a:prstGeom>
        </p:spPr>
      </p:pic>
      <p:grpSp>
        <p:nvGrpSpPr>
          <p:cNvPr id="8" name="Group 8"/>
          <p:cNvGrpSpPr/>
          <p:nvPr/>
        </p:nvGrpSpPr>
        <p:grpSpPr>
          <a:xfrm>
            <a:off x="0" y="9459925"/>
            <a:ext cx="18288000" cy="827075"/>
            <a:chOff x="0" y="0"/>
            <a:chExt cx="24384000" cy="1102766"/>
          </a:xfrm>
        </p:grpSpPr>
        <p:sp>
          <p:nvSpPr>
            <p:cNvPr id="9" name="Freeform 9"/>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1"/>
              <a:stretch>
                <a:fillRect/>
              </a:stretch>
            </a:blipFill>
            <a:ln cap="sq">
              <a:noFill/>
              <a:prstDash val="solid"/>
              <a:miter/>
            </a:ln>
          </p:spPr>
        </p:sp>
        <p:sp>
          <p:nvSpPr>
            <p:cNvPr id="10" name="Freeform 10"/>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2"/>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5236764" y="5610960"/>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704282" y="5610960"/>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507841"/>
            <a:ext cx="18288000" cy="5657850"/>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D9D9D9"/>
            </a:solidFill>
          </p:spPr>
        </p:sp>
      </p:grpSp>
      <p:sp>
        <p:nvSpPr>
          <p:cNvPr id="6" name="TextBox 6"/>
          <p:cNvSpPr txBox="1"/>
          <p:nvPr/>
        </p:nvSpPr>
        <p:spPr>
          <a:xfrm>
            <a:off x="540997" y="1166489"/>
            <a:ext cx="7636269" cy="2295776"/>
          </a:xfrm>
          <a:prstGeom prst="rect">
            <a:avLst/>
          </a:prstGeom>
        </p:spPr>
        <p:txBody>
          <a:bodyPr lIns="0" tIns="0" rIns="0" bIns="0" rtlCol="0" anchor="t">
            <a:spAutoFit/>
          </a:bodyPr>
          <a:lstStyle/>
          <a:p>
            <a:pPr algn="l">
              <a:lnSpc>
                <a:spcPts val="9143"/>
              </a:lnSpc>
            </a:pPr>
            <a:r>
              <a:rPr lang="en-US" sz="7434">
                <a:solidFill>
                  <a:srgbClr val="000000"/>
                </a:solidFill>
                <a:latin typeface="League Spartan"/>
                <a:ea typeface="League Spartan"/>
                <a:cs typeface="League Spartan"/>
                <a:sym typeface="League Spartan"/>
              </a:rPr>
              <a:t>Methodology &amp; Approach</a:t>
            </a:r>
          </a:p>
        </p:txBody>
      </p:sp>
      <p:sp>
        <p:nvSpPr>
          <p:cNvPr id="7" name="AutoShape 7"/>
          <p:cNvSpPr/>
          <p:nvPr/>
        </p:nvSpPr>
        <p:spPr>
          <a:xfrm>
            <a:off x="-1709972" y="3675313"/>
            <a:ext cx="9432810" cy="14288"/>
          </a:xfrm>
          <a:prstGeom prst="line">
            <a:avLst/>
          </a:prstGeom>
          <a:ln w="28575" cap="rnd">
            <a:solidFill>
              <a:srgbClr val="000000"/>
            </a:solidFill>
            <a:prstDash val="solid"/>
            <a:headEnd type="none" w="sm" len="sm"/>
            <a:tailEnd type="none" w="sm" len="sm"/>
          </a:ln>
        </p:spPr>
      </p:sp>
      <p:sp>
        <p:nvSpPr>
          <p:cNvPr id="8" name="Freeform 8"/>
          <p:cNvSpPr/>
          <p:nvPr/>
        </p:nvSpPr>
        <p:spPr>
          <a:xfrm rot="-7076828">
            <a:off x="-1337014" y="7842364"/>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9" name="Group 9"/>
          <p:cNvGrpSpPr/>
          <p:nvPr/>
        </p:nvGrpSpPr>
        <p:grpSpPr>
          <a:xfrm>
            <a:off x="0" y="0"/>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grpSp>
        <p:nvGrpSpPr>
          <p:cNvPr id="13" name="Group 13"/>
          <p:cNvGrpSpPr/>
          <p:nvPr/>
        </p:nvGrpSpPr>
        <p:grpSpPr>
          <a:xfrm>
            <a:off x="28575" y="9459925"/>
            <a:ext cx="18288000" cy="827075"/>
            <a:chOff x="0" y="0"/>
            <a:chExt cx="24384000" cy="1102766"/>
          </a:xfrm>
        </p:grpSpPr>
        <p:sp>
          <p:nvSpPr>
            <p:cNvPr id="14" name="Freeform 14"/>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5" name="Freeform 15"/>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graphicFrame>
        <p:nvGraphicFramePr>
          <p:cNvPr id="16" name="Table 15">
            <a:extLst>
              <a:ext uri="{FF2B5EF4-FFF2-40B4-BE49-F238E27FC236}">
                <a16:creationId xmlns:a16="http://schemas.microsoft.com/office/drawing/2014/main" id="{DC9FC51B-20A3-0124-16B1-CF240D595535}"/>
              </a:ext>
            </a:extLst>
          </p:cNvPr>
          <p:cNvGraphicFramePr>
            <a:graphicFrameLocks noGrp="1"/>
          </p:cNvGraphicFramePr>
          <p:nvPr>
            <p:extLst>
              <p:ext uri="{D42A27DB-BD31-4B8C-83A1-F6EECF244321}">
                <p14:modId xmlns:p14="http://schemas.microsoft.com/office/powerpoint/2010/main" val="1800986027"/>
              </p:ext>
            </p:extLst>
          </p:nvPr>
        </p:nvGraphicFramePr>
        <p:xfrm>
          <a:off x="2491758" y="4502465"/>
          <a:ext cx="13304484" cy="2822478"/>
        </p:xfrm>
        <a:graphic>
          <a:graphicData uri="http://schemas.openxmlformats.org/drawingml/2006/table">
            <a:tbl>
              <a:tblPr/>
              <a:tblGrid>
                <a:gridCol w="2217414">
                  <a:extLst>
                    <a:ext uri="{9D8B030D-6E8A-4147-A177-3AD203B41FA5}">
                      <a16:colId xmlns:a16="http://schemas.microsoft.com/office/drawing/2014/main" val="3233279809"/>
                    </a:ext>
                  </a:extLst>
                </a:gridCol>
                <a:gridCol w="2217414">
                  <a:extLst>
                    <a:ext uri="{9D8B030D-6E8A-4147-A177-3AD203B41FA5}">
                      <a16:colId xmlns:a16="http://schemas.microsoft.com/office/drawing/2014/main" val="1898592737"/>
                    </a:ext>
                  </a:extLst>
                </a:gridCol>
                <a:gridCol w="2217414">
                  <a:extLst>
                    <a:ext uri="{9D8B030D-6E8A-4147-A177-3AD203B41FA5}">
                      <a16:colId xmlns:a16="http://schemas.microsoft.com/office/drawing/2014/main" val="2663925229"/>
                    </a:ext>
                  </a:extLst>
                </a:gridCol>
                <a:gridCol w="2217414">
                  <a:extLst>
                    <a:ext uri="{9D8B030D-6E8A-4147-A177-3AD203B41FA5}">
                      <a16:colId xmlns:a16="http://schemas.microsoft.com/office/drawing/2014/main" val="3316071627"/>
                    </a:ext>
                  </a:extLst>
                </a:gridCol>
                <a:gridCol w="2217414">
                  <a:extLst>
                    <a:ext uri="{9D8B030D-6E8A-4147-A177-3AD203B41FA5}">
                      <a16:colId xmlns:a16="http://schemas.microsoft.com/office/drawing/2014/main" val="823660312"/>
                    </a:ext>
                  </a:extLst>
                </a:gridCol>
                <a:gridCol w="2217414">
                  <a:extLst>
                    <a:ext uri="{9D8B030D-6E8A-4147-A177-3AD203B41FA5}">
                      <a16:colId xmlns:a16="http://schemas.microsoft.com/office/drawing/2014/main" val="1105364000"/>
                    </a:ext>
                  </a:extLst>
                </a:gridCol>
              </a:tblGrid>
              <a:tr h="940826">
                <a:tc>
                  <a:txBody>
                    <a:bodyPr/>
                    <a:lstStyle/>
                    <a:p>
                      <a:pPr>
                        <a:buNone/>
                      </a:pPr>
                      <a:r>
                        <a:rPr lang="en-US" b="1" dirty="0">
                          <a:solidFill>
                            <a:srgbClr val="FFFFFF"/>
                          </a:solidFill>
                          <a:effectLst/>
                        </a:rPr>
                        <a:t>Raw Data</a:t>
                      </a:r>
                    </a:p>
                  </a:txBody>
                  <a:tcPr anchor="ctr">
                    <a:lnL w="30480" cap="flat" cmpd="sng" algn="ctr">
                      <a:solidFill>
                        <a:srgbClr val="F14A16"/>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ETL Pipeline</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Database</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SQL Analysis </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Visualizations</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Insights</a:t>
                      </a:r>
                    </a:p>
                  </a:txBody>
                  <a:tcPr anchor="ctr">
                    <a:lnL w="30480" cap="flat" cmpd="sng" algn="ctr">
                      <a:solidFill>
                        <a:srgbClr val="FFFFFF"/>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3655801336"/>
                  </a:ext>
                </a:extLst>
              </a:tr>
              <a:tr h="940826">
                <a:tc>
                  <a:txBody>
                    <a:bodyPr/>
                    <a:lstStyle/>
                    <a:p>
                      <a:pPr>
                        <a:buNone/>
                      </a:pPr>
                      <a:r>
                        <a:rPr lang="en-US" b="1">
                          <a:effectLst/>
                        </a:rPr>
                        <a:t>Phase I</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Phase II</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Phase III</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Phase IV</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Strategic</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Business</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438805093"/>
                  </a:ext>
                </a:extLst>
              </a:tr>
              <a:tr h="940826">
                <a:tc>
                  <a:txBody>
                    <a:bodyPr/>
                    <a:lstStyle/>
                    <a:p>
                      <a:pPr>
                        <a:buNone/>
                      </a:pPr>
                      <a:r>
                        <a:rPr lang="en-US" b="1">
                          <a:effectLst/>
                        </a:rPr>
                        <a:t>Input</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Preparation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Organization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Extraction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Intelligence</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dirty="0">
                          <a:effectLst/>
                        </a:rPr>
                        <a:t>Decisions</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374187788"/>
                  </a:ext>
                </a:extLst>
              </a:tr>
            </a:tbl>
          </a:graphicData>
        </a:graphic>
      </p:graphicFrame>
      <p:sp>
        <p:nvSpPr>
          <p:cNvPr id="17" name="Rectangle 1">
            <a:extLst>
              <a:ext uri="{FF2B5EF4-FFF2-40B4-BE49-F238E27FC236}">
                <a16:creationId xmlns:a16="http://schemas.microsoft.com/office/drawing/2014/main" id="{F6E289AF-C42F-7A1B-5D23-9CBC8C37A1CF}"/>
              </a:ext>
            </a:extLst>
          </p:cNvPr>
          <p:cNvSpPr>
            <a:spLocks noChangeArrowheads="1"/>
          </p:cNvSpPr>
          <p:nvPr/>
        </p:nvSpPr>
        <p:spPr bwMode="auto">
          <a:xfrm>
            <a:off x="457200" y="2452688"/>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5940587" y="-4056697"/>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518734" y="-453809"/>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474040"/>
            <a:ext cx="18288000" cy="5657850"/>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AFB3B1"/>
            </a:solidFill>
          </p:spPr>
        </p:sp>
      </p:grpSp>
      <p:sp>
        <p:nvSpPr>
          <p:cNvPr id="6" name="TextBox 6"/>
          <p:cNvSpPr txBox="1"/>
          <p:nvPr/>
        </p:nvSpPr>
        <p:spPr>
          <a:xfrm>
            <a:off x="541018" y="1345418"/>
            <a:ext cx="8309792" cy="2295776"/>
          </a:xfrm>
          <a:prstGeom prst="rect">
            <a:avLst/>
          </a:prstGeom>
        </p:spPr>
        <p:txBody>
          <a:bodyPr lIns="0" tIns="0" rIns="0" bIns="0" rtlCol="0" anchor="t">
            <a:spAutoFit/>
          </a:bodyPr>
          <a:lstStyle/>
          <a:p>
            <a:pPr algn="l">
              <a:lnSpc>
                <a:spcPts val="9143"/>
              </a:lnSpc>
            </a:pPr>
            <a:r>
              <a:rPr lang="en-US" sz="7434">
                <a:solidFill>
                  <a:srgbClr val="000000"/>
                </a:solidFill>
                <a:latin typeface="League Spartan"/>
                <a:ea typeface="League Spartan"/>
                <a:cs typeface="League Spartan"/>
                <a:sym typeface="League Spartan"/>
              </a:rPr>
              <a:t>Project Duration</a:t>
            </a:r>
          </a:p>
          <a:p>
            <a:pPr algn="l">
              <a:lnSpc>
                <a:spcPts val="9143"/>
              </a:lnSpc>
            </a:pPr>
            <a:endParaRPr lang="en-US" sz="7434">
              <a:solidFill>
                <a:srgbClr val="000000"/>
              </a:solidFill>
              <a:latin typeface="League Spartan"/>
              <a:ea typeface="League Spartan"/>
              <a:cs typeface="League Spartan"/>
              <a:sym typeface="League Spartan"/>
            </a:endParaRPr>
          </a:p>
        </p:txBody>
      </p:sp>
      <p:sp>
        <p:nvSpPr>
          <p:cNvPr id="7" name="AutoShape 7"/>
          <p:cNvSpPr/>
          <p:nvPr/>
        </p:nvSpPr>
        <p:spPr>
          <a:xfrm>
            <a:off x="-717894" y="3183319"/>
            <a:ext cx="10089748" cy="0"/>
          </a:xfrm>
          <a:prstGeom prst="line">
            <a:avLst/>
          </a:prstGeom>
          <a:ln w="28575" cap="rnd">
            <a:solidFill>
              <a:srgbClr val="000000"/>
            </a:solidFill>
            <a:prstDash val="solid"/>
            <a:headEnd type="none" w="sm" len="sm"/>
            <a:tailEnd type="none" w="sm" len="sm"/>
          </a:ln>
        </p:spPr>
      </p:sp>
      <p:sp>
        <p:nvSpPr>
          <p:cNvPr id="8" name="Freeform 8"/>
          <p:cNvSpPr/>
          <p:nvPr/>
        </p:nvSpPr>
        <p:spPr>
          <a:xfrm rot="5400000">
            <a:off x="-594561" y="-873308"/>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0" y="9459925"/>
            <a:ext cx="1470936" cy="827075"/>
          </a:xfrm>
          <a:custGeom>
            <a:avLst/>
            <a:gdLst/>
            <a:ahLst/>
            <a:cxnLst/>
            <a:rect l="l" t="t" r="r" b="b"/>
            <a:pathLst>
              <a:path w="1470936" h="827075">
                <a:moveTo>
                  <a:pt x="0" y="0"/>
                </a:moveTo>
                <a:lnTo>
                  <a:pt x="1470936" y="0"/>
                </a:lnTo>
                <a:lnTo>
                  <a:pt x="1470936" y="827075"/>
                </a:lnTo>
                <a:lnTo>
                  <a:pt x="0" y="827075"/>
                </a:lnTo>
                <a:lnTo>
                  <a:pt x="0" y="0"/>
                </a:lnTo>
                <a:close/>
              </a:path>
            </a:pathLst>
          </a:custGeom>
          <a:blipFill>
            <a:blip r:embed="rId8"/>
            <a:stretch>
              <a:fillRect/>
            </a:stretch>
          </a:blipFill>
          <a:ln cap="sq">
            <a:noFill/>
            <a:prstDash val="solid"/>
            <a:miter/>
          </a:ln>
        </p:spPr>
      </p:sp>
      <p:sp>
        <p:nvSpPr>
          <p:cNvPr id="10" name="Freeform 10"/>
          <p:cNvSpPr/>
          <p:nvPr/>
        </p:nvSpPr>
        <p:spPr>
          <a:xfrm>
            <a:off x="16742123" y="9517692"/>
            <a:ext cx="1553223" cy="769308"/>
          </a:xfrm>
          <a:custGeom>
            <a:avLst/>
            <a:gdLst/>
            <a:ahLst/>
            <a:cxnLst/>
            <a:rect l="l" t="t" r="r" b="b"/>
            <a:pathLst>
              <a:path w="1553223" h="769308">
                <a:moveTo>
                  <a:pt x="0" y="0"/>
                </a:moveTo>
                <a:lnTo>
                  <a:pt x="1553223" y="0"/>
                </a:lnTo>
                <a:lnTo>
                  <a:pt x="1553223" y="769308"/>
                </a:lnTo>
                <a:lnTo>
                  <a:pt x="0" y="769308"/>
                </a:lnTo>
                <a:lnTo>
                  <a:pt x="0" y="0"/>
                </a:lnTo>
                <a:close/>
              </a:path>
            </a:pathLst>
          </a:custGeom>
          <a:blipFill>
            <a:blip r:embed="rId9"/>
            <a:stretch>
              <a:fillRect/>
            </a:stretch>
          </a:blipFill>
          <a:ln cap="sq">
            <a:noFill/>
            <a:prstDash val="solid"/>
            <a:miter/>
          </a:ln>
        </p:spPr>
      </p:sp>
      <p:sp>
        <p:nvSpPr>
          <p:cNvPr id="11" name="TextBox 11"/>
          <p:cNvSpPr txBox="1"/>
          <p:nvPr/>
        </p:nvSpPr>
        <p:spPr>
          <a:xfrm>
            <a:off x="910833" y="4236658"/>
            <a:ext cx="13237865" cy="4401563"/>
          </a:xfrm>
          <a:prstGeom prst="rect">
            <a:avLst/>
          </a:prstGeom>
        </p:spPr>
        <p:txBody>
          <a:bodyPr lIns="0" tIns="0" rIns="0" bIns="0" rtlCol="0" anchor="t">
            <a:spAutoFit/>
          </a:bodyPr>
          <a:lstStyle/>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Total Timeline: 6 weeks</a:t>
            </a:r>
          </a:p>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Phase I (ETL): 1.5 weeks</a:t>
            </a:r>
          </a:p>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Phase II (Database): 1 week</a:t>
            </a:r>
          </a:p>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Phase III (SQL Analysis): 1 week</a:t>
            </a:r>
          </a:p>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Phase IV (Visualizations): 1 week</a:t>
            </a:r>
          </a:p>
          <a:p>
            <a:pPr marL="1022116" lvl="1" indent="-511058" algn="l">
              <a:lnSpc>
                <a:spcPts val="5823"/>
              </a:lnSpc>
              <a:buFont typeface="Arial"/>
              <a:buChar char="•"/>
            </a:pPr>
            <a:r>
              <a:rPr lang="en-US" sz="4734">
                <a:solidFill>
                  <a:srgbClr val="000000"/>
                </a:solidFill>
                <a:latin typeface="League Spartan"/>
                <a:ea typeface="League Spartan"/>
                <a:cs typeface="League Spartan"/>
                <a:sym typeface="League Spartan"/>
              </a:rPr>
              <a:t> Reporting &amp; Presentation: 1.5 weeks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5163976" y="-2896148"/>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631494" y="-2896148"/>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474040"/>
            <a:ext cx="18288000" cy="5657850"/>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000000">
                <a:alpha val="28627"/>
              </a:srgbClr>
            </a:solidFill>
          </p:spPr>
        </p:sp>
      </p:grpSp>
      <p:sp>
        <p:nvSpPr>
          <p:cNvPr id="6" name="AutoShape 6"/>
          <p:cNvSpPr/>
          <p:nvPr/>
        </p:nvSpPr>
        <p:spPr>
          <a:xfrm>
            <a:off x="541018" y="3139545"/>
            <a:ext cx="9432810" cy="14288"/>
          </a:xfrm>
          <a:prstGeom prst="line">
            <a:avLst/>
          </a:prstGeom>
          <a:ln w="28575" cap="rnd">
            <a:solidFill>
              <a:srgbClr val="000000"/>
            </a:solidFill>
            <a:prstDash val="solid"/>
            <a:headEnd type="none" w="sm" len="sm"/>
            <a:tailEnd type="none" w="sm" len="sm"/>
          </a:ln>
        </p:spPr>
      </p:sp>
      <p:sp>
        <p:nvSpPr>
          <p:cNvPr id="7" name="Freeform 7"/>
          <p:cNvSpPr/>
          <p:nvPr/>
        </p:nvSpPr>
        <p:spPr>
          <a:xfrm rot="5400000">
            <a:off x="-594561" y="-873308"/>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AutoShape 8"/>
          <p:cNvSpPr/>
          <p:nvPr/>
        </p:nvSpPr>
        <p:spPr>
          <a:xfrm flipV="1">
            <a:off x="-710772" y="-1546158"/>
            <a:ext cx="3480619" cy="2009536"/>
          </a:xfrm>
          <a:prstGeom prst="line">
            <a:avLst/>
          </a:prstGeom>
          <a:ln w="28575" cap="rnd">
            <a:solidFill>
              <a:srgbClr val="000000"/>
            </a:solidFill>
            <a:prstDash val="solid"/>
            <a:headEnd type="none" w="sm" len="sm"/>
            <a:tailEnd type="none" w="sm" len="sm"/>
          </a:ln>
        </p:spPr>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sp>
        <p:nvSpPr>
          <p:cNvPr id="13" name="TextBox 13"/>
          <p:cNvSpPr txBox="1"/>
          <p:nvPr/>
        </p:nvSpPr>
        <p:spPr>
          <a:xfrm>
            <a:off x="389454" y="1669175"/>
            <a:ext cx="10246172" cy="1143251"/>
          </a:xfrm>
          <a:prstGeom prst="rect">
            <a:avLst/>
          </a:prstGeom>
        </p:spPr>
        <p:txBody>
          <a:bodyPr lIns="0" tIns="0" rIns="0" bIns="0" rtlCol="0" anchor="t">
            <a:spAutoFit/>
          </a:bodyPr>
          <a:lstStyle/>
          <a:p>
            <a:pPr algn="l">
              <a:lnSpc>
                <a:spcPts val="9143"/>
              </a:lnSpc>
            </a:pPr>
            <a:r>
              <a:rPr lang="en-US" sz="7434">
                <a:solidFill>
                  <a:srgbClr val="000000"/>
                </a:solidFill>
                <a:latin typeface="League Spartan"/>
                <a:ea typeface="League Spartan"/>
                <a:cs typeface="League Spartan"/>
                <a:sym typeface="League Spartan"/>
              </a:rPr>
              <a:t>Technology Stack</a:t>
            </a:r>
          </a:p>
        </p:txBody>
      </p:sp>
      <p:graphicFrame>
        <p:nvGraphicFramePr>
          <p:cNvPr id="14" name="Table 13">
            <a:extLst>
              <a:ext uri="{FF2B5EF4-FFF2-40B4-BE49-F238E27FC236}">
                <a16:creationId xmlns:a16="http://schemas.microsoft.com/office/drawing/2014/main" id="{F71FA8EE-47B7-7D68-1566-1C7ED48B3130}"/>
              </a:ext>
            </a:extLst>
          </p:cNvPr>
          <p:cNvGraphicFramePr>
            <a:graphicFrameLocks noGrp="1"/>
          </p:cNvGraphicFramePr>
          <p:nvPr>
            <p:extLst>
              <p:ext uri="{D42A27DB-BD31-4B8C-83A1-F6EECF244321}">
                <p14:modId xmlns:p14="http://schemas.microsoft.com/office/powerpoint/2010/main" val="2970544226"/>
              </p:ext>
            </p:extLst>
          </p:nvPr>
        </p:nvGraphicFramePr>
        <p:xfrm>
          <a:off x="3924299" y="3724028"/>
          <a:ext cx="10439402" cy="5229469"/>
        </p:xfrm>
        <a:graphic>
          <a:graphicData uri="http://schemas.openxmlformats.org/drawingml/2006/table">
            <a:tbl>
              <a:tblPr/>
              <a:tblGrid>
                <a:gridCol w="5219701">
                  <a:extLst>
                    <a:ext uri="{9D8B030D-6E8A-4147-A177-3AD203B41FA5}">
                      <a16:colId xmlns:a16="http://schemas.microsoft.com/office/drawing/2014/main" val="3869673552"/>
                    </a:ext>
                  </a:extLst>
                </a:gridCol>
                <a:gridCol w="5219701">
                  <a:extLst>
                    <a:ext uri="{9D8B030D-6E8A-4147-A177-3AD203B41FA5}">
                      <a16:colId xmlns:a16="http://schemas.microsoft.com/office/drawing/2014/main" val="4186130679"/>
                    </a:ext>
                  </a:extLst>
                </a:gridCol>
              </a:tblGrid>
              <a:tr h="739340">
                <a:tc>
                  <a:txBody>
                    <a:bodyPr/>
                    <a:lstStyle/>
                    <a:p>
                      <a:pPr>
                        <a:buNone/>
                      </a:pPr>
                      <a:r>
                        <a:rPr lang="en-US" b="1">
                          <a:solidFill>
                            <a:srgbClr val="FFFFFF"/>
                          </a:solidFill>
                          <a:effectLst/>
                        </a:rPr>
                        <a:t>Component</a:t>
                      </a:r>
                    </a:p>
                  </a:txBody>
                  <a:tcPr anchor="ctr">
                    <a:lnL w="30480" cap="flat" cmpd="sng" algn="ctr">
                      <a:solidFill>
                        <a:srgbClr val="F14A16"/>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Technology</a:t>
                      </a:r>
                    </a:p>
                  </a:txBody>
                  <a:tcPr anchor="ctr">
                    <a:lnL w="30480" cap="flat" cmpd="sng" algn="ctr">
                      <a:solidFill>
                        <a:srgbClr val="FFFFFF"/>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2323881614"/>
                  </a:ext>
                </a:extLst>
              </a:tr>
              <a:tr h="739340">
                <a:tc>
                  <a:txBody>
                    <a:bodyPr/>
                    <a:lstStyle/>
                    <a:p>
                      <a:pPr>
                        <a:buNone/>
                      </a:pPr>
                      <a:r>
                        <a:rPr lang="en-US" b="1">
                          <a:effectLst/>
                        </a:rPr>
                        <a:t>Programming</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Python 3.x, SQL</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685717542"/>
                  </a:ext>
                </a:extLst>
              </a:tr>
              <a:tr h="739340">
                <a:tc>
                  <a:txBody>
                    <a:bodyPr/>
                    <a:lstStyle/>
                    <a:p>
                      <a:pPr>
                        <a:buNone/>
                      </a:pPr>
                      <a:r>
                        <a:rPr lang="en-US" b="1">
                          <a:effectLst/>
                        </a:rPr>
                        <a:t>Data Processing</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Pandas, NumPy</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148763170"/>
                  </a:ext>
                </a:extLst>
              </a:tr>
              <a:tr h="739340">
                <a:tc>
                  <a:txBody>
                    <a:bodyPr/>
                    <a:lstStyle/>
                    <a:p>
                      <a:pPr>
                        <a:buNone/>
                      </a:pPr>
                      <a:r>
                        <a:rPr lang="en-US" b="1">
                          <a:effectLst/>
                        </a:rPr>
                        <a:t>Database</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SQLite3 (Relational)</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4098196633"/>
                  </a:ext>
                </a:extLst>
              </a:tr>
              <a:tr h="739340">
                <a:tc>
                  <a:txBody>
                    <a:bodyPr/>
                    <a:lstStyle/>
                    <a:p>
                      <a:pPr>
                        <a:buNone/>
                      </a:pPr>
                      <a:r>
                        <a:rPr lang="en-US" b="1">
                          <a:effectLst/>
                        </a:rPr>
                        <a:t>Visualization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Matplotlib, Seaborn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389751323"/>
                  </a:ext>
                </a:extLst>
              </a:tr>
              <a:tr h="793429">
                <a:tc>
                  <a:txBody>
                    <a:bodyPr/>
                    <a:lstStyle/>
                    <a:p>
                      <a:pPr>
                        <a:buNone/>
                      </a:pPr>
                      <a:r>
                        <a:rPr lang="en-US" b="1">
                          <a:effectLst/>
                        </a:rPr>
                        <a:t>Environment</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Jupyter Notebook, VS Code</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284984509"/>
                  </a:ext>
                </a:extLst>
              </a:tr>
              <a:tr h="739340">
                <a:tc>
                  <a:txBody>
                    <a:bodyPr/>
                    <a:lstStyle/>
                    <a:p>
                      <a:pPr>
                        <a:buNone/>
                      </a:pPr>
                      <a:r>
                        <a:rPr lang="en-US" b="1">
                          <a:effectLst/>
                        </a:rPr>
                        <a:t>Version Control</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dirty="0">
                          <a:effectLst/>
                        </a:rPr>
                        <a:t>Git/GitHub</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94872358"/>
                  </a:ext>
                </a:extLst>
              </a:tr>
            </a:tbl>
          </a:graphicData>
        </a:graphic>
      </p:graphicFrame>
      <p:sp>
        <p:nvSpPr>
          <p:cNvPr id="15" name="Rectangle 1">
            <a:extLst>
              <a:ext uri="{FF2B5EF4-FFF2-40B4-BE49-F238E27FC236}">
                <a16:creationId xmlns:a16="http://schemas.microsoft.com/office/drawing/2014/main" id="{383B16E8-DDFB-F634-B957-BBC003B2104A}"/>
              </a:ext>
            </a:extLst>
          </p:cNvPr>
          <p:cNvSpPr>
            <a:spLocks noChangeArrowheads="1"/>
          </p:cNvSpPr>
          <p:nvPr/>
        </p:nvSpPr>
        <p:spPr bwMode="auto">
          <a:xfrm>
            <a:off x="4267198" y="3724699"/>
            <a:ext cx="2319866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3" name="Freeform 3"/>
          <p:cNvSpPr/>
          <p:nvPr/>
        </p:nvSpPr>
        <p:spPr>
          <a:xfrm rot="3728645">
            <a:off x="-3397469" y="7135396"/>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4">
              <a:alphaModFix amt="96000"/>
              <a:extLst>
                <a:ext uri="{96DAC541-7B7A-43D3-8B79-37D633B846F1}">
                  <asvg:svgBlip xmlns:asvg="http://schemas.microsoft.com/office/drawing/2016/SVG/main" r:embed="rId5"/>
                </a:ext>
              </a:extLst>
            </a:blip>
            <a:stretch>
              <a:fillRect/>
            </a:stretch>
          </a:blipFill>
        </p:spPr>
      </p:sp>
      <p:sp>
        <p:nvSpPr>
          <p:cNvPr id="4" name="AutoShape 4"/>
          <p:cNvSpPr/>
          <p:nvPr/>
        </p:nvSpPr>
        <p:spPr>
          <a:xfrm>
            <a:off x="-2269952" y="3654020"/>
            <a:ext cx="8416187" cy="14288"/>
          </a:xfrm>
          <a:prstGeom prst="line">
            <a:avLst/>
          </a:prstGeom>
          <a:ln w="28575" cap="rnd">
            <a:solidFill>
              <a:srgbClr val="000000"/>
            </a:solidFill>
            <a:prstDash val="solid"/>
            <a:headEnd type="none" w="sm" len="sm"/>
            <a:tailEnd type="none" w="sm" len="sm"/>
          </a:ln>
        </p:spPr>
      </p:sp>
      <p:sp>
        <p:nvSpPr>
          <p:cNvPr id="5" name="Freeform 5"/>
          <p:cNvSpPr/>
          <p:nvPr/>
        </p:nvSpPr>
        <p:spPr>
          <a:xfrm>
            <a:off x="16509347" y="3238769"/>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17480501" y="-395036"/>
            <a:ext cx="1057504" cy="1057504"/>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4A16"/>
            </a:solidFill>
          </p:spPr>
        </p:sp>
      </p:grpSp>
      <p:sp>
        <p:nvSpPr>
          <p:cNvPr id="8" name="TextBox 8"/>
          <p:cNvSpPr txBox="1"/>
          <p:nvPr/>
        </p:nvSpPr>
        <p:spPr>
          <a:xfrm>
            <a:off x="213306" y="1113437"/>
            <a:ext cx="12529169" cy="2211359"/>
          </a:xfrm>
          <a:prstGeom prst="rect">
            <a:avLst/>
          </a:prstGeom>
        </p:spPr>
        <p:txBody>
          <a:bodyPr lIns="0" tIns="0" rIns="0" bIns="0" rtlCol="0" anchor="t">
            <a:spAutoFit/>
          </a:bodyPr>
          <a:lstStyle/>
          <a:p>
            <a:pPr algn="l">
              <a:lnSpc>
                <a:spcPts val="8721"/>
              </a:lnSpc>
            </a:pPr>
            <a:r>
              <a:rPr lang="en-US" sz="7090">
                <a:solidFill>
                  <a:srgbClr val="000000"/>
                </a:solidFill>
                <a:latin typeface="League Spartan"/>
                <a:ea typeface="League Spartan"/>
                <a:cs typeface="League Spartan"/>
                <a:sym typeface="League Spartan"/>
              </a:rPr>
              <a:t>Phase I:</a:t>
            </a:r>
          </a:p>
          <a:p>
            <a:pPr algn="l">
              <a:lnSpc>
                <a:spcPts val="8721"/>
              </a:lnSpc>
            </a:pPr>
            <a:r>
              <a:rPr lang="en-US" sz="7090">
                <a:solidFill>
                  <a:srgbClr val="000000"/>
                </a:solidFill>
                <a:latin typeface="League Spartan"/>
                <a:ea typeface="League Spartan"/>
                <a:cs typeface="League Spartan"/>
                <a:sym typeface="League Spartan"/>
              </a:rPr>
              <a:t>Data Preprocessing (ETL)</a:t>
            </a:r>
          </a:p>
        </p:txBody>
      </p:sp>
      <p:grpSp>
        <p:nvGrpSpPr>
          <p:cNvPr id="9" name="Group 9"/>
          <p:cNvGrpSpPr/>
          <p:nvPr/>
        </p:nvGrpSpPr>
        <p:grpSpPr>
          <a:xfrm>
            <a:off x="213306" y="4112134"/>
            <a:ext cx="5932953" cy="2212530"/>
            <a:chOff x="0" y="0"/>
            <a:chExt cx="7910604" cy="2950040"/>
          </a:xfrm>
        </p:grpSpPr>
        <p:sp>
          <p:nvSpPr>
            <p:cNvPr id="10" name="TextBox 10"/>
            <p:cNvSpPr txBox="1"/>
            <p:nvPr/>
          </p:nvSpPr>
          <p:spPr>
            <a:xfrm>
              <a:off x="0" y="-9525"/>
              <a:ext cx="7209102" cy="889129"/>
            </a:xfrm>
            <a:prstGeom prst="rect">
              <a:avLst/>
            </a:prstGeom>
          </p:spPr>
          <p:txBody>
            <a:bodyPr lIns="0" tIns="0" rIns="0" bIns="0" rtlCol="0" anchor="t">
              <a:spAutoFit/>
            </a:bodyPr>
            <a:lstStyle/>
            <a:p>
              <a:pPr algn="l">
                <a:lnSpc>
                  <a:spcPts val="5349"/>
                </a:lnSpc>
              </a:pPr>
              <a:r>
                <a:rPr lang="en-US" sz="4349">
                  <a:solidFill>
                    <a:srgbClr val="000000"/>
                  </a:solidFill>
                  <a:latin typeface="League Spartan"/>
                  <a:ea typeface="League Spartan"/>
                  <a:cs typeface="League Spartan"/>
                  <a:sym typeface="League Spartan"/>
                </a:rPr>
                <a:t>Load &amp; Validate</a:t>
              </a:r>
            </a:p>
          </p:txBody>
        </p:sp>
        <p:sp>
          <p:nvSpPr>
            <p:cNvPr id="11" name="TextBox 11"/>
            <p:cNvSpPr txBox="1"/>
            <p:nvPr/>
          </p:nvSpPr>
          <p:spPr>
            <a:xfrm>
              <a:off x="0" y="1031705"/>
              <a:ext cx="7910604" cy="1918335"/>
            </a:xfrm>
            <a:prstGeom prst="rect">
              <a:avLst/>
            </a:prstGeom>
          </p:spPr>
          <p:txBody>
            <a:bodyPr lIns="0" tIns="0" rIns="0" bIns="0" rtlCol="0" anchor="t">
              <a:spAutoFit/>
            </a:bodyPr>
            <a:lstStyle/>
            <a:p>
              <a:pPr marL="647700" lvl="1" indent="-323850" algn="l">
                <a:lnSpc>
                  <a:spcPts val="3690"/>
                </a:lnSpc>
                <a:buFont typeface="Arial"/>
                <a:buChar char="•"/>
              </a:pPr>
              <a:r>
                <a:rPr lang="en-US" sz="3000" b="1">
                  <a:solidFill>
                    <a:srgbClr val="000000"/>
                  </a:solidFill>
                  <a:latin typeface="Futura Bold"/>
                  <a:ea typeface="Futura Bold"/>
                  <a:cs typeface="Futura Bold"/>
                  <a:sym typeface="Futura Bold"/>
                </a:rPr>
                <a:t>Import CSV dataintoPandas</a:t>
              </a:r>
            </a:p>
            <a:p>
              <a:pPr marL="647700" lvl="1" indent="-323850" algn="l">
                <a:lnSpc>
                  <a:spcPts val="3690"/>
                </a:lnSpc>
                <a:buFont typeface="Arial"/>
                <a:buChar char="•"/>
              </a:pPr>
              <a:r>
                <a:rPr lang="en-US" sz="3000" b="1">
                  <a:solidFill>
                    <a:srgbClr val="000000"/>
                  </a:solidFill>
                  <a:latin typeface="Futura Bold"/>
                  <a:ea typeface="Futura Bold"/>
                  <a:cs typeface="Futura Bold"/>
                  <a:sym typeface="Futura Bold"/>
                </a:rPr>
                <a:t>DataFrame Validate schema</a:t>
              </a:r>
            </a:p>
            <a:p>
              <a:pPr marL="647700" lvl="1" indent="-323850" algn="l">
                <a:lnSpc>
                  <a:spcPts val="3690"/>
                </a:lnSpc>
                <a:buFont typeface="Arial"/>
                <a:buChar char="•"/>
              </a:pPr>
              <a:r>
                <a:rPr lang="en-US" sz="3000" b="1">
                  <a:solidFill>
                    <a:srgbClr val="000000"/>
                  </a:solidFill>
                  <a:latin typeface="Futura Bold"/>
                  <a:ea typeface="Futura Bold"/>
                  <a:cs typeface="Futura Bold"/>
                  <a:sym typeface="Futura Bold"/>
                </a:rPr>
                <a:t>Identify structural issues</a:t>
              </a:r>
            </a:p>
          </p:txBody>
        </p:sp>
      </p:grpSp>
      <p:grpSp>
        <p:nvGrpSpPr>
          <p:cNvPr id="12" name="Group 12"/>
          <p:cNvGrpSpPr/>
          <p:nvPr/>
        </p:nvGrpSpPr>
        <p:grpSpPr>
          <a:xfrm>
            <a:off x="5385688" y="6167804"/>
            <a:ext cx="6325977" cy="2530547"/>
            <a:chOff x="0" y="0"/>
            <a:chExt cx="8434635" cy="3374063"/>
          </a:xfrm>
        </p:grpSpPr>
        <p:sp>
          <p:nvSpPr>
            <p:cNvPr id="13" name="TextBox 13"/>
            <p:cNvSpPr txBox="1"/>
            <p:nvPr/>
          </p:nvSpPr>
          <p:spPr>
            <a:xfrm>
              <a:off x="231295" y="-9525"/>
              <a:ext cx="7379604" cy="1790829"/>
            </a:xfrm>
            <a:prstGeom prst="rect">
              <a:avLst/>
            </a:prstGeom>
          </p:spPr>
          <p:txBody>
            <a:bodyPr lIns="0" tIns="0" rIns="0" bIns="0" rtlCol="0" anchor="t">
              <a:spAutoFit/>
            </a:bodyPr>
            <a:lstStyle/>
            <a:p>
              <a:pPr algn="l">
                <a:lnSpc>
                  <a:spcPts val="5349"/>
                </a:lnSpc>
              </a:pPr>
              <a:r>
                <a:rPr lang="en-US" sz="4349">
                  <a:solidFill>
                    <a:srgbClr val="000000"/>
                  </a:solidFill>
                  <a:latin typeface="League Spartan"/>
                  <a:ea typeface="League Spartan"/>
                  <a:cs typeface="League Spartan"/>
                  <a:sym typeface="League Spartan"/>
                </a:rPr>
                <a:t>Apply</a:t>
              </a:r>
            </a:p>
            <a:p>
              <a:pPr algn="l">
                <a:lnSpc>
                  <a:spcPts val="5349"/>
                </a:lnSpc>
              </a:pPr>
              <a:r>
                <a:rPr lang="en-US" sz="4349">
                  <a:solidFill>
                    <a:srgbClr val="000000"/>
                  </a:solidFill>
                  <a:latin typeface="League Spartan"/>
                  <a:ea typeface="League Spartan"/>
                  <a:cs typeface="League Spartan"/>
                  <a:sym typeface="League Spartan"/>
                </a:rPr>
                <a:t>Business Rules</a:t>
              </a:r>
            </a:p>
          </p:txBody>
        </p:sp>
        <p:sp>
          <p:nvSpPr>
            <p:cNvPr id="14" name="TextBox 14"/>
            <p:cNvSpPr txBox="1"/>
            <p:nvPr/>
          </p:nvSpPr>
          <p:spPr>
            <a:xfrm>
              <a:off x="0" y="1710955"/>
              <a:ext cx="8434635" cy="1663108"/>
            </a:xfrm>
            <a:prstGeom prst="rect">
              <a:avLst/>
            </a:prstGeom>
          </p:spPr>
          <p:txBody>
            <a:bodyPr lIns="0" tIns="0" rIns="0" bIns="0" rtlCol="0" anchor="t">
              <a:spAutoFit/>
            </a:bodyPr>
            <a:lstStyle/>
            <a:p>
              <a:pPr marL="429968" lvl="1" indent="-214984" algn="l">
                <a:lnSpc>
                  <a:spcPts val="2449"/>
                </a:lnSpc>
                <a:buFont typeface="Arial"/>
                <a:buChar char="•"/>
              </a:pPr>
              <a:r>
                <a:rPr lang="en-US" sz="1991" b="1">
                  <a:solidFill>
                    <a:srgbClr val="000000"/>
                  </a:solidFill>
                  <a:latin typeface="Futura Bold"/>
                  <a:ea typeface="Futura Bold"/>
                  <a:cs typeface="Futura Bold"/>
                  <a:sym typeface="Futura Bold"/>
                </a:rPr>
                <a:t>Enforce academic policy:IFAttendance='Absent'THENScore=0</a:t>
              </a:r>
            </a:p>
            <a:p>
              <a:pPr marL="429968" lvl="1" indent="-214984" algn="l">
                <a:lnSpc>
                  <a:spcPts val="2449"/>
                </a:lnSpc>
                <a:buFont typeface="Arial"/>
                <a:buChar char="•"/>
              </a:pPr>
              <a:r>
                <a:rPr lang="en-US" sz="1991" b="1">
                  <a:solidFill>
                    <a:srgbClr val="000000"/>
                  </a:solidFill>
                  <a:latin typeface="Futura Bold"/>
                  <a:ea typeface="Futura Bold"/>
                  <a:cs typeface="Futura Bold"/>
                  <a:sym typeface="Futura Bold"/>
                </a:rPr>
                <a:t>Ensure logicalconsistency acrossvariables Validate score ranges (0-100)</a:t>
              </a:r>
            </a:p>
          </p:txBody>
        </p:sp>
      </p:grpSp>
      <p:grpSp>
        <p:nvGrpSpPr>
          <p:cNvPr id="15" name="Group 15"/>
          <p:cNvGrpSpPr/>
          <p:nvPr/>
        </p:nvGrpSpPr>
        <p:grpSpPr>
          <a:xfrm>
            <a:off x="11887188" y="7904967"/>
            <a:ext cx="6400812" cy="2192555"/>
            <a:chOff x="0" y="0"/>
            <a:chExt cx="8534416" cy="2923407"/>
          </a:xfrm>
        </p:grpSpPr>
        <p:sp>
          <p:nvSpPr>
            <p:cNvPr id="16" name="TextBox 16"/>
            <p:cNvSpPr txBox="1"/>
            <p:nvPr/>
          </p:nvSpPr>
          <p:spPr>
            <a:xfrm>
              <a:off x="0" y="-9525"/>
              <a:ext cx="8534416" cy="889129"/>
            </a:xfrm>
            <a:prstGeom prst="rect">
              <a:avLst/>
            </a:prstGeom>
          </p:spPr>
          <p:txBody>
            <a:bodyPr lIns="0" tIns="0" rIns="0" bIns="0" rtlCol="0" anchor="t">
              <a:spAutoFit/>
            </a:bodyPr>
            <a:lstStyle/>
            <a:p>
              <a:pPr algn="l">
                <a:lnSpc>
                  <a:spcPts val="5349"/>
                </a:lnSpc>
              </a:pPr>
              <a:r>
                <a:rPr lang="en-US" sz="4349">
                  <a:solidFill>
                    <a:srgbClr val="000000"/>
                  </a:solidFill>
                  <a:latin typeface="League Spartan"/>
                  <a:ea typeface="League Spartan"/>
                  <a:cs typeface="League Spartan"/>
                  <a:sym typeface="League Spartan"/>
                </a:rPr>
                <a:t>Handle Missing Data</a:t>
              </a:r>
            </a:p>
          </p:txBody>
        </p:sp>
        <p:sp>
          <p:nvSpPr>
            <p:cNvPr id="17" name="TextBox 17"/>
            <p:cNvSpPr txBox="1"/>
            <p:nvPr/>
          </p:nvSpPr>
          <p:spPr>
            <a:xfrm>
              <a:off x="782747" y="998177"/>
              <a:ext cx="7310138" cy="1925230"/>
            </a:xfrm>
            <a:prstGeom prst="rect">
              <a:avLst/>
            </a:prstGeom>
          </p:spPr>
          <p:txBody>
            <a:bodyPr lIns="0" tIns="0" rIns="0" bIns="0" rtlCol="0" anchor="t">
              <a:spAutoFit/>
            </a:bodyPr>
            <a:lstStyle/>
            <a:p>
              <a:pPr marL="489600" lvl="1" indent="-244800" algn="l">
                <a:lnSpc>
                  <a:spcPts val="2789"/>
                </a:lnSpc>
                <a:buFont typeface="Arial"/>
                <a:buChar char="•"/>
              </a:pPr>
              <a:r>
                <a:rPr lang="en-US" sz="2267" b="1">
                  <a:solidFill>
                    <a:srgbClr val="000000"/>
                  </a:solidFill>
                  <a:latin typeface="Futura Bold"/>
                  <a:ea typeface="Futura Bold"/>
                  <a:cs typeface="Futura Bold"/>
                  <a:sym typeface="Futura Bold"/>
                </a:rPr>
                <a:t> Removerows withcritical missingvalues (exceptScore) Fill missing Scores with 0 (indicates non-participation)</a:t>
              </a:r>
            </a:p>
            <a:p>
              <a:pPr marL="489600" lvl="1" indent="-244800" algn="l">
                <a:lnSpc>
                  <a:spcPts val="2789"/>
                </a:lnSpc>
                <a:buFont typeface="Arial"/>
                <a:buChar char="•"/>
              </a:pPr>
              <a:r>
                <a:rPr lang="en-US" sz="2267" b="1">
                  <a:solidFill>
                    <a:srgbClr val="000000"/>
                  </a:solidFill>
                  <a:latin typeface="Futura Bold"/>
                  <a:ea typeface="Futura Bold"/>
                  <a:cs typeface="Futura Bold"/>
                  <a:sym typeface="Futura Bold"/>
                </a:rPr>
                <a:t>Achieve 99%+ data completeness</a:t>
              </a:r>
            </a:p>
          </p:txBody>
        </p:sp>
      </p:grpSp>
      <p:grpSp>
        <p:nvGrpSpPr>
          <p:cNvPr id="18" name="Group 18"/>
          <p:cNvGrpSpPr/>
          <p:nvPr/>
        </p:nvGrpSpPr>
        <p:grpSpPr>
          <a:xfrm>
            <a:off x="0" y="0"/>
            <a:ext cx="18288000" cy="827075"/>
            <a:chOff x="0" y="0"/>
            <a:chExt cx="24384000" cy="1102766"/>
          </a:xfrm>
        </p:grpSpPr>
        <p:sp>
          <p:nvSpPr>
            <p:cNvPr id="19" name="Freeform 19"/>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20" name="Freeform 20"/>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3" name="Freeform 3"/>
          <p:cNvSpPr/>
          <p:nvPr/>
        </p:nvSpPr>
        <p:spPr>
          <a:xfrm rot="3728645">
            <a:off x="-3397469" y="7135396"/>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4">
              <a:alphaModFix amt="96000"/>
              <a:extLst>
                <a:ext uri="{96DAC541-7B7A-43D3-8B79-37D633B846F1}">
                  <asvg:svgBlip xmlns:asvg="http://schemas.microsoft.com/office/drawing/2016/SVG/main" r:embed="rId5"/>
                </a:ext>
              </a:extLst>
            </a:blip>
            <a:stretch>
              <a:fillRect/>
            </a:stretch>
          </a:blipFill>
        </p:spPr>
      </p:sp>
      <p:sp>
        <p:nvSpPr>
          <p:cNvPr id="4" name="AutoShape 4"/>
          <p:cNvSpPr/>
          <p:nvPr/>
        </p:nvSpPr>
        <p:spPr>
          <a:xfrm>
            <a:off x="-2075178" y="3477425"/>
            <a:ext cx="8416187" cy="14288"/>
          </a:xfrm>
          <a:prstGeom prst="line">
            <a:avLst/>
          </a:prstGeom>
          <a:ln w="28575" cap="rnd">
            <a:solidFill>
              <a:srgbClr val="000000"/>
            </a:solidFill>
            <a:prstDash val="solid"/>
            <a:headEnd type="none" w="sm" len="sm"/>
            <a:tailEnd type="none" w="sm" len="sm"/>
          </a:ln>
        </p:spPr>
      </p:sp>
      <p:sp>
        <p:nvSpPr>
          <p:cNvPr id="5" name="Freeform 5"/>
          <p:cNvSpPr/>
          <p:nvPr/>
        </p:nvSpPr>
        <p:spPr>
          <a:xfrm>
            <a:off x="16509347" y="3238769"/>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626013" y="9758248"/>
            <a:ext cx="1057504" cy="1057504"/>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4A16"/>
            </a:solidFill>
          </p:spPr>
        </p:sp>
      </p:grpSp>
      <p:sp>
        <p:nvSpPr>
          <p:cNvPr id="8" name="TextBox 8"/>
          <p:cNvSpPr txBox="1"/>
          <p:nvPr/>
        </p:nvSpPr>
        <p:spPr>
          <a:xfrm>
            <a:off x="213306" y="1184683"/>
            <a:ext cx="18074694" cy="2211359"/>
          </a:xfrm>
          <a:prstGeom prst="rect">
            <a:avLst/>
          </a:prstGeom>
        </p:spPr>
        <p:txBody>
          <a:bodyPr lIns="0" tIns="0" rIns="0" bIns="0" rtlCol="0" anchor="t">
            <a:spAutoFit/>
          </a:bodyPr>
          <a:lstStyle/>
          <a:p>
            <a:pPr algn="l">
              <a:lnSpc>
                <a:spcPts val="8721"/>
              </a:lnSpc>
            </a:pPr>
            <a:r>
              <a:rPr lang="en-US" sz="7090">
                <a:solidFill>
                  <a:srgbClr val="000000"/>
                </a:solidFill>
                <a:latin typeface="League Spartan"/>
                <a:ea typeface="League Spartan"/>
                <a:cs typeface="League Spartan"/>
                <a:sym typeface="League Spartan"/>
              </a:rPr>
              <a:t>Phase I:</a:t>
            </a:r>
          </a:p>
          <a:p>
            <a:pPr algn="l">
              <a:lnSpc>
                <a:spcPts val="8721"/>
              </a:lnSpc>
            </a:pPr>
            <a:r>
              <a:rPr lang="en-US" sz="7090">
                <a:solidFill>
                  <a:srgbClr val="000000"/>
                </a:solidFill>
                <a:latin typeface="League Spartan"/>
                <a:ea typeface="League Spartan"/>
                <a:cs typeface="League Spartan"/>
                <a:sym typeface="League Spartan"/>
              </a:rPr>
              <a:t>Data Preprocessing (ETL)</a:t>
            </a:r>
          </a:p>
        </p:txBody>
      </p:sp>
      <p:sp>
        <p:nvSpPr>
          <p:cNvPr id="9" name="TextBox 9"/>
          <p:cNvSpPr txBox="1"/>
          <p:nvPr/>
        </p:nvSpPr>
        <p:spPr>
          <a:xfrm>
            <a:off x="5322018" y="6018476"/>
            <a:ext cx="6737035" cy="1345503"/>
          </a:xfrm>
          <a:prstGeom prst="rect">
            <a:avLst/>
          </a:prstGeom>
        </p:spPr>
        <p:txBody>
          <a:bodyPr lIns="0" tIns="0" rIns="0" bIns="0" rtlCol="0" anchor="t">
            <a:spAutoFit/>
          </a:bodyPr>
          <a:lstStyle/>
          <a:p>
            <a:pPr algn="l">
              <a:lnSpc>
                <a:spcPts val="5349"/>
              </a:lnSpc>
            </a:pPr>
            <a:r>
              <a:rPr lang="en-US" sz="4349">
                <a:solidFill>
                  <a:srgbClr val="000000"/>
                </a:solidFill>
                <a:latin typeface="League Spartan"/>
                <a:ea typeface="League Spartan"/>
                <a:cs typeface="League Spartan"/>
                <a:sym typeface="League Spartan"/>
              </a:rPr>
              <a:t>DataType</a:t>
            </a:r>
          </a:p>
          <a:p>
            <a:pPr algn="l">
              <a:lnSpc>
                <a:spcPts val="5349"/>
              </a:lnSpc>
            </a:pPr>
            <a:r>
              <a:rPr lang="en-US" sz="4349">
                <a:solidFill>
                  <a:srgbClr val="000000"/>
                </a:solidFill>
                <a:latin typeface="League Spartan"/>
                <a:ea typeface="League Spartan"/>
                <a:cs typeface="League Spartan"/>
                <a:sym typeface="League Spartan"/>
              </a:rPr>
              <a:t>Standardization</a:t>
            </a:r>
          </a:p>
        </p:txBody>
      </p:sp>
      <p:sp>
        <p:nvSpPr>
          <p:cNvPr id="10" name="TextBox 10"/>
          <p:cNvSpPr txBox="1"/>
          <p:nvPr/>
        </p:nvSpPr>
        <p:spPr>
          <a:xfrm>
            <a:off x="213306" y="3772700"/>
            <a:ext cx="4382056" cy="669228"/>
          </a:xfrm>
          <a:prstGeom prst="rect">
            <a:avLst/>
          </a:prstGeom>
        </p:spPr>
        <p:txBody>
          <a:bodyPr lIns="0" tIns="0" rIns="0" bIns="0" rtlCol="0" anchor="t">
            <a:spAutoFit/>
          </a:bodyPr>
          <a:lstStyle/>
          <a:p>
            <a:pPr algn="l">
              <a:lnSpc>
                <a:spcPts val="5349"/>
              </a:lnSpc>
            </a:pPr>
            <a:r>
              <a:rPr lang="en-US" sz="4349">
                <a:solidFill>
                  <a:srgbClr val="000000"/>
                </a:solidFill>
                <a:latin typeface="League Spartan"/>
                <a:ea typeface="League Spartan"/>
                <a:cs typeface="League Spartan"/>
                <a:sym typeface="League Spartan"/>
              </a:rPr>
              <a:t>De-duplication</a:t>
            </a:r>
          </a:p>
        </p:txBody>
      </p:sp>
      <p:sp>
        <p:nvSpPr>
          <p:cNvPr id="11" name="TextBox 11"/>
          <p:cNvSpPr txBox="1"/>
          <p:nvPr/>
        </p:nvSpPr>
        <p:spPr>
          <a:xfrm>
            <a:off x="12622394" y="6924689"/>
            <a:ext cx="5417430" cy="1112661"/>
          </a:xfrm>
          <a:prstGeom prst="rect">
            <a:avLst/>
          </a:prstGeom>
        </p:spPr>
        <p:txBody>
          <a:bodyPr lIns="0" tIns="0" rIns="0" bIns="0" rtlCol="0" anchor="t">
            <a:spAutoFit/>
          </a:bodyPr>
          <a:lstStyle/>
          <a:p>
            <a:pPr algn="l">
              <a:lnSpc>
                <a:spcPts val="4417"/>
              </a:lnSpc>
            </a:pPr>
            <a:r>
              <a:rPr lang="en-US" sz="3591">
                <a:solidFill>
                  <a:srgbClr val="000000"/>
                </a:solidFill>
                <a:latin typeface="League Spartan"/>
                <a:ea typeface="League Spartan"/>
                <a:cs typeface="League Spartan"/>
                <a:sym typeface="League Spartan"/>
              </a:rPr>
              <a:t>Assign</a:t>
            </a:r>
          </a:p>
          <a:p>
            <a:pPr algn="l">
              <a:lnSpc>
                <a:spcPts val="4417"/>
              </a:lnSpc>
            </a:pPr>
            <a:r>
              <a:rPr lang="en-US" sz="3591">
                <a:solidFill>
                  <a:srgbClr val="000000"/>
                </a:solidFill>
                <a:latin typeface="League Spartan"/>
                <a:ea typeface="League Spartan"/>
                <a:cs typeface="League Spartan"/>
                <a:sym typeface="League Spartan"/>
              </a:rPr>
              <a:t>Performance Grades</a:t>
            </a:r>
          </a:p>
        </p:txBody>
      </p:sp>
      <p:sp>
        <p:nvSpPr>
          <p:cNvPr id="12" name="TextBox 12"/>
          <p:cNvSpPr txBox="1"/>
          <p:nvPr/>
        </p:nvSpPr>
        <p:spPr>
          <a:xfrm>
            <a:off x="5181127" y="7447682"/>
            <a:ext cx="7018818" cy="888229"/>
          </a:xfrm>
          <a:prstGeom prst="rect">
            <a:avLst/>
          </a:prstGeom>
        </p:spPr>
        <p:txBody>
          <a:bodyPr lIns="0" tIns="0" rIns="0" bIns="0" rtlCol="0" anchor="t">
            <a:spAutoFit/>
          </a:bodyPr>
          <a:lstStyle/>
          <a:p>
            <a:pPr marL="403520" lvl="1" indent="-201760" algn="l">
              <a:lnSpc>
                <a:spcPts val="2298"/>
              </a:lnSpc>
              <a:buFont typeface="Arial"/>
              <a:buChar char="•"/>
            </a:pPr>
            <a:r>
              <a:rPr lang="en-US" sz="1869" b="1">
                <a:solidFill>
                  <a:srgbClr val="000000"/>
                </a:solidFill>
                <a:latin typeface="Futura Bold"/>
                <a:ea typeface="Futura Bold"/>
                <a:cs typeface="Futura Bold"/>
                <a:sym typeface="Futura Bold"/>
              </a:rPr>
              <a:t>Convertdates todatetime formatfor time-seriescompatibility</a:t>
            </a:r>
          </a:p>
          <a:p>
            <a:pPr marL="403520" lvl="1" indent="-201760" algn="l">
              <a:lnSpc>
                <a:spcPts val="2298"/>
              </a:lnSpc>
              <a:buFont typeface="Arial"/>
              <a:buChar char="•"/>
            </a:pPr>
            <a:r>
              <a:rPr lang="en-US" sz="1869" b="1">
                <a:solidFill>
                  <a:srgbClr val="000000"/>
                </a:solidFill>
                <a:latin typeface="Futura Bold"/>
                <a:ea typeface="Futura Bold"/>
                <a:cs typeface="Futura Bold"/>
                <a:sym typeface="Futura Bold"/>
              </a:rPr>
              <a:t> Standardize numeric fields (ensure integer/float types)</a:t>
            </a:r>
          </a:p>
          <a:p>
            <a:pPr marL="403520" lvl="1" indent="-201760" algn="l">
              <a:lnSpc>
                <a:spcPts val="2298"/>
              </a:lnSpc>
              <a:buFont typeface="Arial"/>
              <a:buChar char="•"/>
            </a:pPr>
            <a:r>
              <a:rPr lang="en-US" sz="1869" b="1">
                <a:solidFill>
                  <a:srgbClr val="000000"/>
                </a:solidFill>
                <a:latin typeface="Futura Bold"/>
                <a:ea typeface="Futura Bold"/>
                <a:cs typeface="Futura Bold"/>
                <a:sym typeface="Futura Bold"/>
              </a:rPr>
              <a:t>Normalize text fields (lowercase, strip whitespace)</a:t>
            </a:r>
          </a:p>
        </p:txBody>
      </p:sp>
      <p:sp>
        <p:nvSpPr>
          <p:cNvPr id="13" name="TextBox 13"/>
          <p:cNvSpPr txBox="1"/>
          <p:nvPr/>
        </p:nvSpPr>
        <p:spPr>
          <a:xfrm>
            <a:off x="0" y="4667594"/>
            <a:ext cx="7488649" cy="900969"/>
          </a:xfrm>
          <a:prstGeom prst="rect">
            <a:avLst/>
          </a:prstGeom>
        </p:spPr>
        <p:txBody>
          <a:bodyPr lIns="0" tIns="0" rIns="0" bIns="0" rtlCol="0" anchor="t">
            <a:spAutoFit/>
          </a:bodyPr>
          <a:lstStyle/>
          <a:p>
            <a:pPr marL="405261" lvl="1" indent="-202630" algn="l">
              <a:lnSpc>
                <a:spcPts val="2308"/>
              </a:lnSpc>
              <a:buFont typeface="Arial"/>
              <a:buChar char="•"/>
            </a:pPr>
            <a:r>
              <a:rPr lang="en-US" sz="1877" b="1">
                <a:solidFill>
                  <a:srgbClr val="000000"/>
                </a:solidFill>
                <a:latin typeface="Futura Bold"/>
                <a:ea typeface="Futura Bold"/>
                <a:cs typeface="Futura Bold"/>
                <a:sym typeface="Futura Bold"/>
              </a:rPr>
              <a:t> Identifyduplicate recordsbased on:StudentID +Level +Subject </a:t>
            </a:r>
          </a:p>
          <a:p>
            <a:pPr marL="405261" lvl="1" indent="-202630" algn="l">
              <a:lnSpc>
                <a:spcPts val="2308"/>
              </a:lnSpc>
              <a:buFont typeface="Arial"/>
              <a:buChar char="•"/>
            </a:pPr>
            <a:r>
              <a:rPr lang="en-US" sz="1877" b="1">
                <a:solidFill>
                  <a:srgbClr val="000000"/>
                </a:solidFill>
                <a:latin typeface="Futura Bold"/>
                <a:ea typeface="Futura Bold"/>
                <a:cs typeface="Futura Bold"/>
                <a:sym typeface="Futura Bold"/>
              </a:rPr>
              <a:t>Remove 100+ duplicate entries</a:t>
            </a:r>
          </a:p>
          <a:p>
            <a:pPr marL="405261" lvl="1" indent="-202630" algn="l">
              <a:lnSpc>
                <a:spcPts val="2308"/>
              </a:lnSpc>
              <a:buFont typeface="Arial"/>
              <a:buChar char="•"/>
            </a:pPr>
            <a:r>
              <a:rPr lang="en-US" sz="1877" b="1">
                <a:solidFill>
                  <a:srgbClr val="000000"/>
                </a:solidFill>
                <a:latin typeface="Futura Bold"/>
                <a:ea typeface="Futura Bold"/>
                <a:cs typeface="Futura Bold"/>
                <a:sym typeface="Futura Bold"/>
              </a:rPr>
              <a:t>Preserve first occurrence, drop subsequent duplicates</a:t>
            </a:r>
          </a:p>
        </p:txBody>
      </p:sp>
      <p:sp>
        <p:nvSpPr>
          <p:cNvPr id="14" name="TextBox 14"/>
          <p:cNvSpPr txBox="1"/>
          <p:nvPr/>
        </p:nvSpPr>
        <p:spPr>
          <a:xfrm>
            <a:off x="12622394" y="8003248"/>
            <a:ext cx="4321525" cy="1755000"/>
          </a:xfrm>
          <a:prstGeom prst="rect">
            <a:avLst/>
          </a:prstGeom>
        </p:spPr>
        <p:txBody>
          <a:bodyPr lIns="0" tIns="0" rIns="0" bIns="0" rtlCol="0" anchor="t">
            <a:spAutoFit/>
          </a:bodyPr>
          <a:lstStyle/>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Implementgrading algorithm:</a:t>
            </a:r>
          </a:p>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A: 89-100 (Excellent)</a:t>
            </a:r>
          </a:p>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B: 76-88 (Good)</a:t>
            </a:r>
          </a:p>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C: 67-75 (Satisfactory)</a:t>
            </a:r>
          </a:p>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D: 60-66 (Passing)</a:t>
            </a:r>
          </a:p>
          <a:p>
            <a:pPr marL="403732" lvl="1" indent="-201866" algn="l">
              <a:lnSpc>
                <a:spcPts val="2300"/>
              </a:lnSpc>
              <a:buFont typeface="Arial"/>
              <a:buChar char="•"/>
            </a:pPr>
            <a:r>
              <a:rPr lang="en-US" sz="1869" b="1">
                <a:solidFill>
                  <a:srgbClr val="000000"/>
                </a:solidFill>
                <a:latin typeface="Futura Bold"/>
                <a:ea typeface="Futura Bold"/>
                <a:cs typeface="Futura Bold"/>
                <a:sym typeface="Futura Bold"/>
              </a:rPr>
              <a:t>F: &lt;60 (Failing)</a:t>
            </a:r>
          </a:p>
        </p:txBody>
      </p:sp>
      <p:grpSp>
        <p:nvGrpSpPr>
          <p:cNvPr id="15" name="Group 15"/>
          <p:cNvGrpSpPr/>
          <p:nvPr/>
        </p:nvGrpSpPr>
        <p:grpSpPr>
          <a:xfrm>
            <a:off x="0" y="0"/>
            <a:ext cx="18288000" cy="827075"/>
            <a:chOff x="0" y="0"/>
            <a:chExt cx="24384000" cy="1102766"/>
          </a:xfrm>
        </p:grpSpPr>
        <p:sp>
          <p:nvSpPr>
            <p:cNvPr id="16" name="Freeform 16"/>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7" name="Freeform 17"/>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7159567">
            <a:off x="13952014" y="-3836383"/>
            <a:ext cx="8175621" cy="8175621"/>
          </a:xfrm>
          <a:custGeom>
            <a:avLst/>
            <a:gdLst/>
            <a:ahLst/>
            <a:cxnLst/>
            <a:rect l="l" t="t" r="r" b="b"/>
            <a:pathLst>
              <a:path w="8175621" h="8175621">
                <a:moveTo>
                  <a:pt x="0" y="0"/>
                </a:moveTo>
                <a:lnTo>
                  <a:pt x="8175621" y="0"/>
                </a:lnTo>
                <a:lnTo>
                  <a:pt x="8175621" y="8175622"/>
                </a:lnTo>
                <a:lnTo>
                  <a:pt x="0" y="8175622"/>
                </a:lnTo>
                <a:lnTo>
                  <a:pt x="0" y="0"/>
                </a:lnTo>
                <a:close/>
              </a:path>
            </a:pathLst>
          </a:custGeom>
          <a:blipFill>
            <a:blip r:embed="rId2">
              <a:alphaModFix amt="87000"/>
              <a:extLst>
                <a:ext uri="{96DAC541-7B7A-43D3-8B79-37D633B846F1}">
                  <asvg:svgBlip xmlns:asvg="http://schemas.microsoft.com/office/drawing/2016/SVG/main" r:embed="rId3"/>
                </a:ext>
              </a:extLst>
            </a:blip>
            <a:stretch>
              <a:fillRect/>
            </a:stretch>
          </a:blipFill>
        </p:spPr>
      </p:sp>
      <p:sp>
        <p:nvSpPr>
          <p:cNvPr id="3" name="Freeform 3"/>
          <p:cNvSpPr/>
          <p:nvPr/>
        </p:nvSpPr>
        <p:spPr>
          <a:xfrm rot="3728645">
            <a:off x="-3397469" y="7135396"/>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4">
              <a:alphaModFix amt="96000"/>
              <a:extLst>
                <a:ext uri="{96DAC541-7B7A-43D3-8B79-37D633B846F1}">
                  <asvg:svgBlip xmlns:asvg="http://schemas.microsoft.com/office/drawing/2016/SVG/main" r:embed="rId5"/>
                </a:ext>
              </a:extLst>
            </a:blip>
            <a:stretch>
              <a:fillRect/>
            </a:stretch>
          </a:blipFill>
        </p:spPr>
      </p:sp>
      <p:sp>
        <p:nvSpPr>
          <p:cNvPr id="4" name="AutoShape 4"/>
          <p:cNvSpPr/>
          <p:nvPr/>
        </p:nvSpPr>
        <p:spPr>
          <a:xfrm>
            <a:off x="-2098502" y="3535647"/>
            <a:ext cx="8416187" cy="14288"/>
          </a:xfrm>
          <a:prstGeom prst="line">
            <a:avLst/>
          </a:prstGeom>
          <a:ln w="28575" cap="rnd">
            <a:solidFill>
              <a:srgbClr val="000000"/>
            </a:solidFill>
            <a:prstDash val="solid"/>
            <a:headEnd type="none" w="sm" len="sm"/>
            <a:tailEnd type="none" w="sm" len="sm"/>
          </a:ln>
        </p:spPr>
      </p:sp>
      <p:sp>
        <p:nvSpPr>
          <p:cNvPr id="5" name="Freeform 5"/>
          <p:cNvSpPr/>
          <p:nvPr/>
        </p:nvSpPr>
        <p:spPr>
          <a:xfrm>
            <a:off x="16509347" y="3238769"/>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791419" y="6943227"/>
            <a:ext cx="1057504" cy="1057504"/>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14A16"/>
            </a:solidFill>
          </p:spPr>
        </p:sp>
      </p:grpSp>
      <p:sp>
        <p:nvSpPr>
          <p:cNvPr id="9" name="TextBox 9"/>
          <p:cNvSpPr txBox="1"/>
          <p:nvPr/>
        </p:nvSpPr>
        <p:spPr>
          <a:xfrm>
            <a:off x="213306" y="1000125"/>
            <a:ext cx="18074694" cy="1106459"/>
          </a:xfrm>
          <a:prstGeom prst="rect">
            <a:avLst/>
          </a:prstGeom>
        </p:spPr>
        <p:txBody>
          <a:bodyPr lIns="0" tIns="0" rIns="0" bIns="0" rtlCol="0" anchor="t">
            <a:spAutoFit/>
          </a:bodyPr>
          <a:lstStyle/>
          <a:p>
            <a:pPr algn="l">
              <a:lnSpc>
                <a:spcPts val="8721"/>
              </a:lnSpc>
            </a:pPr>
            <a:r>
              <a:rPr lang="en-US" sz="7090">
                <a:solidFill>
                  <a:srgbClr val="000000"/>
                </a:solidFill>
                <a:latin typeface="League Spartan"/>
                <a:ea typeface="League Spartan"/>
                <a:cs typeface="League Spartan"/>
                <a:sym typeface="League Spartan"/>
              </a:rPr>
              <a:t>Export Clean Data</a:t>
            </a:r>
          </a:p>
        </p:txBody>
      </p:sp>
      <p:sp>
        <p:nvSpPr>
          <p:cNvPr id="10" name="TextBox 10"/>
          <p:cNvSpPr txBox="1"/>
          <p:nvPr/>
        </p:nvSpPr>
        <p:spPr>
          <a:xfrm>
            <a:off x="854766" y="4450288"/>
            <a:ext cx="4974720" cy="554251"/>
          </a:xfrm>
          <a:prstGeom prst="rect">
            <a:avLst/>
          </a:prstGeom>
        </p:spPr>
        <p:txBody>
          <a:bodyPr lIns="0" tIns="0" rIns="0" bIns="0" rtlCol="0" anchor="t">
            <a:spAutoFit/>
          </a:bodyPr>
          <a:lstStyle/>
          <a:p>
            <a:pPr algn="l">
              <a:lnSpc>
                <a:spcPts val="4417"/>
              </a:lnSpc>
            </a:pPr>
            <a:r>
              <a:rPr lang="en-US" sz="3591" dirty="0">
                <a:solidFill>
                  <a:srgbClr val="000000"/>
                </a:solidFill>
                <a:latin typeface="League Spartan"/>
                <a:ea typeface="League Spartan"/>
                <a:cs typeface="League Spartan"/>
                <a:sym typeface="League Spartan"/>
              </a:rPr>
              <a:t>Results:</a:t>
            </a:r>
          </a:p>
        </p:txBody>
      </p:sp>
      <p:sp>
        <p:nvSpPr>
          <p:cNvPr id="11" name="TextBox 11"/>
          <p:cNvSpPr txBox="1"/>
          <p:nvPr/>
        </p:nvSpPr>
        <p:spPr>
          <a:xfrm>
            <a:off x="-245865" y="2323114"/>
            <a:ext cx="14503537" cy="988695"/>
          </a:xfrm>
          <a:prstGeom prst="rect">
            <a:avLst/>
          </a:prstGeom>
        </p:spPr>
        <p:txBody>
          <a:bodyPr lIns="0" tIns="0" rIns="0" bIns="0" rtlCol="0" anchor="t">
            <a:spAutoFit/>
          </a:bodyPr>
          <a:lstStyle/>
          <a:p>
            <a:pPr marL="647700" lvl="1" indent="-323850" algn="l">
              <a:lnSpc>
                <a:spcPts val="3690"/>
              </a:lnSpc>
              <a:buFont typeface="Arial"/>
              <a:buChar char="•"/>
            </a:pPr>
            <a:r>
              <a:rPr lang="en-US" sz="3000">
                <a:solidFill>
                  <a:srgbClr val="000000"/>
                </a:solidFill>
                <a:latin typeface="Futura"/>
                <a:ea typeface="Futura"/>
                <a:cs typeface="Futura"/>
                <a:sym typeface="Futura"/>
              </a:rPr>
              <a:t>Saveprocessed dataas CSVfor databaseimport Maintain audit trail of changes</a:t>
            </a:r>
          </a:p>
          <a:p>
            <a:pPr marL="647700" lvl="1" indent="-323850" algn="l">
              <a:lnSpc>
                <a:spcPts val="3690"/>
              </a:lnSpc>
              <a:buFont typeface="Arial"/>
              <a:buChar char="•"/>
            </a:pPr>
            <a:r>
              <a:rPr lang="en-US" sz="3000">
                <a:solidFill>
                  <a:srgbClr val="000000"/>
                </a:solidFill>
                <a:latin typeface="Futura"/>
                <a:ea typeface="Futura"/>
                <a:cs typeface="Futura"/>
                <a:sym typeface="Futura"/>
              </a:rPr>
              <a:t>Document data quality metrics</a:t>
            </a:r>
          </a:p>
        </p:txBody>
      </p:sp>
      <p:grpSp>
        <p:nvGrpSpPr>
          <p:cNvPr id="12" name="Group 12"/>
          <p:cNvGrpSpPr/>
          <p:nvPr/>
        </p:nvGrpSpPr>
        <p:grpSpPr>
          <a:xfrm>
            <a:off x="28575" y="9459925"/>
            <a:ext cx="18288000" cy="827075"/>
            <a:chOff x="0" y="0"/>
            <a:chExt cx="24384000" cy="1102766"/>
          </a:xfrm>
        </p:grpSpPr>
        <p:sp>
          <p:nvSpPr>
            <p:cNvPr id="13" name="Freeform 13"/>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4" name="Freeform 14"/>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graphicFrame>
        <p:nvGraphicFramePr>
          <p:cNvPr id="15" name="Table 14">
            <a:extLst>
              <a:ext uri="{FF2B5EF4-FFF2-40B4-BE49-F238E27FC236}">
                <a16:creationId xmlns:a16="http://schemas.microsoft.com/office/drawing/2014/main" id="{26B6DD9B-AE06-68A4-3C4E-8316307871FD}"/>
              </a:ext>
            </a:extLst>
          </p:cNvPr>
          <p:cNvGraphicFramePr>
            <a:graphicFrameLocks noGrp="1"/>
          </p:cNvGraphicFramePr>
          <p:nvPr>
            <p:extLst>
              <p:ext uri="{D42A27DB-BD31-4B8C-83A1-F6EECF244321}">
                <p14:modId xmlns:p14="http://schemas.microsoft.com/office/powerpoint/2010/main" val="3130609159"/>
              </p:ext>
            </p:extLst>
          </p:nvPr>
        </p:nvGraphicFramePr>
        <p:xfrm>
          <a:off x="2968331" y="4975029"/>
          <a:ext cx="12351339" cy="4349946"/>
        </p:xfrm>
        <a:graphic>
          <a:graphicData uri="http://schemas.openxmlformats.org/drawingml/2006/table">
            <a:tbl>
              <a:tblPr/>
              <a:tblGrid>
                <a:gridCol w="4117113">
                  <a:extLst>
                    <a:ext uri="{9D8B030D-6E8A-4147-A177-3AD203B41FA5}">
                      <a16:colId xmlns:a16="http://schemas.microsoft.com/office/drawing/2014/main" val="2919998554"/>
                    </a:ext>
                  </a:extLst>
                </a:gridCol>
                <a:gridCol w="4117113">
                  <a:extLst>
                    <a:ext uri="{9D8B030D-6E8A-4147-A177-3AD203B41FA5}">
                      <a16:colId xmlns:a16="http://schemas.microsoft.com/office/drawing/2014/main" val="1038693229"/>
                    </a:ext>
                  </a:extLst>
                </a:gridCol>
                <a:gridCol w="4117113">
                  <a:extLst>
                    <a:ext uri="{9D8B030D-6E8A-4147-A177-3AD203B41FA5}">
                      <a16:colId xmlns:a16="http://schemas.microsoft.com/office/drawing/2014/main" val="3236749170"/>
                    </a:ext>
                  </a:extLst>
                </a:gridCol>
              </a:tblGrid>
              <a:tr h="698028">
                <a:tc>
                  <a:txBody>
                    <a:bodyPr/>
                    <a:lstStyle/>
                    <a:p>
                      <a:pPr>
                        <a:buNone/>
                      </a:pPr>
                      <a:r>
                        <a:rPr lang="en-US" b="1">
                          <a:solidFill>
                            <a:srgbClr val="FFFFFF"/>
                          </a:solidFill>
                          <a:effectLst/>
                        </a:rPr>
                        <a:t>Metric</a:t>
                      </a:r>
                    </a:p>
                  </a:txBody>
                  <a:tcPr anchor="ctr">
                    <a:lnL w="38100" cap="flat" cmpd="sng" algn="ctr">
                      <a:solidFill>
                        <a:srgbClr val="F14A16"/>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dirty="0">
                          <a:solidFill>
                            <a:srgbClr val="FFFFFF"/>
                          </a:solidFill>
                          <a:effectLst/>
                        </a:rPr>
                        <a:t>Value</a:t>
                      </a:r>
                    </a:p>
                  </a:txBody>
                  <a:tcPr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Change</a:t>
                      </a:r>
                    </a:p>
                  </a:txBody>
                  <a:tcPr anchor="ctr">
                    <a:lnL w="38100" cap="flat" cmpd="sng" algn="ctr">
                      <a:solidFill>
                        <a:srgbClr val="FFFFFF"/>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759073797"/>
                  </a:ext>
                </a:extLst>
              </a:tr>
              <a:tr h="698028">
                <a:tc>
                  <a:txBody>
                    <a:bodyPr/>
                    <a:lstStyle/>
                    <a:p>
                      <a:pPr>
                        <a:buNone/>
                      </a:pPr>
                      <a:r>
                        <a:rPr lang="en-US" b="1">
                          <a:effectLst/>
                        </a:rPr>
                        <a:t>Initial Records</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40,000+</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Baseline</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510068114"/>
                  </a:ext>
                </a:extLst>
              </a:tr>
              <a:tr h="751954">
                <a:tc>
                  <a:txBody>
                    <a:bodyPr/>
                    <a:lstStyle/>
                    <a:p>
                      <a:pPr>
                        <a:buNone/>
                      </a:pPr>
                      <a:r>
                        <a:rPr lang="en-US" b="1">
                          <a:effectLst/>
                        </a:rPr>
                        <a:t>Records After Cleaning</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36,500+</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-3,500 removed</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1516352795"/>
                  </a:ext>
                </a:extLst>
              </a:tr>
              <a:tr h="751954">
                <a:tc>
                  <a:txBody>
                    <a:bodyPr/>
                    <a:lstStyle/>
                    <a:p>
                      <a:pPr>
                        <a:buNone/>
                      </a:pPr>
                      <a:r>
                        <a:rPr lang="en-US" b="1">
                          <a:effectLst/>
                        </a:rPr>
                        <a:t>Data Completeness</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99.80%</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+95% improvement</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505378551"/>
                  </a:ext>
                </a:extLst>
              </a:tr>
              <a:tr h="751954">
                <a:tc>
                  <a:txBody>
                    <a:bodyPr/>
                    <a:lstStyle/>
                    <a:p>
                      <a:pPr>
                        <a:buNone/>
                      </a:pPr>
                      <a:r>
                        <a:rPr lang="en-US" b="1">
                          <a:effectLst/>
                        </a:rPr>
                        <a:t>Duplicates Eliminated</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100+</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0% remaining</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456946308"/>
                  </a:ext>
                </a:extLst>
              </a:tr>
              <a:tr h="698028">
                <a:tc>
                  <a:txBody>
                    <a:bodyPr/>
                    <a:lstStyle/>
                    <a:p>
                      <a:pPr>
                        <a:buNone/>
                      </a:pPr>
                      <a:r>
                        <a:rPr lang="en-US" b="1">
                          <a:effectLst/>
                        </a:rPr>
                        <a:t>Data Quality Score</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a:effectLst/>
                        </a:rPr>
                        <a:t>99.80%</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tc>
                  <a:txBody>
                    <a:bodyPr/>
                    <a:lstStyle/>
                    <a:p>
                      <a:pPr>
                        <a:buNone/>
                      </a:pPr>
                      <a:r>
                        <a:rPr lang="en-US" b="1" dirty="0">
                          <a:effectLst/>
                        </a:rPr>
                        <a:t>Excellent</a:t>
                      </a:r>
                    </a:p>
                  </a:txBody>
                  <a:tcPr anchor="ctr">
                    <a:lnL w="38100" cap="flat" cmpd="sng" algn="ctr">
                      <a:solidFill>
                        <a:srgbClr val="F14A16"/>
                      </a:solidFill>
                      <a:prstDash val="solid"/>
                      <a:round/>
                      <a:headEnd type="none" w="med" len="med"/>
                      <a:tailEnd type="none" w="med" len="med"/>
                    </a:lnL>
                    <a:lnR w="38100" cap="flat" cmpd="sng" algn="ctr">
                      <a:solidFill>
                        <a:srgbClr val="F14A16"/>
                      </a:solidFill>
                      <a:prstDash val="solid"/>
                      <a:round/>
                      <a:headEnd type="none" w="med" len="med"/>
                      <a:tailEnd type="none" w="med" len="med"/>
                    </a:lnR>
                    <a:lnT w="38100" cap="flat" cmpd="sng" algn="ctr">
                      <a:solidFill>
                        <a:srgbClr val="F14A16"/>
                      </a:solidFill>
                      <a:prstDash val="solid"/>
                      <a:round/>
                      <a:headEnd type="none" w="med" len="med"/>
                      <a:tailEnd type="none" w="med" len="med"/>
                    </a:lnT>
                    <a:lnB w="3810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4228375675"/>
                  </a:ext>
                </a:extLst>
              </a:tr>
            </a:tbl>
          </a:graphicData>
        </a:graphic>
      </p:graphicFrame>
      <p:sp>
        <p:nvSpPr>
          <p:cNvPr id="16" name="Rectangle 1">
            <a:extLst>
              <a:ext uri="{FF2B5EF4-FFF2-40B4-BE49-F238E27FC236}">
                <a16:creationId xmlns:a16="http://schemas.microsoft.com/office/drawing/2014/main" id="{D1F9FEB6-0678-AA9F-9C1F-F644A8510338}"/>
              </a:ext>
            </a:extLst>
          </p:cNvPr>
          <p:cNvSpPr>
            <a:spLocks noChangeArrowheads="1"/>
          </p:cNvSpPr>
          <p:nvPr/>
        </p:nvSpPr>
        <p:spPr bwMode="auto">
          <a:xfrm flipV="1">
            <a:off x="2167467" y="5424540"/>
            <a:ext cx="2744741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622825" y="5584017"/>
            <a:ext cx="6108446" cy="1470062"/>
          </a:xfrm>
          <a:prstGeom prst="rect">
            <a:avLst/>
          </a:prstGeom>
        </p:spPr>
      </p:pic>
      <p:sp>
        <p:nvSpPr>
          <p:cNvPr id="3" name="Freeform 3"/>
          <p:cNvSpPr/>
          <p:nvPr/>
        </p:nvSpPr>
        <p:spPr>
          <a:xfrm rot="3728645">
            <a:off x="14704900" y="7426443"/>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3">
              <a:alphaModFix amt="96000"/>
              <a:extLst>
                <a:ext uri="{96DAC541-7B7A-43D3-8B79-37D633B846F1}">
                  <asvg:svgBlip xmlns:asvg="http://schemas.microsoft.com/office/drawing/2016/SVG/main" r:embed="rId4"/>
                </a:ext>
              </a:extLst>
            </a:blip>
            <a:stretch>
              <a:fillRect/>
            </a:stretch>
          </a:blipFill>
        </p:spPr>
      </p:sp>
      <p:sp>
        <p:nvSpPr>
          <p:cNvPr id="4" name="AutoShape 4"/>
          <p:cNvSpPr/>
          <p:nvPr/>
        </p:nvSpPr>
        <p:spPr>
          <a:xfrm>
            <a:off x="4849130" y="3042704"/>
            <a:ext cx="8453842" cy="0"/>
          </a:xfrm>
          <a:prstGeom prst="line">
            <a:avLst/>
          </a:prstGeom>
          <a:ln w="28575" cap="rnd">
            <a:solidFill>
              <a:srgbClr val="000000"/>
            </a:solidFill>
            <a:prstDash val="solid"/>
            <a:headEnd type="none" w="sm" len="sm"/>
            <a:tailEnd type="none" w="sm" len="sm"/>
          </a:ln>
        </p:spPr>
      </p:sp>
      <p:sp>
        <p:nvSpPr>
          <p:cNvPr id="5" name="Freeform 5"/>
          <p:cNvSpPr/>
          <p:nvPr/>
        </p:nvSpPr>
        <p:spPr>
          <a:xfrm>
            <a:off x="550816" y="500344"/>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p:nvPr/>
        </p:nvGrpSpPr>
        <p:grpSpPr>
          <a:xfrm>
            <a:off x="0" y="9459925"/>
            <a:ext cx="18288000" cy="827075"/>
            <a:chOff x="0" y="0"/>
            <a:chExt cx="24384000" cy="1102766"/>
          </a:xfrm>
        </p:grpSpPr>
        <p:sp>
          <p:nvSpPr>
            <p:cNvPr id="7" name="Freeform 7"/>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7"/>
              <a:stretch>
                <a:fillRect/>
              </a:stretch>
            </a:blipFill>
            <a:ln cap="sq">
              <a:noFill/>
              <a:prstDash val="solid"/>
              <a:miter/>
            </a:ln>
          </p:spPr>
        </p:sp>
        <p:sp>
          <p:nvSpPr>
            <p:cNvPr id="8" name="Freeform 8"/>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8"/>
              <a:stretch>
                <a:fillRect/>
              </a:stretch>
            </a:blipFill>
            <a:ln cap="sq">
              <a:noFill/>
              <a:prstDash val="solid"/>
              <a:miter/>
            </a:ln>
          </p:spPr>
        </p:sp>
      </p:grpSp>
      <p:sp>
        <p:nvSpPr>
          <p:cNvPr id="9" name="TextBox 9"/>
          <p:cNvSpPr txBox="1"/>
          <p:nvPr/>
        </p:nvSpPr>
        <p:spPr>
          <a:xfrm>
            <a:off x="2452119" y="1750497"/>
            <a:ext cx="13383762" cy="973877"/>
          </a:xfrm>
          <a:prstGeom prst="rect">
            <a:avLst/>
          </a:prstGeom>
        </p:spPr>
        <p:txBody>
          <a:bodyPr lIns="0" tIns="0" rIns="0" bIns="0" rtlCol="0" anchor="t">
            <a:spAutoFit/>
          </a:bodyPr>
          <a:lstStyle/>
          <a:p>
            <a:pPr algn="ctr">
              <a:lnSpc>
                <a:spcPts val="7766"/>
              </a:lnSpc>
            </a:pPr>
            <a:r>
              <a:rPr lang="en-US" sz="6314">
                <a:solidFill>
                  <a:srgbClr val="000000"/>
                </a:solidFill>
                <a:latin typeface="League Spartan"/>
                <a:ea typeface="League Spartan"/>
                <a:cs typeface="League Spartan"/>
                <a:sym typeface="League Spartan"/>
              </a:rPr>
              <a:t>Data Quality Improvements</a:t>
            </a:r>
          </a:p>
        </p:txBody>
      </p:sp>
      <p:sp>
        <p:nvSpPr>
          <p:cNvPr id="10" name="TextBox 10"/>
          <p:cNvSpPr txBox="1"/>
          <p:nvPr/>
        </p:nvSpPr>
        <p:spPr>
          <a:xfrm>
            <a:off x="1028700" y="4945103"/>
            <a:ext cx="5296695" cy="515410"/>
          </a:xfrm>
          <a:prstGeom prst="rect">
            <a:avLst/>
          </a:prstGeom>
        </p:spPr>
        <p:txBody>
          <a:bodyPr lIns="0" tIns="0" rIns="0" bIns="0" rtlCol="0" anchor="t">
            <a:spAutoFit/>
          </a:bodyPr>
          <a:lstStyle/>
          <a:p>
            <a:pPr algn="ctr">
              <a:lnSpc>
                <a:spcPts val="4209"/>
              </a:lnSpc>
            </a:pPr>
            <a:r>
              <a:rPr lang="en-US" sz="3006">
                <a:solidFill>
                  <a:srgbClr val="000000"/>
                </a:solidFill>
                <a:latin typeface="League Spartan"/>
                <a:ea typeface="League Spartan"/>
                <a:cs typeface="League Spartan"/>
                <a:sym typeface="League Spartan"/>
              </a:rPr>
              <a:t>Missing Value Resolution</a:t>
            </a:r>
          </a:p>
        </p:txBody>
      </p:sp>
      <p:sp>
        <p:nvSpPr>
          <p:cNvPr id="11" name="TextBox 11"/>
          <p:cNvSpPr txBox="1"/>
          <p:nvPr/>
        </p:nvSpPr>
        <p:spPr>
          <a:xfrm>
            <a:off x="9356699" y="4945103"/>
            <a:ext cx="4586093" cy="515410"/>
          </a:xfrm>
          <a:prstGeom prst="rect">
            <a:avLst/>
          </a:prstGeom>
        </p:spPr>
        <p:txBody>
          <a:bodyPr lIns="0" tIns="0" rIns="0" bIns="0" rtlCol="0" anchor="t">
            <a:spAutoFit/>
          </a:bodyPr>
          <a:lstStyle/>
          <a:p>
            <a:pPr algn="ctr">
              <a:lnSpc>
                <a:spcPts val="4209"/>
              </a:lnSpc>
            </a:pPr>
            <a:r>
              <a:rPr lang="en-US" sz="3006">
                <a:solidFill>
                  <a:srgbClr val="000000"/>
                </a:solidFill>
                <a:latin typeface="League Spartan"/>
                <a:ea typeface="League Spartan"/>
                <a:cs typeface="League Spartan"/>
                <a:sym typeface="League Spartan"/>
              </a:rPr>
              <a:t>Duplicate Resolution</a:t>
            </a:r>
          </a:p>
        </p:txBody>
      </p:sp>
      <p:sp>
        <p:nvSpPr>
          <p:cNvPr id="12" name="TextBox 12"/>
          <p:cNvSpPr txBox="1"/>
          <p:nvPr/>
        </p:nvSpPr>
        <p:spPr>
          <a:xfrm>
            <a:off x="550816" y="6858001"/>
            <a:ext cx="9430170" cy="1394408"/>
          </a:xfrm>
          <a:prstGeom prst="rect">
            <a:avLst/>
          </a:prstGeom>
        </p:spPr>
        <p:txBody>
          <a:bodyPr lIns="0" tIns="0" rIns="0" bIns="0" rtlCol="0" anchor="t">
            <a:spAutoFit/>
          </a:bodyPr>
          <a:lstStyle/>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 Before: 30% of records had missing values </a:t>
            </a:r>
          </a:p>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After: &lt;1% have any missing values</a:t>
            </a:r>
          </a:p>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 Method: Removed invalid records,</a:t>
            </a:r>
          </a:p>
          <a:p>
            <a:pPr algn="l">
              <a:lnSpc>
                <a:spcPts val="2798"/>
              </a:lnSpc>
            </a:pPr>
            <a:r>
              <a:rPr lang="en-US" sz="2275" b="1">
                <a:solidFill>
                  <a:srgbClr val="000000"/>
                </a:solidFill>
                <a:latin typeface="League Spartan"/>
                <a:ea typeface="League Spartan"/>
                <a:cs typeface="League Spartan"/>
                <a:sym typeface="League Spartan"/>
              </a:rPr>
              <a:t>                           filled Score NaN with 0</a:t>
            </a:r>
          </a:p>
        </p:txBody>
      </p:sp>
      <p:sp>
        <p:nvSpPr>
          <p:cNvPr id="13" name="TextBox 13"/>
          <p:cNvSpPr txBox="1"/>
          <p:nvPr/>
        </p:nvSpPr>
        <p:spPr>
          <a:xfrm>
            <a:off x="8882420" y="6858001"/>
            <a:ext cx="9430170" cy="1394408"/>
          </a:xfrm>
          <a:prstGeom prst="rect">
            <a:avLst/>
          </a:prstGeom>
        </p:spPr>
        <p:txBody>
          <a:bodyPr lIns="0" tIns="0" rIns="0" bIns="0" rtlCol="0" anchor="t">
            <a:spAutoFit/>
          </a:bodyPr>
          <a:lstStyle/>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 Before:100+ exactduplicates</a:t>
            </a:r>
          </a:p>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After: 0% duplication</a:t>
            </a:r>
          </a:p>
          <a:p>
            <a:pPr marL="491258" lvl="1" indent="-245629" algn="l">
              <a:lnSpc>
                <a:spcPts val="2798"/>
              </a:lnSpc>
              <a:buFont typeface="Arial"/>
              <a:buChar char="•"/>
            </a:pPr>
            <a:r>
              <a:rPr lang="en-US" sz="2275" b="1">
                <a:solidFill>
                  <a:srgbClr val="000000"/>
                </a:solidFill>
                <a:latin typeface="League Spartan"/>
                <a:ea typeface="League Spartan"/>
                <a:cs typeface="League Spartan"/>
                <a:sym typeface="League Spartan"/>
              </a:rPr>
              <a:t>Method: Kept first occurrence, </a:t>
            </a:r>
          </a:p>
          <a:p>
            <a:pPr algn="l">
              <a:lnSpc>
                <a:spcPts val="2798"/>
              </a:lnSpc>
            </a:pPr>
            <a:r>
              <a:rPr lang="en-US" sz="2275" b="1">
                <a:solidFill>
                  <a:srgbClr val="000000"/>
                </a:solidFill>
                <a:latin typeface="League Spartan"/>
                <a:ea typeface="League Spartan"/>
                <a:cs typeface="League Spartan"/>
                <a:sym typeface="League Spartan"/>
              </a:rPr>
              <a:t>             removed subsequent entries</a:t>
            </a:r>
          </a:p>
        </p:txBody>
      </p:sp>
      <p:pic>
        <p:nvPicPr>
          <p:cNvPr id="14" name="Picture 14"/>
          <p:cNvPicPr>
            <a:picLocks noChangeAspect="1"/>
          </p:cNvPicPr>
          <p:nvPr/>
        </p:nvPicPr>
        <p:blipFill>
          <a:blip r:embed="rId9"/>
          <a:stretch>
            <a:fillRect/>
          </a:stretch>
        </p:blipFill>
        <p:spPr>
          <a:xfrm>
            <a:off x="8847592" y="5583947"/>
            <a:ext cx="6109279" cy="1470201"/>
          </a:xfrm>
          <a:prstGeom prst="rect">
            <a:avLst/>
          </a:prstGeom>
        </p:spPr>
      </p:pic>
      <p:sp>
        <p:nvSpPr>
          <p:cNvPr id="15" name="Freeform 15"/>
          <p:cNvSpPr/>
          <p:nvPr/>
        </p:nvSpPr>
        <p:spPr>
          <a:xfrm rot="7159567">
            <a:off x="14781231" y="-4193367"/>
            <a:ext cx="8175621" cy="8175621"/>
          </a:xfrm>
          <a:custGeom>
            <a:avLst/>
            <a:gdLst/>
            <a:ahLst/>
            <a:cxnLst/>
            <a:rect l="l" t="t" r="r" b="b"/>
            <a:pathLst>
              <a:path w="8175621" h="8175621">
                <a:moveTo>
                  <a:pt x="0" y="0"/>
                </a:moveTo>
                <a:lnTo>
                  <a:pt x="8175621" y="0"/>
                </a:lnTo>
                <a:lnTo>
                  <a:pt x="8175621" y="8175621"/>
                </a:lnTo>
                <a:lnTo>
                  <a:pt x="0" y="8175621"/>
                </a:lnTo>
                <a:lnTo>
                  <a:pt x="0" y="0"/>
                </a:lnTo>
                <a:close/>
              </a:path>
            </a:pathLst>
          </a:custGeom>
          <a:blipFill>
            <a:blip r:embed="rId10">
              <a:alphaModFix amt="87000"/>
              <a:extLst>
                <a:ext uri="{96DAC541-7B7A-43D3-8B79-37D633B846F1}">
                  <asvg:svgBlip xmlns:asvg="http://schemas.microsoft.com/office/drawing/2016/SVG/main" r:embed="rId11"/>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27016" y="1290875"/>
            <a:ext cx="13478276" cy="1137734"/>
          </a:xfrm>
          <a:prstGeom prst="rect">
            <a:avLst/>
          </a:prstGeom>
        </p:spPr>
        <p:txBody>
          <a:bodyPr lIns="0" tIns="0" rIns="0" bIns="0" rtlCol="0" anchor="t">
            <a:spAutoFit/>
          </a:bodyPr>
          <a:lstStyle/>
          <a:p>
            <a:pPr algn="l">
              <a:lnSpc>
                <a:spcPts val="9061"/>
              </a:lnSpc>
            </a:pPr>
            <a:r>
              <a:rPr lang="en-US" sz="7367">
                <a:solidFill>
                  <a:srgbClr val="000000"/>
                </a:solidFill>
                <a:latin typeface="League Spartan"/>
                <a:ea typeface="League Spartan"/>
                <a:cs typeface="League Spartan"/>
                <a:sym typeface="League Spartan"/>
              </a:rPr>
              <a:t>Phase II: Database Design</a:t>
            </a:r>
          </a:p>
        </p:txBody>
      </p:sp>
      <p:sp>
        <p:nvSpPr>
          <p:cNvPr id="5" name="TextBox 5"/>
          <p:cNvSpPr txBox="1"/>
          <p:nvPr/>
        </p:nvSpPr>
        <p:spPr>
          <a:xfrm>
            <a:off x="4167605" y="5076825"/>
            <a:ext cx="13091695" cy="5009026"/>
          </a:xfrm>
          <a:prstGeom prst="rect">
            <a:avLst/>
          </a:prstGeom>
        </p:spPr>
        <p:txBody>
          <a:bodyPr lIns="0" tIns="0" rIns="0" bIns="0" rtlCol="0" anchor="t">
            <a:spAutoFit/>
          </a:bodyPr>
          <a:lstStyle/>
          <a:p>
            <a:pPr algn="l">
              <a:lnSpc>
                <a:spcPts val="3441"/>
              </a:lnSpc>
            </a:pPr>
            <a:endParaRPr dirty="0"/>
          </a:p>
          <a:p>
            <a:pPr algn="l">
              <a:lnSpc>
                <a:spcPts val="3441"/>
              </a:lnSpc>
            </a:pPr>
            <a:endParaRPr dirty="0"/>
          </a:p>
          <a:p>
            <a:pPr algn="l">
              <a:lnSpc>
                <a:spcPts val="2693"/>
              </a:lnSpc>
            </a:pPr>
            <a:r>
              <a:rPr lang="en-US" sz="2190" b="1" dirty="0">
                <a:solidFill>
                  <a:srgbClr val="000000"/>
                </a:solidFill>
                <a:latin typeface="Futura Bold"/>
                <a:ea typeface="Futura Bold"/>
                <a:cs typeface="Futura Bold"/>
                <a:sym typeface="Futura Bold"/>
              </a:rPr>
              <a:t>STUDENT Table</a:t>
            </a:r>
          </a:p>
          <a:p>
            <a:pPr marL="472824" lvl="1" indent="-236412" algn="l">
              <a:lnSpc>
                <a:spcPts val="2693"/>
              </a:lnSpc>
              <a:buFont typeface="Arial"/>
              <a:buChar char="•"/>
            </a:pPr>
            <a:r>
              <a:rPr lang="en-US" sz="2190" dirty="0">
                <a:solidFill>
                  <a:srgbClr val="000000"/>
                </a:solidFill>
                <a:latin typeface="Futura"/>
                <a:ea typeface="Futura"/>
                <a:cs typeface="Futura"/>
                <a:sym typeface="Futura"/>
              </a:rPr>
              <a:t>Stores </a:t>
            </a:r>
            <a:r>
              <a:rPr lang="en-US" sz="2190" dirty="0" err="1">
                <a:solidFill>
                  <a:srgbClr val="000000"/>
                </a:solidFill>
                <a:latin typeface="Futura"/>
                <a:ea typeface="Futura"/>
                <a:cs typeface="Futura"/>
                <a:sym typeface="Futura"/>
              </a:rPr>
              <a:t>individualstudent</a:t>
            </a:r>
            <a:r>
              <a:rPr lang="en-US" sz="2190" dirty="0">
                <a:solidFill>
                  <a:srgbClr val="000000"/>
                </a:solidFill>
                <a:latin typeface="Futura"/>
                <a:ea typeface="Futura"/>
                <a:cs typeface="Futura"/>
                <a:sym typeface="Futura"/>
              </a:rPr>
              <a:t> information Primary Key: </a:t>
            </a:r>
            <a:r>
              <a:rPr lang="en-US" sz="2190" dirty="0" err="1">
                <a:solidFill>
                  <a:srgbClr val="000000"/>
                </a:solidFill>
                <a:latin typeface="Futura"/>
                <a:ea typeface="Futura"/>
                <a:cs typeface="Futura"/>
                <a:sym typeface="Futura"/>
              </a:rPr>
              <a:t>Student_ID</a:t>
            </a:r>
            <a:endParaRPr lang="en-US" sz="2190" dirty="0">
              <a:solidFill>
                <a:srgbClr val="000000"/>
              </a:solidFill>
              <a:latin typeface="Futura"/>
              <a:ea typeface="Futura"/>
              <a:cs typeface="Futura"/>
              <a:sym typeface="Futura"/>
            </a:endParaRPr>
          </a:p>
          <a:p>
            <a:pPr marL="472824" lvl="1" indent="-236412" algn="l">
              <a:lnSpc>
                <a:spcPts val="2693"/>
              </a:lnSpc>
              <a:buFont typeface="Arial"/>
              <a:buChar char="•"/>
            </a:pPr>
            <a:r>
              <a:rPr lang="en-US" sz="2190" dirty="0">
                <a:solidFill>
                  <a:srgbClr val="000000"/>
                </a:solidFill>
                <a:latin typeface="Futura"/>
                <a:ea typeface="Futura"/>
                <a:cs typeface="Futura"/>
                <a:sym typeface="Futura"/>
              </a:rPr>
              <a:t>Attributes: </a:t>
            </a:r>
            <a:r>
              <a:rPr lang="en-US" sz="2190" dirty="0" err="1">
                <a:solidFill>
                  <a:srgbClr val="000000"/>
                </a:solidFill>
                <a:latin typeface="Futura"/>
                <a:ea typeface="Futura"/>
                <a:cs typeface="Futura"/>
                <a:sym typeface="Futura"/>
              </a:rPr>
              <a:t>Student_Name</a:t>
            </a:r>
            <a:r>
              <a:rPr lang="en-US" sz="2190" dirty="0">
                <a:solidFill>
                  <a:srgbClr val="000000"/>
                </a:solidFill>
                <a:latin typeface="Futura"/>
                <a:ea typeface="Futura"/>
                <a:cs typeface="Futura"/>
                <a:sym typeface="Futura"/>
              </a:rPr>
              <a:t>, Level (Freshman, Sophomore, Junior, Senior)</a:t>
            </a:r>
          </a:p>
          <a:p>
            <a:pPr algn="l">
              <a:lnSpc>
                <a:spcPts val="2693"/>
              </a:lnSpc>
            </a:pPr>
            <a:endParaRPr lang="en-US" sz="2190" dirty="0">
              <a:solidFill>
                <a:srgbClr val="000000"/>
              </a:solidFill>
              <a:latin typeface="Futura"/>
              <a:ea typeface="Futura"/>
              <a:cs typeface="Futura"/>
              <a:sym typeface="Futura"/>
            </a:endParaRPr>
          </a:p>
          <a:p>
            <a:pPr algn="l">
              <a:lnSpc>
                <a:spcPts val="2693"/>
              </a:lnSpc>
            </a:pPr>
            <a:r>
              <a:rPr lang="en-US" sz="2190" b="1" dirty="0">
                <a:solidFill>
                  <a:srgbClr val="000000"/>
                </a:solidFill>
                <a:latin typeface="Futura Bold"/>
                <a:ea typeface="Futura Bold"/>
                <a:cs typeface="Futura Bold"/>
                <a:sym typeface="Futura Bold"/>
              </a:rPr>
              <a:t>SUBJECT Table</a:t>
            </a:r>
          </a:p>
          <a:p>
            <a:pPr marL="472824" lvl="1" indent="-236412" algn="l">
              <a:lnSpc>
                <a:spcPts val="2693"/>
              </a:lnSpc>
              <a:buFont typeface="Arial"/>
              <a:buChar char="•"/>
            </a:pPr>
            <a:r>
              <a:rPr lang="en-US" sz="2190" dirty="0">
                <a:solidFill>
                  <a:srgbClr val="000000"/>
                </a:solidFill>
                <a:latin typeface="Futura"/>
                <a:ea typeface="Futura"/>
                <a:cs typeface="Futura"/>
                <a:sym typeface="Futura"/>
              </a:rPr>
              <a:t>Maintains </a:t>
            </a:r>
            <a:r>
              <a:rPr lang="en-US" sz="2190" dirty="0" err="1">
                <a:solidFill>
                  <a:srgbClr val="000000"/>
                </a:solidFill>
                <a:latin typeface="Futura"/>
                <a:ea typeface="Futura"/>
                <a:cs typeface="Futura"/>
                <a:sym typeface="Futura"/>
              </a:rPr>
              <a:t>catalogof</a:t>
            </a:r>
            <a:r>
              <a:rPr lang="en-US" sz="2190" dirty="0">
                <a:solidFill>
                  <a:srgbClr val="000000"/>
                </a:solidFill>
                <a:latin typeface="Futura"/>
                <a:ea typeface="Futura"/>
                <a:cs typeface="Futura"/>
                <a:sym typeface="Futura"/>
              </a:rPr>
              <a:t> </a:t>
            </a:r>
            <a:r>
              <a:rPr lang="en-US" sz="2190" dirty="0" err="1">
                <a:solidFill>
                  <a:srgbClr val="000000"/>
                </a:solidFill>
                <a:latin typeface="Futura"/>
                <a:ea typeface="Futura"/>
                <a:cs typeface="Futura"/>
                <a:sym typeface="Futura"/>
              </a:rPr>
              <a:t>academicsubjects</a:t>
            </a:r>
            <a:r>
              <a:rPr lang="en-US" sz="2190" dirty="0">
                <a:solidFill>
                  <a:srgbClr val="000000"/>
                </a:solidFill>
                <a:latin typeface="Futura"/>
                <a:ea typeface="Futura"/>
                <a:cs typeface="Futura"/>
                <a:sym typeface="Futura"/>
              </a:rPr>
              <a:t> Primary Key: </a:t>
            </a:r>
            <a:r>
              <a:rPr lang="en-US" sz="2190" dirty="0" err="1">
                <a:solidFill>
                  <a:srgbClr val="000000"/>
                </a:solidFill>
                <a:latin typeface="Futura"/>
                <a:ea typeface="Futura"/>
                <a:cs typeface="Futura"/>
                <a:sym typeface="Futura"/>
              </a:rPr>
              <a:t>Subject_ID</a:t>
            </a:r>
            <a:endParaRPr lang="en-US" sz="2190" dirty="0">
              <a:solidFill>
                <a:srgbClr val="000000"/>
              </a:solidFill>
              <a:latin typeface="Futura"/>
              <a:ea typeface="Futura"/>
              <a:cs typeface="Futura"/>
              <a:sym typeface="Futura"/>
            </a:endParaRPr>
          </a:p>
          <a:p>
            <a:pPr marL="472824" lvl="1" indent="-236412" algn="l">
              <a:lnSpc>
                <a:spcPts val="2693"/>
              </a:lnSpc>
              <a:buFont typeface="Arial"/>
              <a:buChar char="•"/>
            </a:pPr>
            <a:r>
              <a:rPr lang="en-US" sz="2190" dirty="0">
                <a:solidFill>
                  <a:srgbClr val="000000"/>
                </a:solidFill>
                <a:latin typeface="Futura"/>
                <a:ea typeface="Futura"/>
                <a:cs typeface="Futura"/>
                <a:sym typeface="Futura"/>
              </a:rPr>
              <a:t>Attributes: </a:t>
            </a:r>
            <a:r>
              <a:rPr lang="en-US" sz="2190" dirty="0" err="1">
                <a:solidFill>
                  <a:srgbClr val="000000"/>
                </a:solidFill>
                <a:latin typeface="Futura"/>
                <a:ea typeface="Futura"/>
                <a:cs typeface="Futura"/>
                <a:sym typeface="Futura"/>
              </a:rPr>
              <a:t>Subject_Name</a:t>
            </a:r>
            <a:endParaRPr lang="en-US" sz="2190" dirty="0">
              <a:solidFill>
                <a:srgbClr val="000000"/>
              </a:solidFill>
              <a:latin typeface="Futura"/>
              <a:ea typeface="Futura"/>
              <a:cs typeface="Futura"/>
              <a:sym typeface="Futura"/>
            </a:endParaRPr>
          </a:p>
          <a:p>
            <a:pPr algn="l">
              <a:lnSpc>
                <a:spcPts val="2693"/>
              </a:lnSpc>
            </a:pPr>
            <a:endParaRPr lang="en-US" sz="2190" dirty="0">
              <a:solidFill>
                <a:srgbClr val="000000"/>
              </a:solidFill>
              <a:latin typeface="Futura"/>
              <a:ea typeface="Futura"/>
              <a:cs typeface="Futura"/>
              <a:sym typeface="Futura"/>
            </a:endParaRPr>
          </a:p>
          <a:p>
            <a:pPr algn="l">
              <a:lnSpc>
                <a:spcPts val="2693"/>
              </a:lnSpc>
            </a:pPr>
            <a:r>
              <a:rPr lang="en-US" sz="2190" b="1" dirty="0">
                <a:solidFill>
                  <a:srgbClr val="000000"/>
                </a:solidFill>
                <a:latin typeface="Futura Bold"/>
                <a:ea typeface="Futura Bold"/>
                <a:cs typeface="Futura Bold"/>
                <a:sym typeface="Futura Bold"/>
              </a:rPr>
              <a:t>ASSESSMENT Table</a:t>
            </a:r>
          </a:p>
          <a:p>
            <a:pPr marL="472824" lvl="1" indent="-236412" algn="l">
              <a:lnSpc>
                <a:spcPts val="2693"/>
              </a:lnSpc>
              <a:buFont typeface="Arial"/>
              <a:buChar char="•"/>
            </a:pPr>
            <a:r>
              <a:rPr lang="en-US" sz="2190" dirty="0">
                <a:solidFill>
                  <a:srgbClr val="000000"/>
                </a:solidFill>
                <a:latin typeface="Futura"/>
                <a:ea typeface="Futura"/>
                <a:cs typeface="Futura"/>
                <a:sym typeface="Futura"/>
              </a:rPr>
              <a:t>Records </a:t>
            </a:r>
            <a:r>
              <a:rPr lang="en-US" sz="2190" dirty="0" err="1">
                <a:solidFill>
                  <a:srgbClr val="000000"/>
                </a:solidFill>
                <a:latin typeface="Futura"/>
                <a:ea typeface="Futura"/>
                <a:cs typeface="Futura"/>
                <a:sym typeface="Futura"/>
              </a:rPr>
              <a:t>studentperformance</a:t>
            </a:r>
            <a:r>
              <a:rPr lang="en-US" sz="2190" dirty="0">
                <a:solidFill>
                  <a:srgbClr val="000000"/>
                </a:solidFill>
                <a:latin typeface="Futura"/>
                <a:ea typeface="Futura"/>
                <a:cs typeface="Futura"/>
                <a:sym typeface="Futura"/>
              </a:rPr>
              <a:t> </a:t>
            </a:r>
            <a:r>
              <a:rPr lang="en-US" sz="2190" dirty="0" err="1">
                <a:solidFill>
                  <a:srgbClr val="000000"/>
                </a:solidFill>
                <a:latin typeface="Futura"/>
                <a:ea typeface="Futura"/>
                <a:cs typeface="Futura"/>
                <a:sym typeface="Futura"/>
              </a:rPr>
              <a:t>onassessments</a:t>
            </a:r>
            <a:r>
              <a:rPr lang="en-US" sz="2190" dirty="0">
                <a:solidFill>
                  <a:srgbClr val="000000"/>
                </a:solidFill>
                <a:latin typeface="Futura"/>
                <a:ea typeface="Futura"/>
                <a:cs typeface="Futura"/>
                <a:sym typeface="Futura"/>
              </a:rPr>
              <a:t> Primary Key: </a:t>
            </a:r>
            <a:r>
              <a:rPr lang="en-US" sz="2190" dirty="0" err="1">
                <a:solidFill>
                  <a:srgbClr val="000000"/>
                </a:solidFill>
                <a:latin typeface="Futura"/>
                <a:ea typeface="Futura"/>
                <a:cs typeface="Futura"/>
                <a:sym typeface="Futura"/>
              </a:rPr>
              <a:t>Exam_ID</a:t>
            </a:r>
            <a:endParaRPr lang="en-US" sz="2190" dirty="0">
              <a:solidFill>
                <a:srgbClr val="000000"/>
              </a:solidFill>
              <a:latin typeface="Futura"/>
              <a:ea typeface="Futura"/>
              <a:cs typeface="Futura"/>
              <a:sym typeface="Futura"/>
            </a:endParaRPr>
          </a:p>
          <a:p>
            <a:pPr marL="472824" lvl="1" indent="-236412" algn="l">
              <a:lnSpc>
                <a:spcPts val="2693"/>
              </a:lnSpc>
              <a:buFont typeface="Arial"/>
              <a:buChar char="•"/>
            </a:pPr>
            <a:r>
              <a:rPr lang="en-US" sz="2190" dirty="0">
                <a:solidFill>
                  <a:srgbClr val="000000"/>
                </a:solidFill>
                <a:latin typeface="Futura"/>
                <a:ea typeface="Futura"/>
                <a:cs typeface="Futura"/>
                <a:sym typeface="Futura"/>
              </a:rPr>
              <a:t>Foreign Keys: </a:t>
            </a:r>
            <a:r>
              <a:rPr lang="en-US" sz="2190" dirty="0" err="1">
                <a:solidFill>
                  <a:srgbClr val="000000"/>
                </a:solidFill>
                <a:latin typeface="Futura"/>
                <a:ea typeface="Futura"/>
                <a:cs typeface="Futura"/>
                <a:sym typeface="Futura"/>
              </a:rPr>
              <a:t>Student_ID</a:t>
            </a:r>
            <a:r>
              <a:rPr lang="en-US" sz="2190" dirty="0">
                <a:solidFill>
                  <a:srgbClr val="000000"/>
                </a:solidFill>
                <a:latin typeface="Futura"/>
                <a:ea typeface="Futura"/>
                <a:cs typeface="Futura"/>
                <a:sym typeface="Futura"/>
              </a:rPr>
              <a:t>, </a:t>
            </a:r>
            <a:r>
              <a:rPr lang="en-US" sz="2190" dirty="0" err="1">
                <a:solidFill>
                  <a:srgbClr val="000000"/>
                </a:solidFill>
                <a:latin typeface="Futura"/>
                <a:ea typeface="Futura"/>
                <a:cs typeface="Futura"/>
                <a:sym typeface="Futura"/>
              </a:rPr>
              <a:t>Subject_ID</a:t>
            </a:r>
            <a:endParaRPr lang="en-US" sz="2190" dirty="0">
              <a:solidFill>
                <a:srgbClr val="000000"/>
              </a:solidFill>
              <a:latin typeface="Futura"/>
              <a:ea typeface="Futura"/>
              <a:cs typeface="Futura"/>
              <a:sym typeface="Futura"/>
            </a:endParaRPr>
          </a:p>
          <a:p>
            <a:pPr marL="472824" lvl="1" indent="-236412" algn="l">
              <a:lnSpc>
                <a:spcPts val="2693"/>
              </a:lnSpc>
              <a:buFont typeface="Arial"/>
              <a:buChar char="•"/>
            </a:pPr>
            <a:r>
              <a:rPr lang="en-US" sz="2190" dirty="0">
                <a:solidFill>
                  <a:srgbClr val="000000"/>
                </a:solidFill>
                <a:latin typeface="Futura"/>
                <a:ea typeface="Futura"/>
                <a:cs typeface="Futura"/>
                <a:sym typeface="Futura"/>
              </a:rPr>
              <a:t>Attributes: Score, </a:t>
            </a:r>
            <a:r>
              <a:rPr lang="en-US" sz="2190" dirty="0" err="1">
                <a:solidFill>
                  <a:srgbClr val="000000"/>
                </a:solidFill>
                <a:latin typeface="Futura"/>
                <a:ea typeface="Futura"/>
                <a:cs typeface="Futura"/>
                <a:sym typeface="Futura"/>
              </a:rPr>
              <a:t>Performance_Grade</a:t>
            </a:r>
            <a:r>
              <a:rPr lang="en-US" sz="2190" dirty="0">
                <a:solidFill>
                  <a:srgbClr val="000000"/>
                </a:solidFill>
                <a:latin typeface="Futura"/>
                <a:ea typeface="Futura"/>
                <a:cs typeface="Futura"/>
                <a:sym typeface="Futura"/>
              </a:rPr>
              <a:t>, Attendance, Date</a:t>
            </a:r>
          </a:p>
        </p:txBody>
      </p:sp>
      <p:sp>
        <p:nvSpPr>
          <p:cNvPr id="6" name="TextBox 6"/>
          <p:cNvSpPr txBox="1"/>
          <p:nvPr/>
        </p:nvSpPr>
        <p:spPr>
          <a:xfrm>
            <a:off x="642938" y="3026608"/>
            <a:ext cx="17002125" cy="1580973"/>
          </a:xfrm>
          <a:prstGeom prst="rect">
            <a:avLst/>
          </a:prstGeom>
        </p:spPr>
        <p:txBody>
          <a:bodyPr lIns="0" tIns="0" rIns="0" bIns="0" rtlCol="0" anchor="t">
            <a:spAutoFit/>
          </a:bodyPr>
          <a:lstStyle/>
          <a:p>
            <a:pPr algn="l">
              <a:lnSpc>
                <a:spcPts val="4209"/>
              </a:lnSpc>
            </a:pPr>
            <a:r>
              <a:rPr lang="en-US" sz="3006" b="1">
                <a:solidFill>
                  <a:srgbClr val="000000"/>
                </a:solidFill>
                <a:latin typeface="League Spartan"/>
                <a:ea typeface="League Spartan"/>
                <a:cs typeface="League Spartan"/>
                <a:sym typeface="League Spartan"/>
              </a:rPr>
              <a:t>Objective</a:t>
            </a:r>
          </a:p>
          <a:p>
            <a:pPr marL="649203" lvl="1" indent="-324601" algn="l">
              <a:lnSpc>
                <a:spcPts val="4209"/>
              </a:lnSpc>
              <a:buFont typeface="Arial"/>
              <a:buChar char="•"/>
            </a:pPr>
            <a:r>
              <a:rPr lang="en-US" sz="3006" b="1">
                <a:solidFill>
                  <a:srgbClr val="000000"/>
                </a:solidFill>
                <a:latin typeface="League Spartan"/>
                <a:ea typeface="League Spartan"/>
                <a:cs typeface="League Spartan"/>
                <a:sym typeface="League Spartan"/>
              </a:rPr>
              <a:t>Design a normalized relational database (3NF) that eliminates redundancy, ensures referential integrity, and enables efficient querying of large datasets.</a:t>
            </a:r>
          </a:p>
        </p:txBody>
      </p:sp>
      <p:sp>
        <p:nvSpPr>
          <p:cNvPr id="7" name="TextBox 7"/>
          <p:cNvSpPr txBox="1"/>
          <p:nvPr/>
        </p:nvSpPr>
        <p:spPr>
          <a:xfrm>
            <a:off x="1986335" y="5086350"/>
            <a:ext cx="3885456" cy="514173"/>
          </a:xfrm>
          <a:prstGeom prst="rect">
            <a:avLst/>
          </a:prstGeom>
        </p:spPr>
        <p:txBody>
          <a:bodyPr lIns="0" tIns="0" rIns="0" bIns="0" rtlCol="0" anchor="t">
            <a:spAutoFit/>
          </a:bodyPr>
          <a:lstStyle/>
          <a:p>
            <a:pPr algn="ctr">
              <a:lnSpc>
                <a:spcPts val="4209"/>
              </a:lnSpc>
              <a:spcBef>
                <a:spcPct val="0"/>
              </a:spcBef>
            </a:pPr>
            <a:r>
              <a:rPr lang="en-US" sz="3006" b="1">
                <a:solidFill>
                  <a:srgbClr val="000000"/>
                </a:solidFill>
                <a:latin typeface="League Spartan"/>
                <a:ea typeface="League Spartan"/>
                <a:cs typeface="League Spartan"/>
                <a:sym typeface="League Spartan"/>
              </a:rPr>
              <a:t>Schema Description</a:t>
            </a:r>
          </a:p>
        </p:txBody>
      </p:sp>
      <p:sp>
        <p:nvSpPr>
          <p:cNvPr id="8" name="Freeform 8"/>
          <p:cNvSpPr/>
          <p:nvPr/>
        </p:nvSpPr>
        <p:spPr>
          <a:xfrm>
            <a:off x="-107016" y="-1309999"/>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12" name="Freeform 12"/>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4752932" y="8551367"/>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768262" y="9861054"/>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8097500" y="0"/>
            <a:ext cx="18288000" cy="10563225"/>
            <a:chOff x="0" y="0"/>
            <a:chExt cx="6186311" cy="3573239"/>
          </a:xfrm>
        </p:grpSpPr>
        <p:sp>
          <p:nvSpPr>
            <p:cNvPr id="5" name="Freeform 5"/>
            <p:cNvSpPr/>
            <p:nvPr/>
          </p:nvSpPr>
          <p:spPr>
            <a:xfrm>
              <a:off x="0" y="0"/>
              <a:ext cx="6186311" cy="3573239"/>
            </a:xfrm>
            <a:custGeom>
              <a:avLst/>
              <a:gdLst/>
              <a:ahLst/>
              <a:cxnLst/>
              <a:rect l="l" t="t" r="r" b="b"/>
              <a:pathLst>
                <a:path w="6186311" h="3573239">
                  <a:moveTo>
                    <a:pt x="0" y="0"/>
                  </a:moveTo>
                  <a:lnTo>
                    <a:pt x="6186311" y="0"/>
                  </a:lnTo>
                  <a:lnTo>
                    <a:pt x="6186311" y="3573239"/>
                  </a:lnTo>
                  <a:lnTo>
                    <a:pt x="0" y="3573239"/>
                  </a:lnTo>
                  <a:close/>
                </a:path>
              </a:pathLst>
            </a:custGeom>
            <a:solidFill>
              <a:srgbClr val="000000"/>
            </a:solidFill>
          </p:spPr>
        </p:sp>
      </p:grpSp>
      <p:sp>
        <p:nvSpPr>
          <p:cNvPr id="6" name="Freeform 6"/>
          <p:cNvSpPr/>
          <p:nvPr/>
        </p:nvSpPr>
        <p:spPr>
          <a:xfrm rot="5400000">
            <a:off x="17771378" y="-635183"/>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1237470" y="830029"/>
            <a:ext cx="15813060" cy="8626943"/>
          </a:xfrm>
          <a:custGeom>
            <a:avLst/>
            <a:gdLst/>
            <a:ahLst/>
            <a:cxnLst/>
            <a:rect l="l" t="t" r="r" b="b"/>
            <a:pathLst>
              <a:path w="15813060" h="8626943">
                <a:moveTo>
                  <a:pt x="0" y="0"/>
                </a:moveTo>
                <a:lnTo>
                  <a:pt x="15813060" y="0"/>
                </a:lnTo>
                <a:lnTo>
                  <a:pt x="15813060" y="8626942"/>
                </a:lnTo>
                <a:lnTo>
                  <a:pt x="0" y="8626942"/>
                </a:lnTo>
                <a:lnTo>
                  <a:pt x="0" y="0"/>
                </a:lnTo>
                <a:close/>
              </a:path>
            </a:pathLst>
          </a:custGeom>
          <a:blipFill>
            <a:blip r:embed="rId8"/>
            <a:stretch>
              <a:fillRect/>
            </a:stretch>
          </a:blipFill>
        </p:spPr>
      </p:sp>
      <p:sp>
        <p:nvSpPr>
          <p:cNvPr id="8" name="TextBox 8"/>
          <p:cNvSpPr txBox="1"/>
          <p:nvPr/>
        </p:nvSpPr>
        <p:spPr>
          <a:xfrm>
            <a:off x="149571" y="219075"/>
            <a:ext cx="7363548" cy="1143251"/>
          </a:xfrm>
          <a:prstGeom prst="rect">
            <a:avLst/>
          </a:prstGeom>
        </p:spPr>
        <p:txBody>
          <a:bodyPr lIns="0" tIns="0" rIns="0" bIns="0" rtlCol="0" anchor="t">
            <a:spAutoFit/>
          </a:bodyPr>
          <a:lstStyle/>
          <a:p>
            <a:pPr algn="l">
              <a:lnSpc>
                <a:spcPts val="9143"/>
              </a:lnSpc>
            </a:pPr>
            <a:r>
              <a:rPr lang="en-US" sz="7434">
                <a:solidFill>
                  <a:srgbClr val="000000"/>
                </a:solidFill>
                <a:latin typeface="League Spartan"/>
                <a:ea typeface="League Spartan"/>
                <a:cs typeface="League Spartan"/>
                <a:sym typeface="League Spartan"/>
              </a:rPr>
              <a:t>ER Diagram</a:t>
            </a:r>
          </a:p>
        </p:txBody>
      </p:sp>
      <p:grpSp>
        <p:nvGrpSpPr>
          <p:cNvPr id="9" name="Group 9"/>
          <p:cNvGrpSpPr/>
          <p:nvPr/>
        </p:nvGrpSpPr>
        <p:grpSpPr>
          <a:xfrm>
            <a:off x="28575"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9"/>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0"/>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50828" y="2648187"/>
            <a:ext cx="13478276" cy="1137734"/>
          </a:xfrm>
          <a:prstGeom prst="rect">
            <a:avLst/>
          </a:prstGeom>
        </p:spPr>
        <p:txBody>
          <a:bodyPr lIns="0" tIns="0" rIns="0" bIns="0" rtlCol="0" anchor="t">
            <a:spAutoFit/>
          </a:bodyPr>
          <a:lstStyle/>
          <a:p>
            <a:pPr algn="l">
              <a:lnSpc>
                <a:spcPts val="9061"/>
              </a:lnSpc>
            </a:pPr>
            <a:r>
              <a:rPr lang="en-US" sz="7367">
                <a:solidFill>
                  <a:srgbClr val="000000"/>
                </a:solidFill>
                <a:latin typeface="League Spartan"/>
                <a:ea typeface="League Spartan"/>
                <a:cs typeface="League Spartan"/>
                <a:sym typeface="League Spartan"/>
              </a:rPr>
              <a:t>Phase III: SQL Analysis</a:t>
            </a:r>
          </a:p>
        </p:txBody>
      </p:sp>
      <p:sp>
        <p:nvSpPr>
          <p:cNvPr id="5" name="TextBox 5"/>
          <p:cNvSpPr txBox="1"/>
          <p:nvPr/>
        </p:nvSpPr>
        <p:spPr>
          <a:xfrm>
            <a:off x="1007128" y="4858506"/>
            <a:ext cx="17002125" cy="2647773"/>
          </a:xfrm>
          <a:prstGeom prst="rect">
            <a:avLst/>
          </a:prstGeom>
        </p:spPr>
        <p:txBody>
          <a:bodyPr lIns="0" tIns="0" rIns="0" bIns="0" rtlCol="0" anchor="t">
            <a:spAutoFit/>
          </a:bodyPr>
          <a:lstStyle/>
          <a:p>
            <a:pPr algn="l">
              <a:lnSpc>
                <a:spcPts val="4209"/>
              </a:lnSpc>
            </a:pPr>
            <a:r>
              <a:rPr lang="en-US" sz="3006" b="1">
                <a:solidFill>
                  <a:srgbClr val="000000"/>
                </a:solidFill>
                <a:latin typeface="League Spartan"/>
                <a:ea typeface="League Spartan"/>
                <a:cs typeface="League Spartan"/>
                <a:sym typeface="League Spartan"/>
              </a:rPr>
              <a:t>Objective</a:t>
            </a:r>
          </a:p>
          <a:p>
            <a:pPr algn="l">
              <a:lnSpc>
                <a:spcPts val="4209"/>
              </a:lnSpc>
            </a:pPr>
            <a:endParaRPr lang="en-US" sz="3006" b="1">
              <a:solidFill>
                <a:srgbClr val="000000"/>
              </a:solidFill>
              <a:latin typeface="League Spartan"/>
              <a:ea typeface="League Spartan"/>
              <a:cs typeface="League Spartan"/>
              <a:sym typeface="League Spartan"/>
            </a:endParaRPr>
          </a:p>
          <a:p>
            <a:pPr marL="649203" lvl="1" indent="-324601" algn="l">
              <a:lnSpc>
                <a:spcPts val="4209"/>
              </a:lnSpc>
              <a:buFont typeface="Arial"/>
              <a:buChar char="•"/>
            </a:pPr>
            <a:r>
              <a:rPr lang="en-US" sz="3006" b="1">
                <a:solidFill>
                  <a:srgbClr val="000000"/>
                </a:solidFill>
                <a:latin typeface="League Spartan"/>
                <a:ea typeface="League Spartan"/>
                <a:cs typeface="League Spartan"/>
                <a:sym typeface="League Spartan"/>
              </a:rPr>
              <a:t>Extract meaningful insights from normalized database using sophisticated SQL queries that answer strategic business questions.</a:t>
            </a:r>
          </a:p>
          <a:p>
            <a:pPr algn="l">
              <a:lnSpc>
                <a:spcPts val="4209"/>
              </a:lnSpc>
            </a:pPr>
            <a:endParaRPr lang="en-US" sz="3006" b="1">
              <a:solidFill>
                <a:srgbClr val="000000"/>
              </a:solidFill>
              <a:latin typeface="League Spartan"/>
              <a:ea typeface="League Spartan"/>
              <a:cs typeface="League Spartan"/>
              <a:sym typeface="League Spartan"/>
            </a:endParaRPr>
          </a:p>
        </p:txBody>
      </p:sp>
      <p:sp>
        <p:nvSpPr>
          <p:cNvPr id="6" name="Freeform 6"/>
          <p:cNvSpPr/>
          <p:nvPr/>
        </p:nvSpPr>
        <p:spPr>
          <a:xfrm rot="-3313213">
            <a:off x="0" y="-1032003"/>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0" y="9459925"/>
            <a:ext cx="18288000" cy="827075"/>
            <a:chOff x="0" y="0"/>
            <a:chExt cx="24384000" cy="1102766"/>
          </a:xfrm>
        </p:grpSpPr>
        <p:sp>
          <p:nvSpPr>
            <p:cNvPr id="8" name="Freeform 8"/>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9" name="Freeform 9"/>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10" name="Freeform 10"/>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7237201">
            <a:off x="-109133" y="-4375424"/>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rot="-862798">
            <a:off x="-4191850" y="-2354758"/>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3377045" y="8611654"/>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7016" y="-1309999"/>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0" y="9459925"/>
            <a:ext cx="18288000" cy="827075"/>
            <a:chOff x="0" y="0"/>
            <a:chExt cx="24384000" cy="1102766"/>
          </a:xfrm>
        </p:grpSpPr>
        <p:sp>
          <p:nvSpPr>
            <p:cNvPr id="6" name="Freeform 6"/>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7" name="Freeform 7"/>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8" name="Freeform 8"/>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TextBox 9"/>
          <p:cNvSpPr txBox="1"/>
          <p:nvPr/>
        </p:nvSpPr>
        <p:spPr>
          <a:xfrm>
            <a:off x="271598" y="1009650"/>
            <a:ext cx="12540945" cy="808812"/>
          </a:xfrm>
          <a:prstGeom prst="rect">
            <a:avLst/>
          </a:prstGeom>
        </p:spPr>
        <p:txBody>
          <a:bodyPr lIns="0" tIns="0" rIns="0" bIns="0" rtlCol="0" anchor="t">
            <a:spAutoFit/>
          </a:bodyPr>
          <a:lstStyle/>
          <a:p>
            <a:pPr algn="just">
              <a:lnSpc>
                <a:spcPts val="6412"/>
              </a:lnSpc>
            </a:pPr>
            <a:r>
              <a:rPr lang="en-US" sz="5213">
                <a:solidFill>
                  <a:srgbClr val="000000"/>
                </a:solidFill>
                <a:latin typeface="League Spartan"/>
                <a:ea typeface="League Spartan"/>
                <a:cs typeface="League Spartan"/>
                <a:sym typeface="League Spartan"/>
              </a:rPr>
              <a:t>Query 1: Top Performers by Subject</a:t>
            </a:r>
          </a:p>
        </p:txBody>
      </p:sp>
      <p:sp>
        <p:nvSpPr>
          <p:cNvPr id="10" name="TextBox 10"/>
          <p:cNvSpPr txBox="1"/>
          <p:nvPr/>
        </p:nvSpPr>
        <p:spPr>
          <a:xfrm>
            <a:off x="1778653" y="3314252"/>
            <a:ext cx="15480647" cy="6145673"/>
          </a:xfrm>
          <a:prstGeom prst="rect">
            <a:avLst/>
          </a:prstGeom>
        </p:spPr>
        <p:txBody>
          <a:bodyPr lIns="0" tIns="0" rIns="0" bIns="0" rtlCol="0" anchor="t">
            <a:spAutoFit/>
          </a:bodyPr>
          <a:lstStyle/>
          <a:p>
            <a:pPr algn="l">
              <a:lnSpc>
                <a:spcPts val="4069"/>
              </a:lnSpc>
            </a:pPr>
            <a:r>
              <a:rPr lang="en-US" sz="3308" b="1">
                <a:solidFill>
                  <a:srgbClr val="000000"/>
                </a:solidFill>
                <a:latin typeface="Futura Bold"/>
                <a:ea typeface="Futura Bold"/>
                <a:cs typeface="Futura Bold"/>
                <a:sym typeface="Futura Bold"/>
              </a:rPr>
              <a:t>SQL:</a:t>
            </a:r>
          </a:p>
          <a:p>
            <a:pPr marL="714240" lvl="1" indent="-357120" algn="l">
              <a:lnSpc>
                <a:spcPts val="4069"/>
              </a:lnSpc>
              <a:buFont typeface="Arial"/>
              <a:buChar char="•"/>
            </a:pPr>
            <a:r>
              <a:rPr lang="en-US" sz="3308">
                <a:solidFill>
                  <a:srgbClr val="000000"/>
                </a:solidFill>
                <a:latin typeface="Futura"/>
                <a:ea typeface="Futura"/>
                <a:cs typeface="Futura"/>
                <a:sym typeface="Futura"/>
              </a:rPr>
              <a:t>Retrieve the maximum score per subject using a subquery.</a:t>
            </a:r>
          </a:p>
          <a:p>
            <a:pPr marL="714240" lvl="1" indent="-357120" algn="l">
              <a:lnSpc>
                <a:spcPts val="4069"/>
              </a:lnSpc>
              <a:buFont typeface="Arial"/>
              <a:buChar char="•"/>
            </a:pPr>
            <a:r>
              <a:rPr lang="en-US" sz="3308">
                <a:solidFill>
                  <a:srgbClr val="000000"/>
                </a:solidFill>
                <a:latin typeface="Futura"/>
                <a:ea typeface="Futura"/>
                <a:cs typeface="Futura"/>
                <a:sym typeface="Futura"/>
              </a:rPr>
              <a:t>Join Student and Subject tables to get student names.</a:t>
            </a:r>
          </a:p>
          <a:p>
            <a:pPr marL="714240" lvl="1" indent="-357120" algn="l">
              <a:lnSpc>
                <a:spcPts val="4069"/>
              </a:lnSpc>
              <a:buFont typeface="Arial"/>
              <a:buChar char="•"/>
            </a:pPr>
            <a:r>
              <a:rPr lang="en-US" sz="3308">
                <a:solidFill>
                  <a:srgbClr val="000000"/>
                </a:solidFill>
                <a:latin typeface="Futura"/>
                <a:ea typeface="Futura"/>
                <a:cs typeface="Futura"/>
                <a:sym typeface="Futura"/>
              </a:rPr>
              <a:t>Return only students who achieved the highest score.</a:t>
            </a:r>
          </a:p>
          <a:p>
            <a:pPr algn="l">
              <a:lnSpc>
                <a:spcPts val="4069"/>
              </a:lnSpc>
            </a:pPr>
            <a:r>
              <a:rPr lang="en-US" sz="3308" b="1">
                <a:solidFill>
                  <a:srgbClr val="000000"/>
                </a:solidFill>
                <a:latin typeface="Futura Bold"/>
                <a:ea typeface="Futura Bold"/>
                <a:cs typeface="Futura Bold"/>
                <a:sym typeface="Futura Bold"/>
              </a:rPr>
              <a:t>Key Results:</a:t>
            </a:r>
          </a:p>
          <a:p>
            <a:pPr marL="714240" lvl="1" indent="-357120" algn="l">
              <a:lnSpc>
                <a:spcPts val="4069"/>
              </a:lnSpc>
              <a:buFont typeface="Arial"/>
              <a:buChar char="•"/>
            </a:pPr>
            <a:r>
              <a:rPr lang="en-US" sz="3308">
                <a:solidFill>
                  <a:srgbClr val="000000"/>
                </a:solidFill>
                <a:latin typeface="Futura"/>
                <a:ea typeface="Futura"/>
                <a:cs typeface="Futura"/>
                <a:sym typeface="Futura"/>
              </a:rPr>
              <a:t>Perfect scores (100) were achieved in Biology, Chemistry, English, and Math.</a:t>
            </a:r>
          </a:p>
          <a:p>
            <a:pPr marL="714240" lvl="1" indent="-357120" algn="l">
              <a:lnSpc>
                <a:spcPts val="4069"/>
              </a:lnSpc>
              <a:buFont typeface="Arial"/>
              <a:buChar char="•"/>
            </a:pPr>
            <a:r>
              <a:rPr lang="en-US" sz="3308">
                <a:solidFill>
                  <a:srgbClr val="000000"/>
                </a:solidFill>
                <a:latin typeface="Futura"/>
                <a:ea typeface="Futura"/>
                <a:cs typeface="Futura"/>
                <a:sym typeface="Futura"/>
              </a:rPr>
              <a:t>Physics top score was 98.</a:t>
            </a:r>
          </a:p>
          <a:p>
            <a:pPr algn="l">
              <a:lnSpc>
                <a:spcPts val="4069"/>
              </a:lnSpc>
            </a:pPr>
            <a:r>
              <a:rPr lang="en-US" sz="3308" b="1">
                <a:solidFill>
                  <a:srgbClr val="000000"/>
                </a:solidFill>
                <a:latin typeface="Futura Bold"/>
                <a:ea typeface="Futura Bold"/>
                <a:cs typeface="Futura Bold"/>
                <a:sym typeface="Futura Bold"/>
              </a:rPr>
              <a:t>Insights:</a:t>
            </a:r>
          </a:p>
          <a:p>
            <a:pPr marL="714240" lvl="1" indent="-357120" algn="l">
              <a:lnSpc>
                <a:spcPts val="4069"/>
              </a:lnSpc>
              <a:buFont typeface="Arial"/>
              <a:buChar char="•"/>
            </a:pPr>
            <a:r>
              <a:rPr lang="en-US" sz="3308">
                <a:solidFill>
                  <a:srgbClr val="000000"/>
                </a:solidFill>
                <a:latin typeface="Futura"/>
                <a:ea typeface="Futura"/>
                <a:cs typeface="Futura"/>
                <a:sym typeface="Futura"/>
              </a:rPr>
              <a:t>Excellence is achievable in all subjects.</a:t>
            </a:r>
          </a:p>
          <a:p>
            <a:pPr marL="714240" lvl="1" indent="-357120" algn="l">
              <a:lnSpc>
                <a:spcPts val="4069"/>
              </a:lnSpc>
              <a:buFont typeface="Arial"/>
              <a:buChar char="•"/>
            </a:pPr>
            <a:r>
              <a:rPr lang="en-US" sz="3308">
                <a:solidFill>
                  <a:srgbClr val="000000"/>
                </a:solidFill>
                <a:latin typeface="Futura"/>
                <a:ea typeface="Futura"/>
                <a:cs typeface="Futura"/>
                <a:sym typeface="Futura"/>
              </a:rPr>
              <a:t>Top performers show consistent high achievement.</a:t>
            </a:r>
          </a:p>
          <a:p>
            <a:pPr marL="714240" lvl="1" indent="-357120" algn="l">
              <a:lnSpc>
                <a:spcPts val="4069"/>
              </a:lnSpc>
              <a:buFont typeface="Arial"/>
              <a:buChar char="•"/>
            </a:pPr>
            <a:r>
              <a:rPr lang="en-US" sz="3308">
                <a:solidFill>
                  <a:srgbClr val="000000"/>
                </a:solidFill>
                <a:latin typeface="Futura"/>
                <a:ea typeface="Futura"/>
                <a:cs typeface="Futura"/>
                <a:sym typeface="Futura"/>
              </a:rPr>
              <a:t>These students can be mentors for struggling peers.</a:t>
            </a:r>
          </a:p>
          <a:p>
            <a:pPr marL="714240" lvl="1" indent="-357120" algn="l">
              <a:lnSpc>
                <a:spcPts val="4069"/>
              </a:lnSpc>
              <a:buFont typeface="Arial"/>
              <a:buChar char="•"/>
            </a:pPr>
            <a:r>
              <a:rPr lang="en-US" sz="3308">
                <a:solidFill>
                  <a:srgbClr val="000000"/>
                </a:solidFill>
                <a:latin typeface="Futura"/>
                <a:ea typeface="Futura"/>
                <a:cs typeface="Futura"/>
                <a:sym typeface="Futura"/>
              </a:rPr>
              <a:t>Their success patterns can be analyzed and replicated.</a:t>
            </a:r>
          </a:p>
        </p:txBody>
      </p:sp>
      <p:sp>
        <p:nvSpPr>
          <p:cNvPr id="11" name="TextBox 11"/>
          <p:cNvSpPr txBox="1"/>
          <p:nvPr/>
        </p:nvSpPr>
        <p:spPr>
          <a:xfrm>
            <a:off x="755249" y="2534266"/>
            <a:ext cx="3278309" cy="399851"/>
          </a:xfrm>
          <a:prstGeom prst="rect">
            <a:avLst/>
          </a:prstGeom>
        </p:spPr>
        <p:txBody>
          <a:bodyPr lIns="0" tIns="0" rIns="0" bIns="0" rtlCol="0" anchor="t">
            <a:spAutoFit/>
          </a:bodyPr>
          <a:lstStyle/>
          <a:p>
            <a:pPr algn="just">
              <a:lnSpc>
                <a:spcPts val="3139"/>
              </a:lnSpc>
              <a:spcBef>
                <a:spcPct val="0"/>
              </a:spcBef>
            </a:pPr>
            <a:r>
              <a:rPr lang="en-US" sz="2552">
                <a:solidFill>
                  <a:srgbClr val="000000"/>
                </a:solidFill>
                <a:latin typeface="League Spartan"/>
                <a:ea typeface="League Spartan"/>
                <a:cs typeface="League Spartan"/>
                <a:sym typeface="League Spartan"/>
              </a:rPr>
              <a:t>Business Question: </a:t>
            </a:r>
          </a:p>
        </p:txBody>
      </p:sp>
      <p:sp>
        <p:nvSpPr>
          <p:cNvPr id="12" name="TextBox 12"/>
          <p:cNvSpPr txBox="1"/>
          <p:nvPr/>
        </p:nvSpPr>
        <p:spPr>
          <a:xfrm>
            <a:off x="4033558" y="2449586"/>
            <a:ext cx="9476432" cy="521586"/>
          </a:xfrm>
          <a:prstGeom prst="rect">
            <a:avLst/>
          </a:prstGeom>
        </p:spPr>
        <p:txBody>
          <a:bodyPr lIns="0" tIns="0" rIns="0" bIns="0" rtlCol="0" anchor="t">
            <a:spAutoFit/>
          </a:bodyPr>
          <a:lstStyle/>
          <a:p>
            <a:pPr algn="l">
              <a:lnSpc>
                <a:spcPts val="3745"/>
              </a:lnSpc>
            </a:pPr>
            <a:r>
              <a:rPr lang="en-US" sz="3044">
                <a:solidFill>
                  <a:srgbClr val="000000"/>
                </a:solidFill>
                <a:latin typeface="Futura"/>
                <a:ea typeface="Futura"/>
                <a:cs typeface="Futura"/>
                <a:sym typeface="Futura"/>
              </a:rPr>
              <a:t>Who are the highest-scoring students in each subject?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3377045" y="8611654"/>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7016" y="-1309999"/>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1778653" y="3314252"/>
            <a:ext cx="15480647" cy="3104635"/>
          </a:xfrm>
          <a:prstGeom prst="rect">
            <a:avLst/>
          </a:prstGeom>
        </p:spPr>
        <p:txBody>
          <a:bodyPr lIns="0" tIns="0" rIns="0" bIns="0" rtlCol="0" anchor="t">
            <a:spAutoFit/>
          </a:bodyPr>
          <a:lstStyle/>
          <a:p>
            <a:pPr algn="l">
              <a:lnSpc>
                <a:spcPts val="4069"/>
              </a:lnSpc>
            </a:pPr>
            <a:r>
              <a:rPr lang="en-US" sz="3308" b="1">
                <a:solidFill>
                  <a:srgbClr val="000000"/>
                </a:solidFill>
                <a:latin typeface="Futura Bold"/>
                <a:ea typeface="Futura Bold"/>
                <a:cs typeface="Futura Bold"/>
                <a:sym typeface="Futura Bold"/>
              </a:rPr>
              <a:t>SQL:</a:t>
            </a:r>
          </a:p>
          <a:p>
            <a:pPr marL="714240" lvl="1" indent="-357120" algn="l">
              <a:lnSpc>
                <a:spcPts val="4069"/>
              </a:lnSpc>
              <a:buFont typeface="Arial"/>
              <a:buChar char="•"/>
            </a:pPr>
            <a:r>
              <a:rPr lang="en-US" sz="3308">
                <a:solidFill>
                  <a:srgbClr val="000000"/>
                </a:solidFill>
                <a:latin typeface="Futura"/>
                <a:ea typeface="Futura"/>
                <a:cs typeface="Futura"/>
                <a:sym typeface="Futura"/>
              </a:rPr>
              <a:t>Group attendance as Present/Late vs. Absent/Excused.</a:t>
            </a:r>
          </a:p>
          <a:p>
            <a:pPr marL="714240" lvl="1" indent="-357120" algn="l">
              <a:lnSpc>
                <a:spcPts val="4069"/>
              </a:lnSpc>
              <a:buFont typeface="Arial"/>
              <a:buChar char="•"/>
            </a:pPr>
            <a:r>
              <a:rPr lang="en-US" sz="3308">
                <a:solidFill>
                  <a:srgbClr val="000000"/>
                </a:solidFill>
                <a:latin typeface="Futura"/>
                <a:ea typeface="Futura"/>
                <a:cs typeface="Futura"/>
                <a:sym typeface="Futura"/>
              </a:rPr>
              <a:t>Calculate counts and attendance rate for each subject.</a:t>
            </a:r>
          </a:p>
          <a:p>
            <a:pPr marL="714240" lvl="1" indent="-357120" algn="l">
              <a:lnSpc>
                <a:spcPts val="4069"/>
              </a:lnSpc>
              <a:buFont typeface="Arial"/>
              <a:buChar char="•"/>
            </a:pPr>
            <a:r>
              <a:rPr lang="en-US" sz="3308">
                <a:solidFill>
                  <a:srgbClr val="000000"/>
                </a:solidFill>
                <a:latin typeface="Futura"/>
                <a:ea typeface="Futura"/>
                <a:cs typeface="Futura"/>
                <a:sym typeface="Futura"/>
              </a:rPr>
              <a:t>Order results by engagement level.</a:t>
            </a:r>
          </a:p>
          <a:p>
            <a:pPr algn="l">
              <a:lnSpc>
                <a:spcPts val="4069"/>
              </a:lnSpc>
            </a:pPr>
            <a:endParaRPr lang="en-US" sz="3308">
              <a:solidFill>
                <a:srgbClr val="000000"/>
              </a:solidFill>
              <a:latin typeface="Futura"/>
              <a:ea typeface="Futura"/>
              <a:cs typeface="Futura"/>
              <a:sym typeface="Futura"/>
            </a:endParaRPr>
          </a:p>
          <a:p>
            <a:pPr algn="l">
              <a:lnSpc>
                <a:spcPts val="4069"/>
              </a:lnSpc>
            </a:pPr>
            <a:r>
              <a:rPr lang="en-US" sz="3308" b="1">
                <a:solidFill>
                  <a:srgbClr val="000000"/>
                </a:solidFill>
                <a:latin typeface="Futura Bold"/>
                <a:ea typeface="Futura Bold"/>
                <a:cs typeface="Futura Bold"/>
                <a:sym typeface="Futura Bold"/>
              </a:rPr>
              <a:t>Key Results:</a:t>
            </a:r>
          </a:p>
        </p:txBody>
      </p:sp>
      <p:sp>
        <p:nvSpPr>
          <p:cNvPr id="8" name="TextBox 8"/>
          <p:cNvSpPr txBox="1"/>
          <p:nvPr/>
        </p:nvSpPr>
        <p:spPr>
          <a:xfrm>
            <a:off x="271598" y="1009650"/>
            <a:ext cx="15124101" cy="808812"/>
          </a:xfrm>
          <a:prstGeom prst="rect">
            <a:avLst/>
          </a:prstGeom>
        </p:spPr>
        <p:txBody>
          <a:bodyPr lIns="0" tIns="0" rIns="0" bIns="0" rtlCol="0" anchor="t">
            <a:spAutoFit/>
          </a:bodyPr>
          <a:lstStyle/>
          <a:p>
            <a:pPr algn="just">
              <a:lnSpc>
                <a:spcPts val="6412"/>
              </a:lnSpc>
            </a:pPr>
            <a:r>
              <a:rPr lang="en-US" sz="5213">
                <a:solidFill>
                  <a:srgbClr val="000000"/>
                </a:solidFill>
                <a:latin typeface="League Spartan"/>
                <a:ea typeface="League Spartan"/>
                <a:cs typeface="League Spartan"/>
                <a:sym typeface="League Spartan"/>
              </a:rPr>
              <a:t>Query 2: Attendance Statistics by Subject</a:t>
            </a:r>
          </a:p>
        </p:txBody>
      </p:sp>
      <p:sp>
        <p:nvSpPr>
          <p:cNvPr id="9" name="TextBox 9"/>
          <p:cNvSpPr txBox="1"/>
          <p:nvPr/>
        </p:nvSpPr>
        <p:spPr>
          <a:xfrm>
            <a:off x="755249" y="2534266"/>
            <a:ext cx="3278309" cy="399851"/>
          </a:xfrm>
          <a:prstGeom prst="rect">
            <a:avLst/>
          </a:prstGeom>
        </p:spPr>
        <p:txBody>
          <a:bodyPr lIns="0" tIns="0" rIns="0" bIns="0" rtlCol="0" anchor="t">
            <a:spAutoFit/>
          </a:bodyPr>
          <a:lstStyle/>
          <a:p>
            <a:pPr algn="just">
              <a:lnSpc>
                <a:spcPts val="3139"/>
              </a:lnSpc>
              <a:spcBef>
                <a:spcPct val="0"/>
              </a:spcBef>
            </a:pPr>
            <a:r>
              <a:rPr lang="en-US" sz="2552">
                <a:solidFill>
                  <a:srgbClr val="000000"/>
                </a:solidFill>
                <a:latin typeface="League Spartan"/>
                <a:ea typeface="League Spartan"/>
                <a:cs typeface="League Spartan"/>
                <a:sym typeface="League Spartan"/>
              </a:rPr>
              <a:t>Business Question: </a:t>
            </a:r>
          </a:p>
        </p:txBody>
      </p:sp>
      <p:sp>
        <p:nvSpPr>
          <p:cNvPr id="10" name="TextBox 10"/>
          <p:cNvSpPr txBox="1"/>
          <p:nvPr/>
        </p:nvSpPr>
        <p:spPr>
          <a:xfrm>
            <a:off x="4033558" y="2449586"/>
            <a:ext cx="9476432" cy="521586"/>
          </a:xfrm>
          <a:prstGeom prst="rect">
            <a:avLst/>
          </a:prstGeom>
        </p:spPr>
        <p:txBody>
          <a:bodyPr lIns="0" tIns="0" rIns="0" bIns="0" rtlCol="0" anchor="t">
            <a:spAutoFit/>
          </a:bodyPr>
          <a:lstStyle/>
          <a:p>
            <a:pPr algn="l">
              <a:lnSpc>
                <a:spcPts val="3745"/>
              </a:lnSpc>
            </a:pPr>
            <a:r>
              <a:rPr lang="en-US" sz="3044">
                <a:solidFill>
                  <a:srgbClr val="000000"/>
                </a:solidFill>
                <a:latin typeface="Futura"/>
                <a:ea typeface="Futura"/>
                <a:cs typeface="Futura"/>
                <a:sym typeface="Futura"/>
              </a:rPr>
              <a:t>How does attendance differ across subjects?</a:t>
            </a:r>
          </a:p>
        </p:txBody>
      </p:sp>
      <p:sp>
        <p:nvSpPr>
          <p:cNvPr id="11" name="Freeform 11"/>
          <p:cNvSpPr/>
          <p:nvPr/>
        </p:nvSpPr>
        <p:spPr>
          <a:xfrm>
            <a:off x="-3454921" y="7504259"/>
            <a:ext cx="4709517" cy="4709517"/>
          </a:xfrm>
          <a:custGeom>
            <a:avLst/>
            <a:gdLst/>
            <a:ahLst/>
            <a:cxnLst/>
            <a:rect l="l" t="t" r="r" b="b"/>
            <a:pathLst>
              <a:path w="4709517" h="4709517">
                <a:moveTo>
                  <a:pt x="0" y="0"/>
                </a:moveTo>
                <a:lnTo>
                  <a:pt x="4709516" y="0"/>
                </a:lnTo>
                <a:lnTo>
                  <a:pt x="4709516" y="4709517"/>
                </a:lnTo>
                <a:lnTo>
                  <a:pt x="0" y="470951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2" name="Group 12"/>
          <p:cNvGrpSpPr/>
          <p:nvPr/>
        </p:nvGrpSpPr>
        <p:grpSpPr>
          <a:xfrm>
            <a:off x="0" y="9459925"/>
            <a:ext cx="18288000" cy="827075"/>
            <a:chOff x="0" y="0"/>
            <a:chExt cx="24384000" cy="1102766"/>
          </a:xfrm>
        </p:grpSpPr>
        <p:sp>
          <p:nvSpPr>
            <p:cNvPr id="13" name="Freeform 13"/>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0"/>
              <a:stretch>
                <a:fillRect/>
              </a:stretch>
            </a:blipFill>
            <a:ln cap="sq">
              <a:noFill/>
              <a:prstDash val="solid"/>
              <a:miter/>
            </a:ln>
          </p:spPr>
        </p:sp>
        <p:sp>
          <p:nvSpPr>
            <p:cNvPr id="14" name="Freeform 14"/>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1"/>
              <a:stretch>
                <a:fillRect/>
              </a:stretch>
            </a:blipFill>
            <a:ln cap="sq">
              <a:noFill/>
              <a:prstDash val="solid"/>
              <a:miter/>
            </a:ln>
          </p:spPr>
        </p:sp>
      </p:grpSp>
      <p:graphicFrame>
        <p:nvGraphicFramePr>
          <p:cNvPr id="15" name="Table 14">
            <a:extLst>
              <a:ext uri="{FF2B5EF4-FFF2-40B4-BE49-F238E27FC236}">
                <a16:creationId xmlns:a16="http://schemas.microsoft.com/office/drawing/2014/main" id="{9F1D49E1-F508-CEAF-3B25-9F928F2D74AC}"/>
              </a:ext>
            </a:extLst>
          </p:cNvPr>
          <p:cNvGraphicFramePr>
            <a:graphicFrameLocks noGrp="1"/>
          </p:cNvGraphicFramePr>
          <p:nvPr>
            <p:extLst>
              <p:ext uri="{D42A27DB-BD31-4B8C-83A1-F6EECF244321}">
                <p14:modId xmlns:p14="http://schemas.microsoft.com/office/powerpoint/2010/main" val="3732796086"/>
              </p:ext>
            </p:extLst>
          </p:nvPr>
        </p:nvGraphicFramePr>
        <p:xfrm>
          <a:off x="4365990" y="6169225"/>
          <a:ext cx="11940810" cy="3496710"/>
        </p:xfrm>
        <a:graphic>
          <a:graphicData uri="http://schemas.openxmlformats.org/drawingml/2006/table">
            <a:tbl>
              <a:tblPr/>
              <a:tblGrid>
                <a:gridCol w="2388162">
                  <a:extLst>
                    <a:ext uri="{9D8B030D-6E8A-4147-A177-3AD203B41FA5}">
                      <a16:colId xmlns:a16="http://schemas.microsoft.com/office/drawing/2014/main" val="3636306222"/>
                    </a:ext>
                  </a:extLst>
                </a:gridCol>
                <a:gridCol w="2388162">
                  <a:extLst>
                    <a:ext uri="{9D8B030D-6E8A-4147-A177-3AD203B41FA5}">
                      <a16:colId xmlns:a16="http://schemas.microsoft.com/office/drawing/2014/main" val="1441585302"/>
                    </a:ext>
                  </a:extLst>
                </a:gridCol>
                <a:gridCol w="2388162">
                  <a:extLst>
                    <a:ext uri="{9D8B030D-6E8A-4147-A177-3AD203B41FA5}">
                      <a16:colId xmlns:a16="http://schemas.microsoft.com/office/drawing/2014/main" val="1146010227"/>
                    </a:ext>
                  </a:extLst>
                </a:gridCol>
                <a:gridCol w="2388162">
                  <a:extLst>
                    <a:ext uri="{9D8B030D-6E8A-4147-A177-3AD203B41FA5}">
                      <a16:colId xmlns:a16="http://schemas.microsoft.com/office/drawing/2014/main" val="3191617101"/>
                    </a:ext>
                  </a:extLst>
                </a:gridCol>
                <a:gridCol w="2388162">
                  <a:extLst>
                    <a:ext uri="{9D8B030D-6E8A-4147-A177-3AD203B41FA5}">
                      <a16:colId xmlns:a16="http://schemas.microsoft.com/office/drawing/2014/main" val="3114966272"/>
                    </a:ext>
                  </a:extLst>
                </a:gridCol>
              </a:tblGrid>
              <a:tr h="582785">
                <a:tc>
                  <a:txBody>
                    <a:bodyPr/>
                    <a:lstStyle/>
                    <a:p>
                      <a:pPr>
                        <a:buNone/>
                      </a:pPr>
                      <a:r>
                        <a:rPr lang="en-US" b="1">
                          <a:solidFill>
                            <a:srgbClr val="FFFFFF"/>
                          </a:solidFill>
                          <a:effectLst/>
                        </a:rPr>
                        <a:t>Subject</a:t>
                      </a:r>
                    </a:p>
                  </a:txBody>
                  <a:tcPr anchor="ctr">
                    <a:lnL w="53340" cap="flat" cmpd="sng" algn="ctr">
                      <a:solidFill>
                        <a:srgbClr val="F14A16"/>
                      </a:solidFill>
                      <a:prstDash val="solid"/>
                      <a:round/>
                      <a:headEnd type="none" w="med" len="med"/>
                      <a:tailEnd type="none" w="med" len="med"/>
                    </a:lnL>
                    <a:lnR w="53340" cap="flat" cmpd="sng" algn="ctr">
                      <a:solidFill>
                        <a:srgbClr val="FFFFFF"/>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Present/Late</a:t>
                      </a:r>
                    </a:p>
                  </a:txBody>
                  <a:tcPr anchor="ctr">
                    <a:lnL w="53340" cap="flat" cmpd="sng" algn="ctr">
                      <a:solidFill>
                        <a:srgbClr val="FFFFFF"/>
                      </a:solidFill>
                      <a:prstDash val="solid"/>
                      <a:round/>
                      <a:headEnd type="none" w="med" len="med"/>
                      <a:tailEnd type="none" w="med" len="med"/>
                    </a:lnL>
                    <a:lnR w="53340" cap="flat" cmpd="sng" algn="ctr">
                      <a:solidFill>
                        <a:srgbClr val="FFFFFF"/>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Absent/Excused</a:t>
                      </a:r>
                    </a:p>
                  </a:txBody>
                  <a:tcPr anchor="ctr">
                    <a:lnL w="53340" cap="flat" cmpd="sng" algn="ctr">
                      <a:solidFill>
                        <a:srgbClr val="FFFFFF"/>
                      </a:solidFill>
                      <a:prstDash val="solid"/>
                      <a:round/>
                      <a:headEnd type="none" w="med" len="med"/>
                      <a:tailEnd type="none" w="med" len="med"/>
                    </a:lnL>
                    <a:lnR w="53340" cap="flat" cmpd="sng" algn="ctr">
                      <a:solidFill>
                        <a:srgbClr val="FFFFFF"/>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Attendance Rate</a:t>
                      </a:r>
                    </a:p>
                  </a:txBody>
                  <a:tcPr anchor="ctr">
                    <a:lnL w="53340" cap="flat" cmpd="sng" algn="ctr">
                      <a:solidFill>
                        <a:srgbClr val="FFFFFF"/>
                      </a:solidFill>
                      <a:prstDash val="solid"/>
                      <a:round/>
                      <a:headEnd type="none" w="med" len="med"/>
                      <a:tailEnd type="none" w="med" len="med"/>
                    </a:lnL>
                    <a:lnR w="53340" cap="flat" cmpd="sng" algn="ctr">
                      <a:solidFill>
                        <a:srgbClr val="FFFFFF"/>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Status</a:t>
                      </a:r>
                    </a:p>
                  </a:txBody>
                  <a:tcPr anchor="ctr">
                    <a:lnL w="53340" cap="flat" cmpd="sng" algn="ctr">
                      <a:solidFill>
                        <a:srgbClr val="FFFFFF"/>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1274086772"/>
                  </a:ext>
                </a:extLst>
              </a:tr>
              <a:tr h="582785">
                <a:tc>
                  <a:txBody>
                    <a:bodyPr/>
                    <a:lstStyle/>
                    <a:p>
                      <a:pPr>
                        <a:buNone/>
                      </a:pPr>
                      <a:r>
                        <a:rPr lang="en-US" b="1">
                          <a:effectLst/>
                        </a:rPr>
                        <a:t>Biology</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655</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613</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51.66%</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Best</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912704756"/>
                  </a:ext>
                </a:extLst>
              </a:tr>
              <a:tr h="582785">
                <a:tc>
                  <a:txBody>
                    <a:bodyPr/>
                    <a:lstStyle/>
                    <a:p>
                      <a:pPr>
                        <a:buNone/>
                      </a:pPr>
                      <a:r>
                        <a:rPr lang="en-US" b="1">
                          <a:effectLst/>
                        </a:rPr>
                        <a:t>Math</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640</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616</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50.96%</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Moderate</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094110838"/>
                  </a:ext>
                </a:extLst>
              </a:tr>
              <a:tr h="582785">
                <a:tc>
                  <a:txBody>
                    <a:bodyPr/>
                    <a:lstStyle/>
                    <a:p>
                      <a:pPr>
                        <a:buNone/>
                      </a:pPr>
                      <a:r>
                        <a:rPr lang="en-US" b="1">
                          <a:effectLst/>
                        </a:rPr>
                        <a:t>English</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630</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624</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50.24%</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Moderate</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636186024"/>
                  </a:ext>
                </a:extLst>
              </a:tr>
              <a:tr h="582785">
                <a:tc>
                  <a:txBody>
                    <a:bodyPr/>
                    <a:lstStyle/>
                    <a:p>
                      <a:pPr>
                        <a:buNone/>
                      </a:pPr>
                      <a:r>
                        <a:rPr lang="en-US" b="1">
                          <a:effectLst/>
                        </a:rPr>
                        <a:t>Chemistry</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592</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650</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47.67%</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Low</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385555105"/>
                  </a:ext>
                </a:extLst>
              </a:tr>
              <a:tr h="582785">
                <a:tc>
                  <a:txBody>
                    <a:bodyPr/>
                    <a:lstStyle/>
                    <a:p>
                      <a:pPr>
                        <a:buNone/>
                      </a:pPr>
                      <a:r>
                        <a:rPr lang="en-US" b="1">
                          <a:effectLst/>
                        </a:rPr>
                        <a:t>Physics</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589</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651</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47.50%</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tc>
                  <a:txBody>
                    <a:bodyPr/>
                    <a:lstStyle/>
                    <a:p>
                      <a:pPr>
                        <a:buNone/>
                      </a:pPr>
                      <a:r>
                        <a:rPr lang="en-US" dirty="0">
                          <a:effectLst/>
                        </a:rPr>
                        <a:t>Lowest</a:t>
                      </a:r>
                    </a:p>
                  </a:txBody>
                  <a:tcPr anchor="ctr">
                    <a:lnL w="53340" cap="flat" cmpd="sng" algn="ctr">
                      <a:solidFill>
                        <a:srgbClr val="F14A16"/>
                      </a:solidFill>
                      <a:prstDash val="solid"/>
                      <a:round/>
                      <a:headEnd type="none" w="med" len="med"/>
                      <a:tailEnd type="none" w="med" len="med"/>
                    </a:lnL>
                    <a:lnR w="53340" cap="flat" cmpd="sng" algn="ctr">
                      <a:solidFill>
                        <a:srgbClr val="F14A16"/>
                      </a:solidFill>
                      <a:prstDash val="solid"/>
                      <a:round/>
                      <a:headEnd type="none" w="med" len="med"/>
                      <a:tailEnd type="none" w="med" len="med"/>
                    </a:lnR>
                    <a:lnT w="53340" cap="flat" cmpd="sng" algn="ctr">
                      <a:solidFill>
                        <a:srgbClr val="F14A16"/>
                      </a:solidFill>
                      <a:prstDash val="solid"/>
                      <a:round/>
                      <a:headEnd type="none" w="med" len="med"/>
                      <a:tailEnd type="none" w="med" len="med"/>
                    </a:lnT>
                    <a:lnB w="5334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471768467"/>
                  </a:ext>
                </a:extLst>
              </a:tr>
            </a:tbl>
          </a:graphicData>
        </a:graphic>
      </p:graphicFrame>
      <p:sp>
        <p:nvSpPr>
          <p:cNvPr id="16" name="Rectangle 1">
            <a:extLst>
              <a:ext uri="{FF2B5EF4-FFF2-40B4-BE49-F238E27FC236}">
                <a16:creationId xmlns:a16="http://schemas.microsoft.com/office/drawing/2014/main" id="{C55FDEB8-EBDF-1F12-CBA5-5ED1CA4C7FCD}"/>
              </a:ext>
            </a:extLst>
          </p:cNvPr>
          <p:cNvSpPr>
            <a:spLocks noChangeArrowheads="1"/>
          </p:cNvSpPr>
          <p:nvPr/>
        </p:nvSpPr>
        <p:spPr bwMode="auto">
          <a:xfrm>
            <a:off x="4365989" y="6169021"/>
            <a:ext cx="2653513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2628304" y="9248084"/>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rot="7159567">
            <a:off x="15529972" y="-5054419"/>
            <a:ext cx="8175621" cy="8175621"/>
          </a:xfrm>
          <a:custGeom>
            <a:avLst/>
            <a:gdLst/>
            <a:ahLst/>
            <a:cxnLst/>
            <a:rect l="l" t="t" r="r" b="b"/>
            <a:pathLst>
              <a:path w="8175621" h="8175621">
                <a:moveTo>
                  <a:pt x="0" y="0"/>
                </a:moveTo>
                <a:lnTo>
                  <a:pt x="8175621" y="0"/>
                </a:lnTo>
                <a:lnTo>
                  <a:pt x="8175621" y="8175621"/>
                </a:lnTo>
                <a:lnTo>
                  <a:pt x="0" y="8175621"/>
                </a:lnTo>
                <a:lnTo>
                  <a:pt x="0" y="0"/>
                </a:lnTo>
                <a:close/>
              </a:path>
            </a:pathLst>
          </a:custGeom>
          <a:blipFill>
            <a:blip r:embed="rId4">
              <a:alphaModFix amt="87000"/>
              <a:extLst>
                <a:ext uri="{96DAC541-7B7A-43D3-8B79-37D633B846F1}">
                  <asvg:svgBlip xmlns:asvg="http://schemas.microsoft.com/office/drawing/2016/SVG/main" r:embed="rId5"/>
                </a:ext>
              </a:extLst>
            </a:blip>
            <a:stretch>
              <a:fillRect/>
            </a:stretch>
          </a:blipFill>
        </p:spPr>
      </p:sp>
      <p:sp>
        <p:nvSpPr>
          <p:cNvPr id="4" name="Freeform 4"/>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07016" y="-1309999"/>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0" y="9459925"/>
            <a:ext cx="18288000" cy="827075"/>
            <a:chOff x="0" y="0"/>
            <a:chExt cx="24384000" cy="1102766"/>
          </a:xfrm>
        </p:grpSpPr>
        <p:sp>
          <p:nvSpPr>
            <p:cNvPr id="7" name="Freeform 7"/>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8" name="Freeform 8"/>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sp>
        <p:nvSpPr>
          <p:cNvPr id="9" name="Freeform 9"/>
          <p:cNvSpPr/>
          <p:nvPr/>
        </p:nvSpPr>
        <p:spPr>
          <a:xfrm>
            <a:off x="-107016" y="-1309999"/>
            <a:ext cx="1740378" cy="1769331"/>
          </a:xfrm>
          <a:custGeom>
            <a:avLst/>
            <a:gdLst/>
            <a:ahLst/>
            <a:cxnLst/>
            <a:rect l="l" t="t" r="r" b="b"/>
            <a:pathLst>
              <a:path w="1740378" h="1769331">
                <a:moveTo>
                  <a:pt x="0" y="0"/>
                </a:moveTo>
                <a:lnTo>
                  <a:pt x="1740379" y="0"/>
                </a:lnTo>
                <a:lnTo>
                  <a:pt x="1740379" y="1769332"/>
                </a:lnTo>
                <a:lnTo>
                  <a:pt x="0" y="17693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271598" y="1009650"/>
            <a:ext cx="14506390" cy="808812"/>
          </a:xfrm>
          <a:prstGeom prst="rect">
            <a:avLst/>
          </a:prstGeom>
        </p:spPr>
        <p:txBody>
          <a:bodyPr lIns="0" tIns="0" rIns="0" bIns="0" rtlCol="0" anchor="t">
            <a:spAutoFit/>
          </a:bodyPr>
          <a:lstStyle/>
          <a:p>
            <a:pPr algn="just">
              <a:lnSpc>
                <a:spcPts val="6412"/>
              </a:lnSpc>
            </a:pPr>
            <a:r>
              <a:rPr lang="en-US" sz="5213">
                <a:solidFill>
                  <a:srgbClr val="000000"/>
                </a:solidFill>
                <a:latin typeface="League Spartan"/>
                <a:ea typeface="League Spartan"/>
                <a:cs typeface="League Spartan"/>
                <a:sym typeface="League Spartan"/>
              </a:rPr>
              <a:t>Query 3: Subject Performance Averages</a:t>
            </a:r>
          </a:p>
        </p:txBody>
      </p:sp>
      <p:sp>
        <p:nvSpPr>
          <p:cNvPr id="11" name="TextBox 11"/>
          <p:cNvSpPr txBox="1"/>
          <p:nvPr/>
        </p:nvSpPr>
        <p:spPr>
          <a:xfrm>
            <a:off x="1778653" y="3314252"/>
            <a:ext cx="15480647" cy="3104635"/>
          </a:xfrm>
          <a:prstGeom prst="rect">
            <a:avLst/>
          </a:prstGeom>
        </p:spPr>
        <p:txBody>
          <a:bodyPr lIns="0" tIns="0" rIns="0" bIns="0" rtlCol="0" anchor="t">
            <a:spAutoFit/>
          </a:bodyPr>
          <a:lstStyle/>
          <a:p>
            <a:pPr algn="l">
              <a:lnSpc>
                <a:spcPts val="4069"/>
              </a:lnSpc>
            </a:pPr>
            <a:r>
              <a:rPr lang="en-US" sz="3308" b="1">
                <a:solidFill>
                  <a:srgbClr val="000000"/>
                </a:solidFill>
                <a:latin typeface="Futura Bold"/>
                <a:ea typeface="Futura Bold"/>
                <a:cs typeface="Futura Bold"/>
                <a:sym typeface="Futura Bold"/>
              </a:rPr>
              <a:t>SQL:</a:t>
            </a:r>
          </a:p>
          <a:p>
            <a:pPr marL="714240" lvl="1" indent="-357120" algn="l">
              <a:lnSpc>
                <a:spcPts val="4069"/>
              </a:lnSpc>
              <a:buFont typeface="Arial"/>
              <a:buChar char="•"/>
            </a:pPr>
            <a:r>
              <a:rPr lang="en-US" sz="3308">
                <a:solidFill>
                  <a:srgbClr val="000000"/>
                </a:solidFill>
                <a:latin typeface="Futura"/>
                <a:ea typeface="Futura"/>
                <a:cs typeface="Futura"/>
                <a:sym typeface="Futura"/>
              </a:rPr>
              <a:t>Compute average score per subject.</a:t>
            </a:r>
          </a:p>
          <a:p>
            <a:pPr marL="714240" lvl="1" indent="-357120" algn="l">
              <a:lnSpc>
                <a:spcPts val="4069"/>
              </a:lnSpc>
              <a:buFont typeface="Arial"/>
              <a:buChar char="•"/>
            </a:pPr>
            <a:r>
              <a:rPr lang="en-US" sz="3308">
                <a:solidFill>
                  <a:srgbClr val="000000"/>
                </a:solidFill>
                <a:latin typeface="Futura"/>
                <a:ea typeface="Futura"/>
                <a:cs typeface="Futura"/>
                <a:sym typeface="Futura"/>
              </a:rPr>
              <a:t>Rank from lowest to highest.</a:t>
            </a:r>
          </a:p>
          <a:p>
            <a:pPr marL="714240" lvl="1" indent="-357120" algn="l">
              <a:lnSpc>
                <a:spcPts val="4069"/>
              </a:lnSpc>
              <a:buFont typeface="Arial"/>
              <a:buChar char="•"/>
            </a:pPr>
            <a:r>
              <a:rPr lang="en-US" sz="3308">
                <a:solidFill>
                  <a:srgbClr val="000000"/>
                </a:solidFill>
                <a:latin typeface="Futura"/>
                <a:ea typeface="Futura"/>
                <a:cs typeface="Futura"/>
                <a:sym typeface="Futura"/>
              </a:rPr>
              <a:t>Analyze score variance to check curriculum balance.</a:t>
            </a:r>
          </a:p>
          <a:p>
            <a:pPr algn="l">
              <a:lnSpc>
                <a:spcPts val="4069"/>
              </a:lnSpc>
            </a:pPr>
            <a:endParaRPr lang="en-US" sz="3308">
              <a:solidFill>
                <a:srgbClr val="000000"/>
              </a:solidFill>
              <a:latin typeface="Futura"/>
              <a:ea typeface="Futura"/>
              <a:cs typeface="Futura"/>
              <a:sym typeface="Futura"/>
            </a:endParaRPr>
          </a:p>
          <a:p>
            <a:pPr algn="l">
              <a:lnSpc>
                <a:spcPts val="4069"/>
              </a:lnSpc>
            </a:pPr>
            <a:r>
              <a:rPr lang="en-US" sz="3308" b="1">
                <a:solidFill>
                  <a:srgbClr val="000000"/>
                </a:solidFill>
                <a:latin typeface="Futura Bold"/>
                <a:ea typeface="Futura Bold"/>
                <a:cs typeface="Futura Bold"/>
                <a:sym typeface="Futura Bold"/>
              </a:rPr>
              <a:t>Key Results:</a:t>
            </a:r>
          </a:p>
        </p:txBody>
      </p:sp>
      <p:sp>
        <p:nvSpPr>
          <p:cNvPr id="13" name="TextBox 13"/>
          <p:cNvSpPr txBox="1"/>
          <p:nvPr/>
        </p:nvSpPr>
        <p:spPr>
          <a:xfrm>
            <a:off x="755249" y="2534266"/>
            <a:ext cx="3278309" cy="399851"/>
          </a:xfrm>
          <a:prstGeom prst="rect">
            <a:avLst/>
          </a:prstGeom>
        </p:spPr>
        <p:txBody>
          <a:bodyPr lIns="0" tIns="0" rIns="0" bIns="0" rtlCol="0" anchor="t">
            <a:spAutoFit/>
          </a:bodyPr>
          <a:lstStyle/>
          <a:p>
            <a:pPr algn="just">
              <a:lnSpc>
                <a:spcPts val="3139"/>
              </a:lnSpc>
              <a:spcBef>
                <a:spcPct val="0"/>
              </a:spcBef>
            </a:pPr>
            <a:r>
              <a:rPr lang="en-US" sz="2552">
                <a:solidFill>
                  <a:srgbClr val="000000"/>
                </a:solidFill>
                <a:latin typeface="League Spartan"/>
                <a:ea typeface="League Spartan"/>
                <a:cs typeface="League Spartan"/>
                <a:sym typeface="League Spartan"/>
              </a:rPr>
              <a:t>Business Question: </a:t>
            </a:r>
          </a:p>
        </p:txBody>
      </p:sp>
      <p:sp>
        <p:nvSpPr>
          <p:cNvPr id="14" name="TextBox 14"/>
          <p:cNvSpPr txBox="1"/>
          <p:nvPr/>
        </p:nvSpPr>
        <p:spPr>
          <a:xfrm>
            <a:off x="4033558" y="2449586"/>
            <a:ext cx="10524669" cy="521586"/>
          </a:xfrm>
          <a:prstGeom prst="rect">
            <a:avLst/>
          </a:prstGeom>
        </p:spPr>
        <p:txBody>
          <a:bodyPr lIns="0" tIns="0" rIns="0" bIns="0" rtlCol="0" anchor="t">
            <a:spAutoFit/>
          </a:bodyPr>
          <a:lstStyle/>
          <a:p>
            <a:pPr algn="l">
              <a:lnSpc>
                <a:spcPts val="3745"/>
              </a:lnSpc>
            </a:pPr>
            <a:r>
              <a:rPr lang="en-US" sz="3044">
                <a:solidFill>
                  <a:srgbClr val="000000"/>
                </a:solidFill>
                <a:latin typeface="Futura"/>
                <a:ea typeface="Futura"/>
                <a:cs typeface="Futura"/>
                <a:sym typeface="Futura"/>
              </a:rPr>
              <a:t>Which subjects are hardest, and which are performing well?</a:t>
            </a:r>
          </a:p>
        </p:txBody>
      </p:sp>
      <p:graphicFrame>
        <p:nvGraphicFramePr>
          <p:cNvPr id="15" name="Table 14">
            <a:extLst>
              <a:ext uri="{FF2B5EF4-FFF2-40B4-BE49-F238E27FC236}">
                <a16:creationId xmlns:a16="http://schemas.microsoft.com/office/drawing/2014/main" id="{9A083AF1-4A21-14FC-286D-31BE779C7D66}"/>
              </a:ext>
            </a:extLst>
          </p:cNvPr>
          <p:cNvGraphicFramePr>
            <a:graphicFrameLocks noGrp="1"/>
          </p:cNvGraphicFramePr>
          <p:nvPr>
            <p:extLst>
              <p:ext uri="{D42A27DB-BD31-4B8C-83A1-F6EECF244321}">
                <p14:modId xmlns:p14="http://schemas.microsoft.com/office/powerpoint/2010/main" val="1261058715"/>
              </p:ext>
            </p:extLst>
          </p:nvPr>
        </p:nvGraphicFramePr>
        <p:xfrm>
          <a:off x="4018318" y="6531823"/>
          <a:ext cx="11907480" cy="3253740"/>
        </p:xfrm>
        <a:graphic>
          <a:graphicData uri="http://schemas.openxmlformats.org/drawingml/2006/table">
            <a:tbl>
              <a:tblPr/>
              <a:tblGrid>
                <a:gridCol w="2381496">
                  <a:extLst>
                    <a:ext uri="{9D8B030D-6E8A-4147-A177-3AD203B41FA5}">
                      <a16:colId xmlns:a16="http://schemas.microsoft.com/office/drawing/2014/main" val="1067109793"/>
                    </a:ext>
                  </a:extLst>
                </a:gridCol>
                <a:gridCol w="2381496">
                  <a:extLst>
                    <a:ext uri="{9D8B030D-6E8A-4147-A177-3AD203B41FA5}">
                      <a16:colId xmlns:a16="http://schemas.microsoft.com/office/drawing/2014/main" val="1398026618"/>
                    </a:ext>
                  </a:extLst>
                </a:gridCol>
                <a:gridCol w="2381496">
                  <a:extLst>
                    <a:ext uri="{9D8B030D-6E8A-4147-A177-3AD203B41FA5}">
                      <a16:colId xmlns:a16="http://schemas.microsoft.com/office/drawing/2014/main" val="3668344652"/>
                    </a:ext>
                  </a:extLst>
                </a:gridCol>
                <a:gridCol w="2381496">
                  <a:extLst>
                    <a:ext uri="{9D8B030D-6E8A-4147-A177-3AD203B41FA5}">
                      <a16:colId xmlns:a16="http://schemas.microsoft.com/office/drawing/2014/main" val="2784335113"/>
                    </a:ext>
                  </a:extLst>
                </a:gridCol>
                <a:gridCol w="2381496">
                  <a:extLst>
                    <a:ext uri="{9D8B030D-6E8A-4147-A177-3AD203B41FA5}">
                      <a16:colId xmlns:a16="http://schemas.microsoft.com/office/drawing/2014/main" val="3251248201"/>
                    </a:ext>
                  </a:extLst>
                </a:gridCol>
              </a:tblGrid>
              <a:tr h="502920">
                <a:tc>
                  <a:txBody>
                    <a:bodyPr/>
                    <a:lstStyle/>
                    <a:p>
                      <a:pPr>
                        <a:buNone/>
                      </a:pPr>
                      <a:r>
                        <a:rPr lang="en-US" b="1">
                          <a:solidFill>
                            <a:srgbClr val="FFFFFF"/>
                          </a:solidFill>
                          <a:effectLst/>
                        </a:rPr>
                        <a:t>Rank</a:t>
                      </a:r>
                    </a:p>
                  </a:txBody>
                  <a:tcPr anchor="ctr">
                    <a:lnL w="30480" cap="flat" cmpd="sng" algn="ctr">
                      <a:solidFill>
                        <a:srgbClr val="F14A16"/>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Subject</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Avg Score</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Difficulty</a:t>
                      </a:r>
                    </a:p>
                  </a:txBody>
                  <a:tcPr anchor="ctr">
                    <a:lnL w="30480" cap="flat" cmpd="sng" algn="ctr">
                      <a:solidFill>
                        <a:srgbClr val="FFFFFF"/>
                      </a:solidFill>
                      <a:prstDash val="solid"/>
                      <a:round/>
                      <a:headEnd type="none" w="med" len="med"/>
                      <a:tailEnd type="none" w="med" len="med"/>
                    </a:lnL>
                    <a:lnR w="30480" cap="flat" cmpd="sng" algn="ctr">
                      <a:solidFill>
                        <a:srgbClr val="FFFFFF"/>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Status</a:t>
                      </a:r>
                    </a:p>
                  </a:txBody>
                  <a:tcPr anchor="ctr">
                    <a:lnL w="30480" cap="flat" cmpd="sng" algn="ctr">
                      <a:solidFill>
                        <a:srgbClr val="FFFFFF"/>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661196768"/>
                  </a:ext>
                </a:extLst>
              </a:tr>
              <a:tr h="601980">
                <a:tc>
                  <a:txBody>
                    <a:bodyPr/>
                    <a:lstStyle/>
                    <a:p>
                      <a:pPr>
                        <a:buNone/>
                      </a:pPr>
                      <a:r>
                        <a:rPr lang="en-US" b="1">
                          <a:effectLst/>
                        </a:rPr>
                        <a:t>1</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Physics</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55.34</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Hardest</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Needs urgent intervention</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964772387"/>
                  </a:ext>
                </a:extLst>
              </a:tr>
              <a:tr h="502920">
                <a:tc>
                  <a:txBody>
                    <a:bodyPr/>
                    <a:lstStyle/>
                    <a:p>
                      <a:pPr>
                        <a:buNone/>
                      </a:pPr>
                      <a:r>
                        <a:rPr lang="en-US" b="1">
                          <a:effectLst/>
                        </a:rPr>
                        <a:t>2</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Math</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55.96</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Hard</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Needs support</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4063716360"/>
                  </a:ext>
                </a:extLst>
              </a:tr>
              <a:tr h="502920">
                <a:tc>
                  <a:txBody>
                    <a:bodyPr/>
                    <a:lstStyle/>
                    <a:p>
                      <a:pPr>
                        <a:buNone/>
                      </a:pPr>
                      <a:r>
                        <a:rPr lang="en-US" b="1">
                          <a:effectLst/>
                        </a:rPr>
                        <a:t>3</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Chemistry</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56.08</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Moderate</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Acceptable</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775135118"/>
                  </a:ext>
                </a:extLst>
              </a:tr>
              <a:tr h="601980">
                <a:tc>
                  <a:txBody>
                    <a:bodyPr/>
                    <a:lstStyle/>
                    <a:p>
                      <a:pPr>
                        <a:buNone/>
                      </a:pPr>
                      <a:r>
                        <a:rPr lang="en-US" b="1">
                          <a:effectLst/>
                        </a:rPr>
                        <a:t>4</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English</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56.59</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Easier</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Effective teaching</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862352937"/>
                  </a:ext>
                </a:extLst>
              </a:tr>
              <a:tr h="502920">
                <a:tc>
                  <a:txBody>
                    <a:bodyPr/>
                    <a:lstStyle/>
                    <a:p>
                      <a:pPr>
                        <a:buNone/>
                      </a:pPr>
                      <a:r>
                        <a:rPr lang="en-US" b="1">
                          <a:effectLst/>
                        </a:rPr>
                        <a:t>5</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Biology</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56.78</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a:effectLst/>
                        </a:rPr>
                        <a:t>Easiest</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tc>
                  <a:txBody>
                    <a:bodyPr/>
                    <a:lstStyle/>
                    <a:p>
                      <a:pPr>
                        <a:buNone/>
                      </a:pPr>
                      <a:r>
                        <a:rPr lang="en-US" dirty="0">
                          <a:effectLst/>
                        </a:rPr>
                        <a:t>Best practices</a:t>
                      </a:r>
                    </a:p>
                  </a:txBody>
                  <a:tcPr anchor="ctr">
                    <a:lnL w="30480" cap="flat" cmpd="sng" algn="ctr">
                      <a:solidFill>
                        <a:srgbClr val="F14A16"/>
                      </a:solidFill>
                      <a:prstDash val="solid"/>
                      <a:round/>
                      <a:headEnd type="none" w="med" len="med"/>
                      <a:tailEnd type="none" w="med" len="med"/>
                    </a:lnL>
                    <a:lnR w="30480" cap="flat" cmpd="sng" algn="ctr">
                      <a:solidFill>
                        <a:srgbClr val="F14A16"/>
                      </a:solidFill>
                      <a:prstDash val="solid"/>
                      <a:round/>
                      <a:headEnd type="none" w="med" len="med"/>
                      <a:tailEnd type="none" w="med" len="med"/>
                    </a:lnR>
                    <a:lnT w="30480" cap="flat" cmpd="sng" algn="ctr">
                      <a:solidFill>
                        <a:srgbClr val="F14A16"/>
                      </a:solidFill>
                      <a:prstDash val="solid"/>
                      <a:round/>
                      <a:headEnd type="none" w="med" len="med"/>
                      <a:tailEnd type="none" w="med" len="med"/>
                    </a:lnT>
                    <a:lnB w="304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692689176"/>
                  </a:ext>
                </a:extLst>
              </a:tr>
            </a:tbl>
          </a:graphicData>
        </a:graphic>
      </p:graphicFrame>
      <p:sp>
        <p:nvSpPr>
          <p:cNvPr id="16" name="Rectangle 1">
            <a:extLst>
              <a:ext uri="{FF2B5EF4-FFF2-40B4-BE49-F238E27FC236}">
                <a16:creationId xmlns:a16="http://schemas.microsoft.com/office/drawing/2014/main" id="{188951A5-D497-131A-4A0C-E26C355C6549}"/>
              </a:ext>
            </a:extLst>
          </p:cNvPr>
          <p:cNvSpPr>
            <a:spLocks noChangeArrowheads="1"/>
          </p:cNvSpPr>
          <p:nvPr/>
        </p:nvSpPr>
        <p:spPr bwMode="auto">
          <a:xfrm>
            <a:off x="4018317" y="6532300"/>
            <a:ext cx="2646107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50828" y="2648187"/>
            <a:ext cx="13478276" cy="1137734"/>
          </a:xfrm>
          <a:prstGeom prst="rect">
            <a:avLst/>
          </a:prstGeom>
        </p:spPr>
        <p:txBody>
          <a:bodyPr lIns="0" tIns="0" rIns="0" bIns="0" rtlCol="0" anchor="t">
            <a:spAutoFit/>
          </a:bodyPr>
          <a:lstStyle/>
          <a:p>
            <a:pPr algn="l">
              <a:lnSpc>
                <a:spcPts val="9061"/>
              </a:lnSpc>
            </a:pPr>
            <a:r>
              <a:rPr lang="en-US" sz="7367">
                <a:solidFill>
                  <a:srgbClr val="000000"/>
                </a:solidFill>
                <a:latin typeface="League Spartan"/>
                <a:ea typeface="League Spartan"/>
                <a:cs typeface="League Spartan"/>
                <a:sym typeface="League Spartan"/>
              </a:rPr>
              <a:t>Phase IV: Visual Analytics</a:t>
            </a:r>
          </a:p>
        </p:txBody>
      </p:sp>
      <p:sp>
        <p:nvSpPr>
          <p:cNvPr id="5" name="TextBox 5"/>
          <p:cNvSpPr txBox="1"/>
          <p:nvPr/>
        </p:nvSpPr>
        <p:spPr>
          <a:xfrm>
            <a:off x="749953" y="4810397"/>
            <a:ext cx="17224125" cy="2647773"/>
          </a:xfrm>
          <a:prstGeom prst="rect">
            <a:avLst/>
          </a:prstGeom>
        </p:spPr>
        <p:txBody>
          <a:bodyPr lIns="0" tIns="0" rIns="0" bIns="0" rtlCol="0" anchor="t">
            <a:spAutoFit/>
          </a:bodyPr>
          <a:lstStyle/>
          <a:p>
            <a:pPr algn="l">
              <a:lnSpc>
                <a:spcPts val="4209"/>
              </a:lnSpc>
            </a:pPr>
            <a:r>
              <a:rPr lang="en-US" sz="3006" b="1">
                <a:solidFill>
                  <a:srgbClr val="000000"/>
                </a:solidFill>
                <a:latin typeface="League Spartan"/>
                <a:ea typeface="League Spartan"/>
                <a:cs typeface="League Spartan"/>
                <a:sym typeface="League Spartan"/>
              </a:rPr>
              <a:t>Objective</a:t>
            </a:r>
          </a:p>
          <a:p>
            <a:pPr algn="l">
              <a:lnSpc>
                <a:spcPts val="4209"/>
              </a:lnSpc>
            </a:pPr>
            <a:endParaRPr lang="en-US" sz="3006" b="1">
              <a:solidFill>
                <a:srgbClr val="000000"/>
              </a:solidFill>
              <a:latin typeface="League Spartan"/>
              <a:ea typeface="League Spartan"/>
              <a:cs typeface="League Spartan"/>
              <a:sym typeface="League Spartan"/>
            </a:endParaRPr>
          </a:p>
          <a:p>
            <a:pPr marL="649203" lvl="1" indent="-324601" algn="l">
              <a:lnSpc>
                <a:spcPts val="4209"/>
              </a:lnSpc>
              <a:buFont typeface="Arial"/>
              <a:buChar char="•"/>
            </a:pPr>
            <a:r>
              <a:rPr lang="en-US" sz="3006" b="1">
                <a:solidFill>
                  <a:srgbClr val="000000"/>
                </a:solidFill>
                <a:latin typeface="League Spartan"/>
                <a:ea typeface="League Spartan"/>
                <a:cs typeface="League Spartan"/>
                <a:sym typeface="League Spartan"/>
              </a:rPr>
              <a:t>Transform the analytical results into clear, impactful visualizations that help non-technical stakeholders easily understand the insights and support data-driven decision-making.</a:t>
            </a:r>
          </a:p>
        </p:txBody>
      </p:sp>
      <p:sp>
        <p:nvSpPr>
          <p:cNvPr id="6" name="Freeform 6"/>
          <p:cNvSpPr/>
          <p:nvPr/>
        </p:nvSpPr>
        <p:spPr>
          <a:xfrm rot="-3313213">
            <a:off x="0" y="-1032003"/>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0" y="9459925"/>
            <a:ext cx="18288000" cy="827075"/>
            <a:chOff x="0" y="0"/>
            <a:chExt cx="24384000" cy="1102766"/>
          </a:xfrm>
        </p:grpSpPr>
        <p:sp>
          <p:nvSpPr>
            <p:cNvPr id="8" name="Freeform 8"/>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9" name="Freeform 9"/>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10" name="Freeform 10"/>
          <p:cNvSpPr/>
          <p:nvPr/>
        </p:nvSpPr>
        <p:spPr>
          <a:xfrm>
            <a:off x="16752061" y="-41449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7237201">
            <a:off x="-109133" y="-4375424"/>
            <a:ext cx="4709517" cy="4709517"/>
          </a:xfrm>
          <a:custGeom>
            <a:avLst/>
            <a:gdLst/>
            <a:ahLst/>
            <a:cxnLst/>
            <a:rect l="l" t="t" r="r" b="b"/>
            <a:pathLst>
              <a:path w="4709517" h="4709517">
                <a:moveTo>
                  <a:pt x="0" y="0"/>
                </a:moveTo>
                <a:lnTo>
                  <a:pt x="4709517" y="0"/>
                </a:lnTo>
                <a:lnTo>
                  <a:pt x="4709517" y="4709517"/>
                </a:lnTo>
                <a:lnTo>
                  <a:pt x="0" y="470951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rot="-862798">
            <a:off x="-4191850" y="-2354758"/>
            <a:ext cx="4709517" cy="4709517"/>
          </a:xfrm>
          <a:custGeom>
            <a:avLst/>
            <a:gdLst/>
            <a:ahLst/>
            <a:cxnLst/>
            <a:rect l="l" t="t" r="r" b="b"/>
            <a:pathLst>
              <a:path w="4709517" h="4709517">
                <a:moveTo>
                  <a:pt x="0" y="0"/>
                </a:moveTo>
                <a:lnTo>
                  <a:pt x="4709517" y="0"/>
                </a:lnTo>
                <a:lnTo>
                  <a:pt x="4709517" y="4709516"/>
                </a:lnTo>
                <a:lnTo>
                  <a:pt x="0" y="470951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90000"/>
          </a:blip>
          <a:stretch>
            <a:fillRect/>
          </a:stretch>
        </p:blipFill>
        <p:spPr>
          <a:xfrm>
            <a:off x="3148696" y="2558126"/>
            <a:ext cx="11990609" cy="7699392"/>
          </a:xfrm>
          <a:prstGeom prst="rect">
            <a:avLst/>
          </a:prstGeom>
        </p:spPr>
      </p:pic>
      <p:sp>
        <p:nvSpPr>
          <p:cNvPr id="3" name="TextBox 3"/>
          <p:cNvSpPr txBox="1"/>
          <p:nvPr/>
        </p:nvSpPr>
        <p:spPr>
          <a:xfrm>
            <a:off x="201788" y="466197"/>
            <a:ext cx="15707193" cy="843728"/>
          </a:xfrm>
          <a:prstGeom prst="rect">
            <a:avLst/>
          </a:prstGeom>
        </p:spPr>
        <p:txBody>
          <a:bodyPr lIns="0" tIns="0" rIns="0" bIns="0" rtlCol="0" anchor="t">
            <a:spAutoFit/>
          </a:bodyPr>
          <a:lstStyle/>
          <a:p>
            <a:pPr algn="l">
              <a:lnSpc>
                <a:spcPts val="6757"/>
              </a:lnSpc>
            </a:pPr>
            <a:r>
              <a:rPr lang="en-US" sz="5493">
                <a:solidFill>
                  <a:srgbClr val="000000"/>
                </a:solidFill>
                <a:latin typeface="League Spartan"/>
                <a:ea typeface="League Spartan"/>
                <a:cs typeface="League Spartan"/>
                <a:sym typeface="League Spartan"/>
              </a:rPr>
              <a:t>Visualization 1: Average Score per Subject</a:t>
            </a:r>
          </a:p>
        </p:txBody>
      </p:sp>
      <p:sp>
        <p:nvSpPr>
          <p:cNvPr id="4" name="TextBox 4"/>
          <p:cNvSpPr txBox="1"/>
          <p:nvPr/>
        </p:nvSpPr>
        <p:spPr>
          <a:xfrm>
            <a:off x="354121" y="1584559"/>
            <a:ext cx="15913097" cy="1701165"/>
          </a:xfrm>
          <a:prstGeom prst="rect">
            <a:avLst/>
          </a:prstGeom>
        </p:spPr>
        <p:txBody>
          <a:bodyPr lIns="0" tIns="0" rIns="0" bIns="0" rtlCol="0" anchor="t">
            <a:spAutoFit/>
          </a:bodyPr>
          <a:lstStyle/>
          <a:p>
            <a:pPr algn="l">
              <a:lnSpc>
                <a:spcPts val="4305"/>
              </a:lnSpc>
            </a:pPr>
            <a:r>
              <a:rPr lang="en-US" sz="3500" b="1">
                <a:solidFill>
                  <a:srgbClr val="000000"/>
                </a:solidFill>
                <a:latin typeface="Futura Bold"/>
                <a:ea typeface="Futura Bold"/>
                <a:cs typeface="Futura Bold"/>
                <a:sym typeface="Futura Bold"/>
              </a:rPr>
              <a:t>Type</a:t>
            </a:r>
            <a:r>
              <a:rPr lang="en-US" sz="3500">
                <a:solidFill>
                  <a:srgbClr val="000000"/>
                </a:solidFill>
                <a:latin typeface="Futura"/>
                <a:ea typeface="Futura"/>
                <a:cs typeface="Futura"/>
                <a:sym typeface="Futura"/>
              </a:rPr>
              <a:t>: Horizontal Bar Chart</a:t>
            </a:r>
          </a:p>
          <a:p>
            <a:pPr algn="l">
              <a:lnSpc>
                <a:spcPts val="4305"/>
              </a:lnSpc>
            </a:pPr>
            <a:r>
              <a:rPr lang="en-US" sz="3500" b="1">
                <a:solidFill>
                  <a:srgbClr val="000000"/>
                </a:solidFill>
                <a:latin typeface="Futura Bold"/>
                <a:ea typeface="Futura Bold"/>
                <a:cs typeface="Futura Bold"/>
                <a:sym typeface="Futura Bold"/>
              </a:rPr>
              <a:t>Insight</a:t>
            </a:r>
            <a:r>
              <a:rPr lang="en-US" sz="3500">
                <a:solidFill>
                  <a:srgbClr val="000000"/>
                </a:solidFill>
                <a:latin typeface="Futura"/>
                <a:ea typeface="Futura"/>
                <a:cs typeface="Futura"/>
                <a:sym typeface="Futura"/>
              </a:rPr>
              <a:t>: Physics scores are noticeably lower compared to other subjects.</a:t>
            </a:r>
          </a:p>
          <a:p>
            <a:pPr algn="l">
              <a:lnSpc>
                <a:spcPts val="4305"/>
              </a:lnSpc>
            </a:pPr>
            <a:r>
              <a:rPr lang="en-US" sz="3500" b="1">
                <a:solidFill>
                  <a:srgbClr val="000000"/>
                </a:solidFill>
                <a:latin typeface="Futura Bold"/>
                <a:ea typeface="Futura Bold"/>
                <a:cs typeface="Futura Bold"/>
                <a:sym typeface="Futura Bold"/>
              </a:rPr>
              <a:t>Action</a:t>
            </a:r>
            <a:r>
              <a:rPr lang="en-US" sz="3500">
                <a:solidFill>
                  <a:srgbClr val="000000"/>
                </a:solidFill>
                <a:latin typeface="Futura"/>
                <a:ea typeface="Futura"/>
                <a:cs typeface="Futura"/>
                <a:sym typeface="Futura"/>
              </a:rPr>
              <a:t>: Implement focused Physics support initiatives.</a:t>
            </a:r>
          </a:p>
        </p:txBody>
      </p:sp>
      <p:sp>
        <p:nvSpPr>
          <p:cNvPr id="5" name="Freeform 5"/>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3">
              <a:alphaModFix amt="96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7978119" y="19515"/>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4828088">
            <a:off x="17718549" y="-3323141"/>
            <a:ext cx="8175621" cy="8175621"/>
          </a:xfrm>
          <a:custGeom>
            <a:avLst/>
            <a:gdLst/>
            <a:ahLst/>
            <a:cxnLst/>
            <a:rect l="l" t="t" r="r" b="b"/>
            <a:pathLst>
              <a:path w="8175621" h="8175621">
                <a:moveTo>
                  <a:pt x="0" y="0"/>
                </a:moveTo>
                <a:lnTo>
                  <a:pt x="8175621" y="0"/>
                </a:lnTo>
                <a:lnTo>
                  <a:pt x="8175621" y="8175621"/>
                </a:lnTo>
                <a:lnTo>
                  <a:pt x="0" y="8175621"/>
                </a:lnTo>
                <a:lnTo>
                  <a:pt x="0" y="0"/>
                </a:lnTo>
                <a:close/>
              </a:path>
            </a:pathLst>
          </a:custGeom>
          <a:blipFill>
            <a:blip r:embed="rId7">
              <a:alphaModFix amt="87000"/>
              <a:extLst>
                <a:ext uri="{96DAC541-7B7A-43D3-8B79-37D633B846F1}">
                  <asvg:svgBlip xmlns:asvg="http://schemas.microsoft.com/office/drawing/2016/SVG/main" r:embed="rId8"/>
                </a:ext>
              </a:extLst>
            </a:blip>
            <a:stretch>
              <a:fillRect/>
            </a:stretch>
          </a:blipFill>
        </p:spPr>
      </p:sp>
      <p:grpSp>
        <p:nvGrpSpPr>
          <p:cNvPr id="8" name="Group 8"/>
          <p:cNvGrpSpPr/>
          <p:nvPr/>
        </p:nvGrpSpPr>
        <p:grpSpPr>
          <a:xfrm>
            <a:off x="0" y="9459925"/>
            <a:ext cx="18288000" cy="827075"/>
            <a:chOff x="0" y="0"/>
            <a:chExt cx="24384000" cy="1102766"/>
          </a:xfrm>
        </p:grpSpPr>
        <p:sp>
          <p:nvSpPr>
            <p:cNvPr id="9" name="Freeform 9"/>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9"/>
              <a:stretch>
                <a:fillRect/>
              </a:stretch>
            </a:blipFill>
            <a:ln cap="sq">
              <a:noFill/>
              <a:prstDash val="solid"/>
              <a:miter/>
            </a:ln>
          </p:spPr>
        </p:sp>
        <p:sp>
          <p:nvSpPr>
            <p:cNvPr id="10" name="Freeform 10"/>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0"/>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90000"/>
          </a:blip>
          <a:stretch>
            <a:fillRect/>
          </a:stretch>
        </p:blipFill>
        <p:spPr>
          <a:xfrm>
            <a:off x="931892" y="2028917"/>
            <a:ext cx="16424216" cy="9464358"/>
          </a:xfrm>
          <a:prstGeom prst="rect">
            <a:avLst/>
          </a:prstGeom>
        </p:spPr>
      </p:pic>
      <p:sp>
        <p:nvSpPr>
          <p:cNvPr id="3" name="TextBox 3"/>
          <p:cNvSpPr txBox="1"/>
          <p:nvPr/>
        </p:nvSpPr>
        <p:spPr>
          <a:xfrm>
            <a:off x="201788" y="466197"/>
            <a:ext cx="15707193" cy="843728"/>
          </a:xfrm>
          <a:prstGeom prst="rect">
            <a:avLst/>
          </a:prstGeom>
        </p:spPr>
        <p:txBody>
          <a:bodyPr lIns="0" tIns="0" rIns="0" bIns="0" rtlCol="0" anchor="t">
            <a:spAutoFit/>
          </a:bodyPr>
          <a:lstStyle/>
          <a:p>
            <a:pPr algn="l">
              <a:lnSpc>
                <a:spcPts val="6757"/>
              </a:lnSpc>
            </a:pPr>
            <a:r>
              <a:rPr lang="en-US" sz="5493">
                <a:solidFill>
                  <a:srgbClr val="000000"/>
                </a:solidFill>
                <a:latin typeface="League Spartan"/>
                <a:ea typeface="League Spartan"/>
                <a:cs typeface="League Spartan"/>
                <a:sym typeface="League Spartan"/>
              </a:rPr>
              <a:t>Visualization 2: Score Distribution</a:t>
            </a:r>
          </a:p>
        </p:txBody>
      </p:sp>
      <p:sp>
        <p:nvSpPr>
          <p:cNvPr id="4" name="TextBox 4"/>
          <p:cNvSpPr txBox="1"/>
          <p:nvPr/>
        </p:nvSpPr>
        <p:spPr>
          <a:xfrm>
            <a:off x="354121" y="1585354"/>
            <a:ext cx="15913097" cy="1158240"/>
          </a:xfrm>
          <a:prstGeom prst="rect">
            <a:avLst/>
          </a:prstGeom>
        </p:spPr>
        <p:txBody>
          <a:bodyPr lIns="0" tIns="0" rIns="0" bIns="0" rtlCol="0" anchor="t">
            <a:spAutoFit/>
          </a:bodyPr>
          <a:lstStyle/>
          <a:p>
            <a:pPr algn="l">
              <a:lnSpc>
                <a:spcPts val="4305"/>
              </a:lnSpc>
            </a:pPr>
            <a:r>
              <a:rPr lang="en-US" sz="3500" b="1">
                <a:solidFill>
                  <a:srgbClr val="000000"/>
                </a:solidFill>
                <a:latin typeface="Futura Bold"/>
                <a:ea typeface="Futura Bold"/>
                <a:cs typeface="Futura Bold"/>
                <a:sym typeface="Futura Bold"/>
              </a:rPr>
              <a:t>Type</a:t>
            </a:r>
            <a:r>
              <a:rPr lang="en-US" sz="3500">
                <a:solidFill>
                  <a:srgbClr val="000000"/>
                </a:solidFill>
                <a:latin typeface="Futura"/>
                <a:ea typeface="Futura"/>
                <a:cs typeface="Futura"/>
                <a:sym typeface="Futura"/>
              </a:rPr>
              <a:t>: Histogram</a:t>
            </a:r>
          </a:p>
          <a:p>
            <a:pPr algn="l">
              <a:lnSpc>
                <a:spcPts val="4305"/>
              </a:lnSpc>
            </a:pPr>
            <a:r>
              <a:rPr lang="en-US" sz="3500" b="1">
                <a:solidFill>
                  <a:srgbClr val="000000"/>
                </a:solidFill>
                <a:latin typeface="Futura Bold"/>
                <a:ea typeface="Futura Bold"/>
                <a:cs typeface="Futura Bold"/>
                <a:sym typeface="Futura Bold"/>
              </a:rPr>
              <a:t>Key Finding:</a:t>
            </a:r>
            <a:r>
              <a:rPr lang="en-US" sz="3500">
                <a:solidFill>
                  <a:srgbClr val="000000"/>
                </a:solidFill>
                <a:latin typeface="Futura"/>
                <a:ea typeface="Futura"/>
                <a:cs typeface="Futura"/>
                <a:sym typeface="Futura"/>
              </a:rPr>
              <a:t>The distribution is bimodal, revealing an attendance crisis.</a:t>
            </a:r>
          </a:p>
        </p:txBody>
      </p:sp>
      <p:sp>
        <p:nvSpPr>
          <p:cNvPr id="5" name="Freeform 5"/>
          <p:cNvSpPr/>
          <p:nvPr/>
        </p:nvSpPr>
        <p:spPr>
          <a:xfrm rot="3728645">
            <a:off x="-3537940" y="8386390"/>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3">
              <a:alphaModFix amt="96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7" name="Group 7"/>
          <p:cNvGrpSpPr/>
          <p:nvPr/>
        </p:nvGrpSpPr>
        <p:grpSpPr>
          <a:xfrm>
            <a:off x="0" y="9459925"/>
            <a:ext cx="18288000" cy="827075"/>
            <a:chOff x="0" y="0"/>
            <a:chExt cx="24384000" cy="1102766"/>
          </a:xfrm>
        </p:grpSpPr>
        <p:sp>
          <p:nvSpPr>
            <p:cNvPr id="8" name="Freeform 8"/>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7"/>
              <a:stretch>
                <a:fillRect/>
              </a:stretch>
            </a:blipFill>
            <a:ln cap="sq">
              <a:noFill/>
              <a:prstDash val="solid"/>
              <a:miter/>
            </a:ln>
          </p:spPr>
        </p:sp>
        <p:sp>
          <p:nvSpPr>
            <p:cNvPr id="9" name="Freeform 9"/>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8"/>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90000"/>
          </a:blip>
          <a:stretch>
            <a:fillRect/>
          </a:stretch>
        </p:blipFill>
        <p:spPr>
          <a:xfrm>
            <a:off x="5238934" y="3186282"/>
            <a:ext cx="7810133" cy="7551817"/>
          </a:xfrm>
          <a:prstGeom prst="rect">
            <a:avLst/>
          </a:prstGeom>
        </p:spPr>
      </p:pic>
      <p:sp>
        <p:nvSpPr>
          <p:cNvPr id="3" name="TextBox 3"/>
          <p:cNvSpPr txBox="1"/>
          <p:nvPr/>
        </p:nvSpPr>
        <p:spPr>
          <a:xfrm>
            <a:off x="201788" y="520303"/>
            <a:ext cx="16706630" cy="789622"/>
          </a:xfrm>
          <a:prstGeom prst="rect">
            <a:avLst/>
          </a:prstGeom>
        </p:spPr>
        <p:txBody>
          <a:bodyPr lIns="0" tIns="0" rIns="0" bIns="0" rtlCol="0" anchor="t">
            <a:spAutoFit/>
          </a:bodyPr>
          <a:lstStyle/>
          <a:p>
            <a:pPr algn="l">
              <a:lnSpc>
                <a:spcPts val="6242"/>
              </a:lnSpc>
            </a:pPr>
            <a:r>
              <a:rPr lang="en-US" sz="5074">
                <a:solidFill>
                  <a:srgbClr val="000000"/>
                </a:solidFill>
                <a:latin typeface="League Spartan"/>
                <a:ea typeface="League Spartan"/>
                <a:cs typeface="League Spartan"/>
                <a:sym typeface="League Spartan"/>
              </a:rPr>
              <a:t>Visualization 3: Attendance Status Distribution</a:t>
            </a:r>
          </a:p>
        </p:txBody>
      </p:sp>
      <p:sp>
        <p:nvSpPr>
          <p:cNvPr id="4" name="TextBox 4"/>
          <p:cNvSpPr txBox="1"/>
          <p:nvPr/>
        </p:nvSpPr>
        <p:spPr>
          <a:xfrm>
            <a:off x="354121" y="1584559"/>
            <a:ext cx="15913097" cy="5501640"/>
          </a:xfrm>
          <a:prstGeom prst="rect">
            <a:avLst/>
          </a:prstGeom>
        </p:spPr>
        <p:txBody>
          <a:bodyPr lIns="0" tIns="0" rIns="0" bIns="0" rtlCol="0" anchor="t">
            <a:spAutoFit/>
          </a:bodyPr>
          <a:lstStyle/>
          <a:p>
            <a:pPr algn="l">
              <a:lnSpc>
                <a:spcPts val="4305"/>
              </a:lnSpc>
            </a:pPr>
            <a:r>
              <a:rPr lang="en-US" sz="3500" b="1">
                <a:solidFill>
                  <a:srgbClr val="000000"/>
                </a:solidFill>
                <a:latin typeface="Futura Bold"/>
                <a:ea typeface="Futura Bold"/>
                <a:cs typeface="Futura Bold"/>
                <a:sym typeface="Futura Bold"/>
              </a:rPr>
              <a:t>Type</a:t>
            </a:r>
            <a:r>
              <a:rPr lang="en-US" sz="3500">
                <a:solidFill>
                  <a:srgbClr val="000000"/>
                </a:solidFill>
                <a:latin typeface="Futura"/>
                <a:ea typeface="Futura"/>
                <a:cs typeface="Futura"/>
                <a:sym typeface="Futura"/>
              </a:rPr>
              <a:t>: Pie Chart</a:t>
            </a:r>
          </a:p>
          <a:p>
            <a:pPr algn="l">
              <a:lnSpc>
                <a:spcPts val="4305"/>
              </a:lnSpc>
            </a:pPr>
            <a:endParaRPr lang="en-US" sz="3500">
              <a:solidFill>
                <a:srgbClr val="000000"/>
              </a:solidFill>
              <a:latin typeface="Futura"/>
              <a:ea typeface="Futura"/>
              <a:cs typeface="Futura"/>
              <a:sym typeface="Futura"/>
            </a:endParaRPr>
          </a:p>
          <a:p>
            <a:pPr algn="l">
              <a:lnSpc>
                <a:spcPts val="4305"/>
              </a:lnSpc>
            </a:pPr>
            <a:endParaRPr lang="en-US" sz="3500">
              <a:solidFill>
                <a:srgbClr val="000000"/>
              </a:solidFill>
              <a:latin typeface="Futura"/>
              <a:ea typeface="Futura"/>
              <a:cs typeface="Futura"/>
              <a:sym typeface="Futura"/>
            </a:endParaRPr>
          </a:p>
          <a:p>
            <a:pPr algn="l">
              <a:lnSpc>
                <a:spcPts val="4305"/>
              </a:lnSpc>
            </a:pPr>
            <a:r>
              <a:rPr lang="en-US" sz="3500" b="1">
                <a:solidFill>
                  <a:srgbClr val="000000"/>
                </a:solidFill>
                <a:latin typeface="Futura Bold"/>
                <a:ea typeface="Futura Bold"/>
                <a:cs typeface="Futura Bold"/>
                <a:sym typeface="Futura Bold"/>
              </a:rPr>
              <a:t>Breakdown</a:t>
            </a:r>
            <a:r>
              <a:rPr lang="en-US" sz="3500">
                <a:solidFill>
                  <a:srgbClr val="000000"/>
                </a:solidFill>
                <a:latin typeface="Futura"/>
                <a:ea typeface="Futura"/>
                <a:cs typeface="Futura"/>
                <a:sym typeface="Futura"/>
              </a:rPr>
              <a:t>:</a:t>
            </a:r>
          </a:p>
          <a:p>
            <a:pPr marL="755651" lvl="1" indent="-377825" algn="l">
              <a:lnSpc>
                <a:spcPts val="4305"/>
              </a:lnSpc>
              <a:buFont typeface="Arial"/>
              <a:buChar char="•"/>
            </a:pPr>
            <a:r>
              <a:rPr lang="en-US" sz="3500">
                <a:solidFill>
                  <a:srgbClr val="000000"/>
                </a:solidFill>
                <a:latin typeface="Futura"/>
                <a:ea typeface="Futura"/>
                <a:cs typeface="Futura"/>
                <a:sym typeface="Futura"/>
              </a:rPr>
              <a:t>Present: 26.9%</a:t>
            </a:r>
          </a:p>
          <a:p>
            <a:pPr marL="755651" lvl="1" indent="-377825" algn="l">
              <a:lnSpc>
                <a:spcPts val="4305"/>
              </a:lnSpc>
              <a:buFont typeface="Arial"/>
              <a:buChar char="•"/>
            </a:pPr>
            <a:r>
              <a:rPr lang="en-US" sz="3500">
                <a:solidFill>
                  <a:srgbClr val="000000"/>
                </a:solidFill>
                <a:latin typeface="Futura"/>
                <a:ea typeface="Futura"/>
                <a:cs typeface="Futura"/>
                <a:sym typeface="Futura"/>
              </a:rPr>
              <a:t>Late: 27.3%</a:t>
            </a:r>
          </a:p>
          <a:p>
            <a:pPr marL="755651" lvl="1" indent="-377825" algn="l">
              <a:lnSpc>
                <a:spcPts val="4305"/>
              </a:lnSpc>
              <a:buFont typeface="Arial"/>
              <a:buChar char="•"/>
            </a:pPr>
            <a:r>
              <a:rPr lang="en-US" sz="3500">
                <a:solidFill>
                  <a:srgbClr val="000000"/>
                </a:solidFill>
                <a:latin typeface="Futura"/>
                <a:ea typeface="Futura"/>
                <a:cs typeface="Futura"/>
                <a:sym typeface="Futura"/>
              </a:rPr>
              <a:t>Excused: 27.8%</a:t>
            </a:r>
          </a:p>
          <a:p>
            <a:pPr marL="755651" lvl="1" indent="-377825" algn="l">
              <a:lnSpc>
                <a:spcPts val="4305"/>
              </a:lnSpc>
              <a:buFont typeface="Arial"/>
              <a:buChar char="•"/>
            </a:pPr>
            <a:r>
              <a:rPr lang="en-US" sz="3500">
                <a:solidFill>
                  <a:srgbClr val="000000"/>
                </a:solidFill>
                <a:latin typeface="Futura"/>
                <a:ea typeface="Futura"/>
                <a:cs typeface="Futura"/>
                <a:sym typeface="Futura"/>
              </a:rPr>
              <a:t>Absent: 26.5%</a:t>
            </a:r>
          </a:p>
          <a:p>
            <a:pPr algn="l">
              <a:lnSpc>
                <a:spcPts val="4305"/>
              </a:lnSpc>
            </a:pPr>
            <a:endParaRPr lang="en-US" sz="3500">
              <a:solidFill>
                <a:srgbClr val="000000"/>
              </a:solidFill>
              <a:latin typeface="Futura"/>
              <a:ea typeface="Futura"/>
              <a:cs typeface="Futura"/>
              <a:sym typeface="Futura"/>
            </a:endParaRPr>
          </a:p>
          <a:p>
            <a:pPr algn="l">
              <a:lnSpc>
                <a:spcPts val="4305"/>
              </a:lnSpc>
            </a:pPr>
            <a:endParaRPr lang="en-US" sz="3500">
              <a:solidFill>
                <a:srgbClr val="000000"/>
              </a:solidFill>
              <a:latin typeface="Futura"/>
              <a:ea typeface="Futura"/>
              <a:cs typeface="Futura"/>
              <a:sym typeface="Futura"/>
            </a:endParaRPr>
          </a:p>
        </p:txBody>
      </p:sp>
      <p:sp>
        <p:nvSpPr>
          <p:cNvPr id="5" name="Freeform 5"/>
          <p:cNvSpPr/>
          <p:nvPr/>
        </p:nvSpPr>
        <p:spPr>
          <a:xfrm rot="3728645">
            <a:off x="-2122904" y="7956505"/>
            <a:ext cx="6303208" cy="6303208"/>
          </a:xfrm>
          <a:custGeom>
            <a:avLst/>
            <a:gdLst/>
            <a:ahLst/>
            <a:cxnLst/>
            <a:rect l="l" t="t" r="r" b="b"/>
            <a:pathLst>
              <a:path w="6303208" h="6303208">
                <a:moveTo>
                  <a:pt x="0" y="0"/>
                </a:moveTo>
                <a:lnTo>
                  <a:pt x="6303208" y="0"/>
                </a:lnTo>
                <a:lnTo>
                  <a:pt x="6303208" y="6303209"/>
                </a:lnTo>
                <a:lnTo>
                  <a:pt x="0" y="6303209"/>
                </a:lnTo>
                <a:lnTo>
                  <a:pt x="0" y="0"/>
                </a:lnTo>
                <a:close/>
              </a:path>
            </a:pathLst>
          </a:custGeom>
          <a:blipFill>
            <a:blip r:embed="rId3">
              <a:alphaModFix amt="96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7159567">
            <a:off x="16891272" y="7877937"/>
            <a:ext cx="8175621" cy="8175621"/>
          </a:xfrm>
          <a:custGeom>
            <a:avLst/>
            <a:gdLst/>
            <a:ahLst/>
            <a:cxnLst/>
            <a:rect l="l" t="t" r="r" b="b"/>
            <a:pathLst>
              <a:path w="8175621" h="8175621">
                <a:moveTo>
                  <a:pt x="0" y="0"/>
                </a:moveTo>
                <a:lnTo>
                  <a:pt x="8175622" y="0"/>
                </a:lnTo>
                <a:lnTo>
                  <a:pt x="8175622" y="8175621"/>
                </a:lnTo>
                <a:lnTo>
                  <a:pt x="0" y="8175621"/>
                </a:lnTo>
                <a:lnTo>
                  <a:pt x="0" y="0"/>
                </a:lnTo>
                <a:close/>
              </a:path>
            </a:pathLst>
          </a:custGeom>
          <a:blipFill>
            <a:blip r:embed="rId7">
              <a:alphaModFix amt="87000"/>
              <a:extLst>
                <a:ext uri="{96DAC541-7B7A-43D3-8B79-37D633B846F1}">
                  <asvg:svgBlip xmlns:asvg="http://schemas.microsoft.com/office/drawing/2016/SVG/main" r:embed="rId8"/>
                </a:ext>
              </a:extLst>
            </a:blip>
            <a:stretch>
              <a:fillRect/>
            </a:stretch>
          </a:blipFill>
        </p:spPr>
      </p:sp>
      <p:grpSp>
        <p:nvGrpSpPr>
          <p:cNvPr id="8" name="Group 8"/>
          <p:cNvGrpSpPr/>
          <p:nvPr/>
        </p:nvGrpSpPr>
        <p:grpSpPr>
          <a:xfrm>
            <a:off x="0" y="9459925"/>
            <a:ext cx="18288000" cy="827075"/>
            <a:chOff x="0" y="0"/>
            <a:chExt cx="24384000" cy="1102766"/>
          </a:xfrm>
        </p:grpSpPr>
        <p:sp>
          <p:nvSpPr>
            <p:cNvPr id="9" name="Freeform 9"/>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9"/>
              <a:stretch>
                <a:fillRect/>
              </a:stretch>
            </a:blipFill>
            <a:ln cap="sq">
              <a:noFill/>
              <a:prstDash val="solid"/>
              <a:miter/>
            </a:ln>
          </p:spPr>
        </p:sp>
        <p:sp>
          <p:nvSpPr>
            <p:cNvPr id="10" name="Freeform 10"/>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0"/>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90000"/>
          </a:blip>
          <a:stretch>
            <a:fillRect/>
          </a:stretch>
        </p:blipFill>
        <p:spPr>
          <a:xfrm>
            <a:off x="5275827" y="3013342"/>
            <a:ext cx="11990609" cy="7699392"/>
          </a:xfrm>
          <a:prstGeom prst="rect">
            <a:avLst/>
          </a:prstGeom>
        </p:spPr>
      </p:pic>
      <p:sp>
        <p:nvSpPr>
          <p:cNvPr id="3" name="TextBox 3"/>
          <p:cNvSpPr txBox="1"/>
          <p:nvPr/>
        </p:nvSpPr>
        <p:spPr>
          <a:xfrm>
            <a:off x="354121" y="627239"/>
            <a:ext cx="18533708" cy="726611"/>
          </a:xfrm>
          <a:prstGeom prst="rect">
            <a:avLst/>
          </a:prstGeom>
        </p:spPr>
        <p:txBody>
          <a:bodyPr lIns="0" tIns="0" rIns="0" bIns="0" rtlCol="0" anchor="t">
            <a:spAutoFit/>
          </a:bodyPr>
          <a:lstStyle/>
          <a:p>
            <a:pPr algn="l">
              <a:lnSpc>
                <a:spcPts val="5731"/>
              </a:lnSpc>
            </a:pPr>
            <a:r>
              <a:rPr lang="en-US" sz="4659">
                <a:solidFill>
                  <a:srgbClr val="000000"/>
                </a:solidFill>
                <a:latin typeface="League Spartan"/>
                <a:ea typeface="League Spartan"/>
                <a:cs typeface="League Spartan"/>
                <a:sym typeface="League Spartan"/>
              </a:rPr>
              <a:t>Visualization 4: Performance Decline by Academic Level</a:t>
            </a:r>
          </a:p>
        </p:txBody>
      </p:sp>
      <p:sp>
        <p:nvSpPr>
          <p:cNvPr id="4" name="TextBox 4"/>
          <p:cNvSpPr txBox="1"/>
          <p:nvPr/>
        </p:nvSpPr>
        <p:spPr>
          <a:xfrm>
            <a:off x="354121" y="1584559"/>
            <a:ext cx="15913097" cy="4958715"/>
          </a:xfrm>
          <a:prstGeom prst="rect">
            <a:avLst/>
          </a:prstGeom>
        </p:spPr>
        <p:txBody>
          <a:bodyPr lIns="0" tIns="0" rIns="0" bIns="0" rtlCol="0" anchor="t">
            <a:spAutoFit/>
          </a:bodyPr>
          <a:lstStyle/>
          <a:p>
            <a:pPr algn="l">
              <a:lnSpc>
                <a:spcPts val="4305"/>
              </a:lnSpc>
            </a:pPr>
            <a:r>
              <a:rPr lang="en-US" sz="3500" b="1">
                <a:solidFill>
                  <a:srgbClr val="000000"/>
                </a:solidFill>
                <a:latin typeface="Futura Bold"/>
                <a:ea typeface="Futura Bold"/>
                <a:cs typeface="Futura Bold"/>
                <a:sym typeface="Futura Bold"/>
              </a:rPr>
              <a:t>Type</a:t>
            </a:r>
            <a:r>
              <a:rPr lang="en-US" sz="3500">
                <a:solidFill>
                  <a:srgbClr val="000000"/>
                </a:solidFill>
                <a:latin typeface="Futura"/>
                <a:ea typeface="Futura"/>
                <a:cs typeface="Futura"/>
                <a:sym typeface="Futura"/>
              </a:rPr>
              <a:t>: Line Graph</a:t>
            </a:r>
          </a:p>
          <a:p>
            <a:pPr algn="l">
              <a:lnSpc>
                <a:spcPts val="4305"/>
              </a:lnSpc>
            </a:pPr>
            <a:endParaRPr lang="en-US" sz="3500">
              <a:solidFill>
                <a:srgbClr val="000000"/>
              </a:solidFill>
              <a:latin typeface="Futura"/>
              <a:ea typeface="Futura"/>
              <a:cs typeface="Futura"/>
              <a:sym typeface="Futura"/>
            </a:endParaRPr>
          </a:p>
          <a:p>
            <a:pPr algn="l">
              <a:lnSpc>
                <a:spcPts val="4305"/>
              </a:lnSpc>
            </a:pPr>
            <a:r>
              <a:rPr lang="en-US" sz="3500" b="1">
                <a:solidFill>
                  <a:srgbClr val="000000"/>
                </a:solidFill>
                <a:latin typeface="Futura Bold"/>
                <a:ea typeface="Futura Bold"/>
                <a:cs typeface="Futura Bold"/>
                <a:sym typeface="Futura Bold"/>
              </a:rPr>
              <a:t>Declining Performance Trend</a:t>
            </a:r>
            <a:r>
              <a:rPr lang="en-US" sz="3500">
                <a:solidFill>
                  <a:srgbClr val="000000"/>
                </a:solidFill>
                <a:latin typeface="Futura"/>
                <a:ea typeface="Futura"/>
                <a:cs typeface="Futura"/>
                <a:sym typeface="Futura"/>
              </a:rPr>
              <a:t>:</a:t>
            </a:r>
          </a:p>
          <a:p>
            <a:pPr algn="l">
              <a:lnSpc>
                <a:spcPts val="4305"/>
              </a:lnSpc>
            </a:pPr>
            <a:endParaRPr lang="en-US" sz="3500">
              <a:solidFill>
                <a:srgbClr val="000000"/>
              </a:solidFill>
              <a:latin typeface="Futura"/>
              <a:ea typeface="Futura"/>
              <a:cs typeface="Futura"/>
              <a:sym typeface="Futura"/>
            </a:endParaRPr>
          </a:p>
          <a:p>
            <a:pPr marL="755651" lvl="1" indent="-377825" algn="l">
              <a:lnSpc>
                <a:spcPts val="4305"/>
              </a:lnSpc>
              <a:buFont typeface="Arial"/>
              <a:buChar char="•"/>
            </a:pPr>
            <a:r>
              <a:rPr lang="en-US" sz="3500">
                <a:solidFill>
                  <a:srgbClr val="000000"/>
                </a:solidFill>
                <a:latin typeface="Futura"/>
                <a:ea typeface="Futura"/>
                <a:cs typeface="Futura"/>
                <a:sym typeface="Futura"/>
              </a:rPr>
              <a:t>Freshman: 57.2</a:t>
            </a:r>
          </a:p>
          <a:p>
            <a:pPr marL="755651" lvl="1" indent="-377825" algn="l">
              <a:lnSpc>
                <a:spcPts val="4305"/>
              </a:lnSpc>
              <a:buFont typeface="Arial"/>
              <a:buChar char="•"/>
            </a:pPr>
            <a:r>
              <a:rPr lang="en-US" sz="3500">
                <a:solidFill>
                  <a:srgbClr val="000000"/>
                </a:solidFill>
                <a:latin typeface="Futura"/>
                <a:ea typeface="Futura"/>
                <a:cs typeface="Futura"/>
                <a:sym typeface="Futura"/>
              </a:rPr>
              <a:t>Junior: 55.8</a:t>
            </a:r>
          </a:p>
          <a:p>
            <a:pPr marL="755651" lvl="1" indent="-377825" algn="l">
              <a:lnSpc>
                <a:spcPts val="4305"/>
              </a:lnSpc>
              <a:buFont typeface="Arial"/>
              <a:buChar char="•"/>
            </a:pPr>
            <a:r>
              <a:rPr lang="en-US" sz="3500">
                <a:solidFill>
                  <a:srgbClr val="000000"/>
                </a:solidFill>
                <a:latin typeface="Futura"/>
                <a:ea typeface="Futura"/>
                <a:cs typeface="Futura"/>
                <a:sym typeface="Futura"/>
              </a:rPr>
              <a:t>Sophomore: 55.5</a:t>
            </a:r>
          </a:p>
          <a:p>
            <a:pPr marL="755651" lvl="1" indent="-377825" algn="l">
              <a:lnSpc>
                <a:spcPts val="4305"/>
              </a:lnSpc>
              <a:buFont typeface="Arial"/>
              <a:buChar char="•"/>
            </a:pPr>
            <a:r>
              <a:rPr lang="en-US" sz="3500">
                <a:solidFill>
                  <a:srgbClr val="000000"/>
                </a:solidFill>
                <a:latin typeface="Futura"/>
                <a:ea typeface="Futura"/>
                <a:cs typeface="Futura"/>
                <a:sym typeface="Futura"/>
              </a:rPr>
              <a:t>Senior: 54.2</a:t>
            </a:r>
          </a:p>
          <a:p>
            <a:pPr algn="l">
              <a:lnSpc>
                <a:spcPts val="4305"/>
              </a:lnSpc>
            </a:pPr>
            <a:endParaRPr lang="en-US" sz="3500">
              <a:solidFill>
                <a:srgbClr val="000000"/>
              </a:solidFill>
              <a:latin typeface="Futura"/>
              <a:ea typeface="Futura"/>
              <a:cs typeface="Futura"/>
              <a:sym typeface="Futura"/>
            </a:endParaRPr>
          </a:p>
        </p:txBody>
      </p:sp>
      <p:sp>
        <p:nvSpPr>
          <p:cNvPr id="5" name="Freeform 5"/>
          <p:cNvSpPr/>
          <p:nvPr/>
        </p:nvSpPr>
        <p:spPr>
          <a:xfrm rot="3728645">
            <a:off x="17759251" y="-2647310"/>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3">
              <a:alphaModFix amt="96000"/>
              <a:extLst>
                <a:ext uri="{96DAC541-7B7A-43D3-8B79-37D633B846F1}">
                  <asvg:svgBlip xmlns:asvg="http://schemas.microsoft.com/office/drawing/2016/SVG/main" r:embed="rId4"/>
                </a:ext>
              </a:extLst>
            </a:blip>
            <a:stretch>
              <a:fillRect/>
            </a:stretch>
          </a:blipFill>
        </p:spPr>
      </p:sp>
      <p:sp>
        <p:nvSpPr>
          <p:cNvPr id="6" name="Freeform 6"/>
          <p:cNvSpPr/>
          <p:nvPr/>
        </p:nvSpPr>
        <p:spPr>
          <a:xfrm rot="-2772162">
            <a:off x="17799895" y="9413692"/>
            <a:ext cx="1499906" cy="1746616"/>
          </a:xfrm>
          <a:custGeom>
            <a:avLst/>
            <a:gdLst/>
            <a:ahLst/>
            <a:cxnLst/>
            <a:rect l="l" t="t" r="r" b="b"/>
            <a:pathLst>
              <a:path w="1499906" h="1746616">
                <a:moveTo>
                  <a:pt x="0" y="0"/>
                </a:moveTo>
                <a:lnTo>
                  <a:pt x="1499907" y="0"/>
                </a:lnTo>
                <a:lnTo>
                  <a:pt x="1499907" y="1746616"/>
                </a:lnTo>
                <a:lnTo>
                  <a:pt x="0" y="17466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7159567">
            <a:off x="-6695216" y="8341297"/>
            <a:ext cx="8175621" cy="8175621"/>
          </a:xfrm>
          <a:custGeom>
            <a:avLst/>
            <a:gdLst/>
            <a:ahLst/>
            <a:cxnLst/>
            <a:rect l="l" t="t" r="r" b="b"/>
            <a:pathLst>
              <a:path w="8175621" h="8175621">
                <a:moveTo>
                  <a:pt x="0" y="0"/>
                </a:moveTo>
                <a:lnTo>
                  <a:pt x="8175621" y="0"/>
                </a:lnTo>
                <a:lnTo>
                  <a:pt x="8175621" y="8175621"/>
                </a:lnTo>
                <a:lnTo>
                  <a:pt x="0" y="8175621"/>
                </a:lnTo>
                <a:lnTo>
                  <a:pt x="0" y="0"/>
                </a:lnTo>
                <a:close/>
              </a:path>
            </a:pathLst>
          </a:custGeom>
          <a:blipFill>
            <a:blip r:embed="rId7">
              <a:alphaModFix amt="87000"/>
              <a:extLst>
                <a:ext uri="{96DAC541-7B7A-43D3-8B79-37D633B846F1}">
                  <asvg:svgBlip xmlns:asvg="http://schemas.microsoft.com/office/drawing/2016/SVG/main" r:embed="rId8"/>
                </a:ext>
              </a:extLst>
            </a:blip>
            <a:stretch>
              <a:fillRect/>
            </a:stretch>
          </a:blipFill>
        </p:spPr>
      </p:sp>
      <p:sp>
        <p:nvSpPr>
          <p:cNvPr id="8" name="Freeform 8"/>
          <p:cNvSpPr/>
          <p:nvPr/>
        </p:nvSpPr>
        <p:spPr>
          <a:xfrm rot="7159567">
            <a:off x="16891272" y="7877937"/>
            <a:ext cx="8175621" cy="8175621"/>
          </a:xfrm>
          <a:custGeom>
            <a:avLst/>
            <a:gdLst/>
            <a:ahLst/>
            <a:cxnLst/>
            <a:rect l="l" t="t" r="r" b="b"/>
            <a:pathLst>
              <a:path w="8175621" h="8175621">
                <a:moveTo>
                  <a:pt x="0" y="0"/>
                </a:moveTo>
                <a:lnTo>
                  <a:pt x="8175622" y="0"/>
                </a:lnTo>
                <a:lnTo>
                  <a:pt x="8175622" y="8175621"/>
                </a:lnTo>
                <a:lnTo>
                  <a:pt x="0" y="8175621"/>
                </a:lnTo>
                <a:lnTo>
                  <a:pt x="0" y="0"/>
                </a:lnTo>
                <a:close/>
              </a:path>
            </a:pathLst>
          </a:custGeom>
          <a:blipFill>
            <a:blip r:embed="rId7">
              <a:alphaModFix amt="87000"/>
              <a:extLst>
                <a:ext uri="{96DAC541-7B7A-43D3-8B79-37D633B846F1}">
                  <asvg:svgBlip xmlns:asvg="http://schemas.microsoft.com/office/drawing/2016/SVG/main" r:embed="rId8"/>
                </a:ext>
              </a:extLst>
            </a:blip>
            <a:stretch>
              <a:fillRect/>
            </a:stretch>
          </a:blipFill>
        </p:spPr>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9"/>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0"/>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5544068" y="3944251"/>
            <a:ext cx="6303208" cy="6303208"/>
          </a:xfrm>
          <a:custGeom>
            <a:avLst/>
            <a:gdLst/>
            <a:ahLst/>
            <a:cxnLst/>
            <a:rect l="l" t="t" r="r" b="b"/>
            <a:pathLst>
              <a:path w="6303208" h="6303208">
                <a:moveTo>
                  <a:pt x="0" y="0"/>
                </a:moveTo>
                <a:lnTo>
                  <a:pt x="6303209" y="0"/>
                </a:lnTo>
                <a:lnTo>
                  <a:pt x="6303209"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289404" y="661549"/>
            <a:ext cx="13588893" cy="988958"/>
          </a:xfrm>
          <a:prstGeom prst="rect">
            <a:avLst/>
          </a:prstGeom>
        </p:spPr>
        <p:txBody>
          <a:bodyPr lIns="0" tIns="0" rIns="0" bIns="0" rtlCol="0" anchor="t">
            <a:spAutoFit/>
          </a:bodyPr>
          <a:lstStyle/>
          <a:p>
            <a:pPr algn="l">
              <a:lnSpc>
                <a:spcPts val="7856"/>
              </a:lnSpc>
            </a:pPr>
            <a:r>
              <a:rPr lang="en-US" sz="6387">
                <a:solidFill>
                  <a:srgbClr val="000000"/>
                </a:solidFill>
                <a:latin typeface="League Spartan"/>
                <a:ea typeface="League Spartan"/>
                <a:cs typeface="League Spartan"/>
                <a:sym typeface="League Spartan"/>
              </a:rPr>
              <a:t>Visualization 5: Top 10 Students</a:t>
            </a:r>
          </a:p>
        </p:txBody>
      </p:sp>
      <p:sp>
        <p:nvSpPr>
          <p:cNvPr id="6" name="TextBox 6"/>
          <p:cNvSpPr txBox="1"/>
          <p:nvPr/>
        </p:nvSpPr>
        <p:spPr>
          <a:xfrm>
            <a:off x="460345" y="2110795"/>
            <a:ext cx="8491965" cy="1843864"/>
          </a:xfrm>
          <a:prstGeom prst="rect">
            <a:avLst/>
          </a:prstGeom>
        </p:spPr>
        <p:txBody>
          <a:bodyPr lIns="0" tIns="0" rIns="0" bIns="0" rtlCol="0" anchor="t">
            <a:spAutoFit/>
          </a:bodyPr>
          <a:lstStyle/>
          <a:p>
            <a:pPr algn="l">
              <a:lnSpc>
                <a:spcPts val="3544"/>
              </a:lnSpc>
              <a:spcBef>
                <a:spcPct val="0"/>
              </a:spcBef>
            </a:pPr>
            <a:r>
              <a:rPr lang="en-US" sz="2881" b="1">
                <a:solidFill>
                  <a:srgbClr val="000000"/>
                </a:solidFill>
                <a:latin typeface="Futura Bold"/>
                <a:ea typeface="Futura Bold"/>
                <a:cs typeface="Futura Bold"/>
                <a:sym typeface="Futura Bold"/>
              </a:rPr>
              <a:t>Positive Finding:</a:t>
            </a:r>
          </a:p>
          <a:p>
            <a:pPr marL="622200" lvl="1" indent="-311100" algn="l">
              <a:lnSpc>
                <a:spcPts val="3544"/>
              </a:lnSpc>
              <a:buFont typeface="Arial"/>
              <a:buChar char="•"/>
            </a:pPr>
            <a:r>
              <a:rPr lang="en-US" sz="2881">
                <a:solidFill>
                  <a:srgbClr val="000000"/>
                </a:solidFill>
                <a:latin typeface="Futura"/>
                <a:ea typeface="Futura"/>
                <a:cs typeface="Futura"/>
                <a:sym typeface="Futura"/>
              </a:rPr>
              <a:t>All top 10 score 89+ (A-grade excellence)</a:t>
            </a:r>
          </a:p>
          <a:p>
            <a:pPr marL="622200" lvl="1" indent="-311100" algn="l">
              <a:lnSpc>
                <a:spcPts val="3544"/>
              </a:lnSpc>
              <a:buFont typeface="Arial"/>
              <a:buChar char="•"/>
            </a:pPr>
            <a:r>
              <a:rPr lang="en-US" sz="2881">
                <a:solidFill>
                  <a:srgbClr val="000000"/>
                </a:solidFill>
                <a:latin typeface="Futura"/>
                <a:ea typeface="Futura"/>
                <a:cs typeface="Futura"/>
                <a:sym typeface="Futura"/>
              </a:rPr>
              <a:t>Score spread: 89-98 (tight clustering)</a:t>
            </a:r>
          </a:p>
          <a:p>
            <a:pPr marL="622200" lvl="1" indent="-311100" algn="l">
              <a:lnSpc>
                <a:spcPts val="3544"/>
              </a:lnSpc>
              <a:buFont typeface="Arial"/>
              <a:buChar char="•"/>
            </a:pPr>
            <a:r>
              <a:rPr lang="en-US" sz="2881">
                <a:solidFill>
                  <a:srgbClr val="000000"/>
                </a:solidFill>
                <a:latin typeface="Futura"/>
                <a:ea typeface="Futura"/>
                <a:cs typeface="Futura"/>
                <a:sym typeface="Futura"/>
              </a:rPr>
              <a:t>These students demonstrate achievable excellence</a:t>
            </a:r>
          </a:p>
        </p:txBody>
      </p:sp>
      <p:grpSp>
        <p:nvGrpSpPr>
          <p:cNvPr id="7" name="Group 7"/>
          <p:cNvGrpSpPr/>
          <p:nvPr/>
        </p:nvGrpSpPr>
        <p:grpSpPr>
          <a:xfrm>
            <a:off x="0" y="9459925"/>
            <a:ext cx="18288000" cy="827075"/>
            <a:chOff x="0" y="0"/>
            <a:chExt cx="24384000" cy="1102766"/>
          </a:xfrm>
        </p:grpSpPr>
        <p:sp>
          <p:nvSpPr>
            <p:cNvPr id="8" name="Freeform 8"/>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9" name="Freeform 9"/>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graphicFrame>
        <p:nvGraphicFramePr>
          <p:cNvPr id="10" name="Table 9">
            <a:extLst>
              <a:ext uri="{FF2B5EF4-FFF2-40B4-BE49-F238E27FC236}">
                <a16:creationId xmlns:a16="http://schemas.microsoft.com/office/drawing/2014/main" id="{26C7BFA5-58FD-0FB2-1C5A-A7F37F7F79EB}"/>
              </a:ext>
            </a:extLst>
          </p:cNvPr>
          <p:cNvGraphicFramePr>
            <a:graphicFrameLocks noGrp="1"/>
          </p:cNvGraphicFramePr>
          <p:nvPr>
            <p:extLst>
              <p:ext uri="{D42A27DB-BD31-4B8C-83A1-F6EECF244321}">
                <p14:modId xmlns:p14="http://schemas.microsoft.com/office/powerpoint/2010/main" val="2436094215"/>
              </p:ext>
            </p:extLst>
          </p:nvPr>
        </p:nvGraphicFramePr>
        <p:xfrm>
          <a:off x="4648200" y="4686300"/>
          <a:ext cx="11201400" cy="4525961"/>
        </p:xfrm>
        <a:graphic>
          <a:graphicData uri="http://schemas.openxmlformats.org/drawingml/2006/table">
            <a:tbl>
              <a:tblPr/>
              <a:tblGrid>
                <a:gridCol w="2800350">
                  <a:extLst>
                    <a:ext uri="{9D8B030D-6E8A-4147-A177-3AD203B41FA5}">
                      <a16:colId xmlns:a16="http://schemas.microsoft.com/office/drawing/2014/main" val="48757689"/>
                    </a:ext>
                  </a:extLst>
                </a:gridCol>
                <a:gridCol w="2800350">
                  <a:extLst>
                    <a:ext uri="{9D8B030D-6E8A-4147-A177-3AD203B41FA5}">
                      <a16:colId xmlns:a16="http://schemas.microsoft.com/office/drawing/2014/main" val="1624361473"/>
                    </a:ext>
                  </a:extLst>
                </a:gridCol>
                <a:gridCol w="2800350">
                  <a:extLst>
                    <a:ext uri="{9D8B030D-6E8A-4147-A177-3AD203B41FA5}">
                      <a16:colId xmlns:a16="http://schemas.microsoft.com/office/drawing/2014/main" val="979384912"/>
                    </a:ext>
                  </a:extLst>
                </a:gridCol>
                <a:gridCol w="2800350">
                  <a:extLst>
                    <a:ext uri="{9D8B030D-6E8A-4147-A177-3AD203B41FA5}">
                      <a16:colId xmlns:a16="http://schemas.microsoft.com/office/drawing/2014/main" val="1220392665"/>
                    </a:ext>
                  </a:extLst>
                </a:gridCol>
              </a:tblGrid>
              <a:tr h="281455">
                <a:tc>
                  <a:txBody>
                    <a:bodyPr/>
                    <a:lstStyle/>
                    <a:p>
                      <a:pPr>
                        <a:buNone/>
                      </a:pPr>
                      <a:r>
                        <a:rPr lang="en-US" sz="1200" b="1">
                          <a:solidFill>
                            <a:srgbClr val="FFFFFF"/>
                          </a:solidFill>
                          <a:effectLst/>
                        </a:rPr>
                        <a:t>Rank</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FFFFF"/>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14A16"/>
                    </a:solidFill>
                  </a:tcPr>
                </a:tc>
                <a:tc>
                  <a:txBody>
                    <a:bodyPr/>
                    <a:lstStyle/>
                    <a:p>
                      <a:pPr>
                        <a:buNone/>
                      </a:pPr>
                      <a:r>
                        <a:rPr lang="en-US" sz="1200" b="1">
                          <a:solidFill>
                            <a:srgbClr val="FFFFFF"/>
                          </a:solidFill>
                          <a:effectLst/>
                        </a:rPr>
                        <a:t>Student Name</a:t>
                      </a:r>
                    </a:p>
                  </a:txBody>
                  <a:tcPr marL="62906" marR="62906" marT="31453" marB="31453" anchor="ctr">
                    <a:lnL w="68580" cap="flat" cmpd="sng" algn="ctr">
                      <a:solidFill>
                        <a:srgbClr val="FFFFFF"/>
                      </a:solidFill>
                      <a:prstDash val="solid"/>
                      <a:round/>
                      <a:headEnd type="none" w="med" len="med"/>
                      <a:tailEnd type="none" w="med" len="med"/>
                    </a:lnL>
                    <a:lnR w="68580" cap="flat" cmpd="sng" algn="ctr">
                      <a:solidFill>
                        <a:srgbClr val="FFFFFF"/>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14A16"/>
                    </a:solidFill>
                  </a:tcPr>
                </a:tc>
                <a:tc>
                  <a:txBody>
                    <a:bodyPr/>
                    <a:lstStyle/>
                    <a:p>
                      <a:pPr>
                        <a:buNone/>
                      </a:pPr>
                      <a:r>
                        <a:rPr lang="en-US" sz="1200" b="1">
                          <a:solidFill>
                            <a:srgbClr val="FFFFFF"/>
                          </a:solidFill>
                          <a:effectLst/>
                        </a:rPr>
                        <a:t>Score</a:t>
                      </a:r>
                    </a:p>
                  </a:txBody>
                  <a:tcPr marL="62906" marR="62906" marT="31453" marB="31453" anchor="ctr">
                    <a:lnL w="68580" cap="flat" cmpd="sng" algn="ctr">
                      <a:solidFill>
                        <a:srgbClr val="FFFFFF"/>
                      </a:solidFill>
                      <a:prstDash val="solid"/>
                      <a:round/>
                      <a:headEnd type="none" w="med" len="med"/>
                      <a:tailEnd type="none" w="med" len="med"/>
                    </a:lnL>
                    <a:lnR w="68580" cap="flat" cmpd="sng" algn="ctr">
                      <a:solidFill>
                        <a:srgbClr val="FFFFFF"/>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14A16"/>
                    </a:solidFill>
                  </a:tcPr>
                </a:tc>
                <a:tc>
                  <a:txBody>
                    <a:bodyPr/>
                    <a:lstStyle/>
                    <a:p>
                      <a:pPr>
                        <a:buNone/>
                      </a:pPr>
                      <a:r>
                        <a:rPr lang="en-US" sz="1200" b="1" dirty="0">
                          <a:solidFill>
                            <a:srgbClr val="FFFFFF"/>
                          </a:solidFill>
                          <a:effectLst/>
                        </a:rPr>
                        <a:t>Grade</a:t>
                      </a:r>
                    </a:p>
                  </a:txBody>
                  <a:tcPr marL="62906" marR="62906" marT="31453" marB="31453" anchor="ctr">
                    <a:lnL w="68580" cap="flat" cmpd="sng" algn="ctr">
                      <a:solidFill>
                        <a:srgbClr val="FFFFFF"/>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14A16"/>
                    </a:solidFill>
                  </a:tcPr>
                </a:tc>
                <a:extLst>
                  <a:ext uri="{0D108BD9-81ED-4DB2-BD59-A6C34878D82A}">
                    <a16:rowId xmlns:a16="http://schemas.microsoft.com/office/drawing/2014/main" val="3326626909"/>
                  </a:ext>
                </a:extLst>
              </a:tr>
              <a:tr h="440339">
                <a:tc>
                  <a:txBody>
                    <a:bodyPr/>
                    <a:lstStyle/>
                    <a:p>
                      <a:pPr>
                        <a:buNone/>
                      </a:pPr>
                      <a:r>
                        <a:rPr lang="en-US" sz="1200" b="1" dirty="0">
                          <a:effectLst/>
                        </a:rPr>
                        <a:t>1</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dirty="0">
                          <a:effectLst/>
                        </a:rPr>
                        <a:t>Lawrence Thomas Armstrong</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98</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794361774"/>
                  </a:ext>
                </a:extLst>
              </a:tr>
              <a:tr h="440339">
                <a:tc>
                  <a:txBody>
                    <a:bodyPr/>
                    <a:lstStyle/>
                    <a:p>
                      <a:pPr>
                        <a:buNone/>
                      </a:pPr>
                      <a:r>
                        <a:rPr lang="en-US" sz="1200" b="1">
                          <a:effectLst/>
                        </a:rPr>
                        <a:t>2</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dirty="0">
                          <a:effectLst/>
                        </a:rPr>
                        <a:t>Joshua Sara Gonzalez</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97</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1183534128"/>
                  </a:ext>
                </a:extLst>
              </a:tr>
              <a:tr h="440339">
                <a:tc>
                  <a:txBody>
                    <a:bodyPr/>
                    <a:lstStyle/>
                    <a:p>
                      <a:pPr>
                        <a:buNone/>
                      </a:pPr>
                      <a:r>
                        <a:rPr lang="en-US" sz="1200" b="1">
                          <a:effectLst/>
                        </a:rPr>
                        <a:t>3</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James Elizabeth Pruitt</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96</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1645190439"/>
                  </a:ext>
                </a:extLst>
              </a:tr>
              <a:tr h="440339">
                <a:tc>
                  <a:txBody>
                    <a:bodyPr/>
                    <a:lstStyle/>
                    <a:p>
                      <a:pPr>
                        <a:buNone/>
                      </a:pPr>
                      <a:r>
                        <a:rPr lang="en-US" sz="1200" b="1">
                          <a:effectLst/>
                        </a:rPr>
                        <a:t>4</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Daniel Tamara Lopez</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95</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2342709594"/>
                  </a:ext>
                </a:extLst>
              </a:tr>
              <a:tr h="440339">
                <a:tc>
                  <a:txBody>
                    <a:bodyPr/>
                    <a:lstStyle/>
                    <a:p>
                      <a:pPr>
                        <a:buNone/>
                      </a:pPr>
                      <a:r>
                        <a:rPr lang="en-US" sz="1200" b="1">
                          <a:effectLst/>
                        </a:rPr>
                        <a:t>5</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Rachel Gabriella Rivera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94</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505614724"/>
                  </a:ext>
                </a:extLst>
              </a:tr>
              <a:tr h="440339">
                <a:tc>
                  <a:txBody>
                    <a:bodyPr/>
                    <a:lstStyle/>
                    <a:p>
                      <a:pPr>
                        <a:buNone/>
                      </a:pPr>
                      <a:r>
                        <a:rPr lang="en-US" sz="1200" b="1">
                          <a:effectLst/>
                        </a:rPr>
                        <a:t>6</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Megan Steven Richardson</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93</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50443316"/>
                  </a:ext>
                </a:extLst>
              </a:tr>
              <a:tr h="440339">
                <a:tc>
                  <a:txBody>
                    <a:bodyPr/>
                    <a:lstStyle/>
                    <a:p>
                      <a:pPr>
                        <a:buNone/>
                      </a:pPr>
                      <a:r>
                        <a:rPr lang="en-US" sz="1200" b="1">
                          <a:effectLst/>
                        </a:rPr>
                        <a:t>7</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Kristin Daniel Copeland</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92</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4020127410"/>
                  </a:ext>
                </a:extLst>
              </a:tr>
              <a:tr h="281455">
                <a:tc>
                  <a:txBody>
                    <a:bodyPr/>
                    <a:lstStyle/>
                    <a:p>
                      <a:pPr>
                        <a:buNone/>
                      </a:pPr>
                      <a:r>
                        <a:rPr lang="en-US" sz="1200" b="1">
                          <a:effectLst/>
                        </a:rPr>
                        <a:t>8</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Sandra Ashley Lam</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91</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869144541"/>
                  </a:ext>
                </a:extLst>
              </a:tr>
              <a:tr h="440339">
                <a:tc>
                  <a:txBody>
                    <a:bodyPr/>
                    <a:lstStyle/>
                    <a:p>
                      <a:pPr>
                        <a:buNone/>
                      </a:pPr>
                      <a:r>
                        <a:rPr lang="en-US" sz="1200" b="1">
                          <a:effectLst/>
                        </a:rPr>
                        <a:t>9</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Brandy Kenneth Long</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90</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3246210014"/>
                  </a:ext>
                </a:extLst>
              </a:tr>
              <a:tr h="440339">
                <a:tc>
                  <a:txBody>
                    <a:bodyPr/>
                    <a:lstStyle/>
                    <a:p>
                      <a:pPr>
                        <a:buNone/>
                      </a:pPr>
                      <a:r>
                        <a:rPr lang="en-US" sz="1200" b="1">
                          <a:effectLst/>
                        </a:rPr>
                        <a:t>10</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Brenda Ruth Ortega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a:effectLst/>
                        </a:rPr>
                        <a:t>89</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tc>
                  <a:txBody>
                    <a:bodyPr/>
                    <a:lstStyle/>
                    <a:p>
                      <a:pPr>
                        <a:buNone/>
                      </a:pPr>
                      <a:r>
                        <a:rPr lang="en-US" sz="1200" b="1" dirty="0">
                          <a:effectLst/>
                        </a:rPr>
                        <a:t>A</a:t>
                      </a:r>
                    </a:p>
                  </a:txBody>
                  <a:tcPr marL="62906" marR="62906" marT="31453" marB="31453" anchor="ctr">
                    <a:lnL w="68580" cap="flat" cmpd="sng" algn="ctr">
                      <a:solidFill>
                        <a:srgbClr val="F14A16"/>
                      </a:solidFill>
                      <a:prstDash val="solid"/>
                      <a:round/>
                      <a:headEnd type="none" w="med" len="med"/>
                      <a:tailEnd type="none" w="med" len="med"/>
                    </a:lnL>
                    <a:lnR w="68580" cap="flat" cmpd="sng" algn="ctr">
                      <a:solidFill>
                        <a:srgbClr val="F14A16"/>
                      </a:solidFill>
                      <a:prstDash val="solid"/>
                      <a:round/>
                      <a:headEnd type="none" w="med" len="med"/>
                      <a:tailEnd type="none" w="med" len="med"/>
                    </a:lnR>
                    <a:lnT w="68580" cap="flat" cmpd="sng" algn="ctr">
                      <a:solidFill>
                        <a:srgbClr val="F14A16"/>
                      </a:solidFill>
                      <a:prstDash val="solid"/>
                      <a:round/>
                      <a:headEnd type="none" w="med" len="med"/>
                      <a:tailEnd type="none" w="med" len="med"/>
                    </a:lnT>
                    <a:lnB w="68580" cap="flat" cmpd="sng" algn="ctr">
                      <a:solidFill>
                        <a:srgbClr val="F14A16"/>
                      </a:solidFill>
                      <a:prstDash val="solid"/>
                      <a:round/>
                      <a:headEnd type="none" w="med" len="med"/>
                      <a:tailEnd type="none" w="med" len="med"/>
                    </a:lnB>
                    <a:solidFill>
                      <a:srgbClr val="FFFFFF"/>
                    </a:solidFill>
                  </a:tcPr>
                </a:tc>
                <a:extLst>
                  <a:ext uri="{0D108BD9-81ED-4DB2-BD59-A6C34878D82A}">
                    <a16:rowId xmlns:a16="http://schemas.microsoft.com/office/drawing/2014/main" val="589414845"/>
                  </a:ext>
                </a:extLst>
              </a:tr>
            </a:tbl>
          </a:graphicData>
        </a:graphic>
      </p:graphicFrame>
      <p:sp>
        <p:nvSpPr>
          <p:cNvPr id="11" name="Rectangle 1">
            <a:extLst>
              <a:ext uri="{FF2B5EF4-FFF2-40B4-BE49-F238E27FC236}">
                <a16:creationId xmlns:a16="http://schemas.microsoft.com/office/drawing/2014/main" id="{A45300AE-FFEF-9EB0-D14D-F992FA467C62}"/>
              </a:ext>
            </a:extLst>
          </p:cNvPr>
          <p:cNvSpPr>
            <a:spLocks noChangeArrowheads="1"/>
          </p:cNvSpPr>
          <p:nvPr/>
        </p:nvSpPr>
        <p:spPr bwMode="auto">
          <a:xfrm>
            <a:off x="4648439" y="4686299"/>
            <a:ext cx="3618317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17562220" y="2136095"/>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9459925"/>
            <a:ext cx="18288000" cy="827075"/>
            <a:chOff x="0" y="0"/>
            <a:chExt cx="24384000" cy="1102766"/>
          </a:xfrm>
        </p:grpSpPr>
        <p:sp>
          <p:nvSpPr>
            <p:cNvPr id="4" name="Freeform 4"/>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4"/>
              <a:stretch>
                <a:fillRect/>
              </a:stretch>
            </a:blipFill>
            <a:ln cap="sq">
              <a:noFill/>
              <a:prstDash val="solid"/>
              <a:miter/>
            </a:ln>
          </p:spPr>
        </p:sp>
        <p:sp>
          <p:nvSpPr>
            <p:cNvPr id="5" name="Freeform 5"/>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5"/>
              <a:stretch>
                <a:fillRect/>
              </a:stretch>
            </a:blipFill>
            <a:ln cap="sq">
              <a:noFill/>
              <a:prstDash val="solid"/>
              <a:miter/>
            </a:ln>
          </p:spPr>
        </p:sp>
      </p:grpSp>
      <p:pic>
        <p:nvPicPr>
          <p:cNvPr id="6" name="Picture 6"/>
          <p:cNvPicPr>
            <a:picLocks noChangeAspect="1"/>
          </p:cNvPicPr>
          <p:nvPr/>
        </p:nvPicPr>
        <p:blipFill>
          <a:blip r:embed="rId6"/>
          <a:stretch>
            <a:fillRect/>
          </a:stretch>
        </p:blipFill>
        <p:spPr>
          <a:xfrm>
            <a:off x="-666508" y="-1695208"/>
            <a:ext cx="20342494" cy="13659614"/>
          </a:xfrm>
          <a:prstGeom prst="rect">
            <a:avLst/>
          </a:prstGeom>
        </p:spPr>
      </p:pic>
      <p:sp>
        <p:nvSpPr>
          <p:cNvPr id="7" name="TextBox 7"/>
          <p:cNvSpPr txBox="1"/>
          <p:nvPr/>
        </p:nvSpPr>
        <p:spPr>
          <a:xfrm rot="-5400000">
            <a:off x="-3356466" y="4366116"/>
            <a:ext cx="7808555" cy="1133723"/>
          </a:xfrm>
          <a:prstGeom prst="rect">
            <a:avLst/>
          </a:prstGeom>
        </p:spPr>
        <p:txBody>
          <a:bodyPr lIns="0" tIns="0" rIns="0" bIns="0" rtlCol="0" anchor="t">
            <a:spAutoFit/>
          </a:bodyPr>
          <a:lstStyle/>
          <a:p>
            <a:pPr algn="l">
              <a:lnSpc>
                <a:spcPts val="9029"/>
              </a:lnSpc>
            </a:pPr>
            <a:r>
              <a:rPr lang="en-US" sz="7340">
                <a:solidFill>
                  <a:srgbClr val="000000"/>
                </a:solidFill>
                <a:latin typeface="League Spartan"/>
                <a:ea typeface="League Spartan"/>
                <a:cs typeface="League Spartan"/>
                <a:sym typeface="League Spartan"/>
              </a:rPr>
              <a:t>Top 10 Students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5544068" y="3944251"/>
            <a:ext cx="6303208" cy="6303208"/>
          </a:xfrm>
          <a:custGeom>
            <a:avLst/>
            <a:gdLst/>
            <a:ahLst/>
            <a:cxnLst/>
            <a:rect l="l" t="t" r="r" b="b"/>
            <a:pathLst>
              <a:path w="6303208" h="6303208">
                <a:moveTo>
                  <a:pt x="0" y="0"/>
                </a:moveTo>
                <a:lnTo>
                  <a:pt x="6303209" y="0"/>
                </a:lnTo>
                <a:lnTo>
                  <a:pt x="6303209"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459925"/>
            <a:ext cx="18288000" cy="827075"/>
            <a:chOff x="0" y="0"/>
            <a:chExt cx="24384000" cy="1102766"/>
          </a:xfrm>
        </p:grpSpPr>
        <p:sp>
          <p:nvSpPr>
            <p:cNvPr id="5" name="Freeform 5"/>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6" name="Freeform 6"/>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8" name="TextBox 8"/>
          <p:cNvSpPr txBox="1"/>
          <p:nvPr/>
        </p:nvSpPr>
        <p:spPr>
          <a:xfrm>
            <a:off x="0" y="895781"/>
            <a:ext cx="16285690" cy="809239"/>
          </a:xfrm>
          <a:prstGeom prst="rect">
            <a:avLst/>
          </a:prstGeom>
        </p:spPr>
        <p:txBody>
          <a:bodyPr lIns="0" tIns="0" rIns="0" bIns="0" rtlCol="0" anchor="t">
            <a:spAutoFit/>
          </a:bodyPr>
          <a:lstStyle/>
          <a:p>
            <a:pPr algn="l">
              <a:lnSpc>
                <a:spcPts val="6400"/>
              </a:lnSpc>
            </a:pPr>
            <a:r>
              <a:rPr lang="en-US" sz="5203">
                <a:solidFill>
                  <a:srgbClr val="000000"/>
                </a:solidFill>
                <a:latin typeface="League Spartan"/>
                <a:ea typeface="League Spartan"/>
                <a:cs typeface="League Spartan"/>
                <a:sym typeface="League Spartan"/>
              </a:rPr>
              <a:t>Visualization 6: Score Distribution by Subject </a:t>
            </a:r>
          </a:p>
        </p:txBody>
      </p:sp>
      <p:sp>
        <p:nvSpPr>
          <p:cNvPr id="9" name="TextBox 9"/>
          <p:cNvSpPr txBox="1"/>
          <p:nvPr/>
        </p:nvSpPr>
        <p:spPr>
          <a:xfrm>
            <a:off x="460345" y="2110795"/>
            <a:ext cx="13636655" cy="2196627"/>
          </a:xfrm>
          <a:prstGeom prst="rect">
            <a:avLst/>
          </a:prstGeom>
        </p:spPr>
        <p:txBody>
          <a:bodyPr wrap="square" lIns="0" tIns="0" rIns="0" bIns="0" rtlCol="0" anchor="t">
            <a:spAutoFit/>
          </a:bodyPr>
          <a:lstStyle/>
          <a:p>
            <a:pPr algn="l">
              <a:lnSpc>
                <a:spcPts val="3544"/>
              </a:lnSpc>
              <a:spcBef>
                <a:spcPct val="0"/>
              </a:spcBef>
            </a:pPr>
            <a:r>
              <a:rPr lang="en-US" sz="2881" b="1" dirty="0">
                <a:solidFill>
                  <a:srgbClr val="000000"/>
                </a:solidFill>
                <a:latin typeface="Futura Bold"/>
                <a:ea typeface="Futura Bold"/>
                <a:cs typeface="Futura Bold"/>
                <a:sym typeface="Futura Bold"/>
              </a:rPr>
              <a:t>Key Findings:</a:t>
            </a:r>
          </a:p>
          <a:p>
            <a:pPr marL="622200" lvl="1" indent="-311100" algn="l">
              <a:lnSpc>
                <a:spcPts val="3544"/>
              </a:lnSpc>
              <a:buFont typeface="Arial"/>
              <a:buChar char="•"/>
            </a:pPr>
            <a:r>
              <a:rPr lang="en-US" sz="2881" dirty="0">
                <a:solidFill>
                  <a:srgbClr val="000000"/>
                </a:solidFill>
                <a:latin typeface="Futura"/>
                <a:ea typeface="Futura"/>
                <a:cs typeface="Futura"/>
                <a:sym typeface="Futura"/>
              </a:rPr>
              <a:t>Physics: Highest variability → inconsistent teaching/preparation</a:t>
            </a:r>
          </a:p>
          <a:p>
            <a:pPr marL="622200" lvl="1" indent="-311100" algn="l">
              <a:lnSpc>
                <a:spcPts val="3544"/>
              </a:lnSpc>
              <a:buFont typeface="Arial"/>
              <a:buChar char="•"/>
            </a:pPr>
            <a:r>
              <a:rPr lang="en-US" sz="2881" dirty="0">
                <a:solidFill>
                  <a:srgbClr val="000000"/>
                </a:solidFill>
                <a:latin typeface="Futura"/>
                <a:ea typeface="Futura"/>
                <a:cs typeface="Futura"/>
                <a:sym typeface="Futura"/>
              </a:rPr>
              <a:t>Chemistry: Most consistent performance → teaching method effective</a:t>
            </a:r>
          </a:p>
          <a:p>
            <a:pPr marL="622200" lvl="1" indent="-311100" algn="l">
              <a:lnSpc>
                <a:spcPts val="3544"/>
              </a:lnSpc>
              <a:buFont typeface="Arial"/>
              <a:buChar char="•"/>
            </a:pPr>
            <a:r>
              <a:rPr lang="en-US" sz="2881" dirty="0">
                <a:solidFill>
                  <a:srgbClr val="000000"/>
                </a:solidFill>
                <a:latin typeface="Futura"/>
                <a:ea typeface="Futura"/>
                <a:cs typeface="Futura"/>
                <a:sym typeface="Futura"/>
              </a:rPr>
              <a:t>General: Every subject has low-score outliers → at-risk students in all areas</a:t>
            </a:r>
          </a:p>
          <a:p>
            <a:pPr algn="l">
              <a:lnSpc>
                <a:spcPts val="3544"/>
              </a:lnSpc>
            </a:pPr>
            <a:endParaRPr lang="en-US" sz="2881" dirty="0">
              <a:solidFill>
                <a:srgbClr val="000000"/>
              </a:solidFill>
              <a:latin typeface="Futura"/>
              <a:ea typeface="Futura"/>
              <a:cs typeface="Futura"/>
              <a:sym typeface="Futura"/>
            </a:endParaRPr>
          </a:p>
        </p:txBody>
      </p:sp>
      <p:graphicFrame>
        <p:nvGraphicFramePr>
          <p:cNvPr id="10" name="Table 9">
            <a:extLst>
              <a:ext uri="{FF2B5EF4-FFF2-40B4-BE49-F238E27FC236}">
                <a16:creationId xmlns:a16="http://schemas.microsoft.com/office/drawing/2014/main" id="{9BA0DC8C-5E1F-5EE7-019B-CFA3F099E30A}"/>
              </a:ext>
            </a:extLst>
          </p:cNvPr>
          <p:cNvGraphicFramePr>
            <a:graphicFrameLocks noGrp="1"/>
          </p:cNvGraphicFramePr>
          <p:nvPr>
            <p:extLst>
              <p:ext uri="{D42A27DB-BD31-4B8C-83A1-F6EECF244321}">
                <p14:modId xmlns:p14="http://schemas.microsoft.com/office/powerpoint/2010/main" val="3190823674"/>
              </p:ext>
            </p:extLst>
          </p:nvPr>
        </p:nvGraphicFramePr>
        <p:xfrm>
          <a:off x="3296096" y="4769376"/>
          <a:ext cx="12039600" cy="3938826"/>
        </p:xfrm>
        <a:graphic>
          <a:graphicData uri="http://schemas.openxmlformats.org/drawingml/2006/table">
            <a:tbl>
              <a:tblPr/>
              <a:tblGrid>
                <a:gridCol w="2407920">
                  <a:extLst>
                    <a:ext uri="{9D8B030D-6E8A-4147-A177-3AD203B41FA5}">
                      <a16:colId xmlns:a16="http://schemas.microsoft.com/office/drawing/2014/main" val="3502309451"/>
                    </a:ext>
                  </a:extLst>
                </a:gridCol>
                <a:gridCol w="2407920">
                  <a:extLst>
                    <a:ext uri="{9D8B030D-6E8A-4147-A177-3AD203B41FA5}">
                      <a16:colId xmlns:a16="http://schemas.microsoft.com/office/drawing/2014/main" val="276384433"/>
                    </a:ext>
                  </a:extLst>
                </a:gridCol>
                <a:gridCol w="2407920">
                  <a:extLst>
                    <a:ext uri="{9D8B030D-6E8A-4147-A177-3AD203B41FA5}">
                      <a16:colId xmlns:a16="http://schemas.microsoft.com/office/drawing/2014/main" val="2818391100"/>
                    </a:ext>
                  </a:extLst>
                </a:gridCol>
                <a:gridCol w="2407920">
                  <a:extLst>
                    <a:ext uri="{9D8B030D-6E8A-4147-A177-3AD203B41FA5}">
                      <a16:colId xmlns:a16="http://schemas.microsoft.com/office/drawing/2014/main" val="465613688"/>
                    </a:ext>
                  </a:extLst>
                </a:gridCol>
                <a:gridCol w="2407920">
                  <a:extLst>
                    <a:ext uri="{9D8B030D-6E8A-4147-A177-3AD203B41FA5}">
                      <a16:colId xmlns:a16="http://schemas.microsoft.com/office/drawing/2014/main" val="3001028030"/>
                    </a:ext>
                  </a:extLst>
                </a:gridCol>
              </a:tblGrid>
              <a:tr h="656471">
                <a:tc>
                  <a:txBody>
                    <a:bodyPr/>
                    <a:lstStyle/>
                    <a:p>
                      <a:pPr>
                        <a:buNone/>
                      </a:pPr>
                      <a:r>
                        <a:rPr lang="en-US" b="1">
                          <a:solidFill>
                            <a:srgbClr val="FFFFFF"/>
                          </a:solidFill>
                          <a:effectLst/>
                        </a:rPr>
                        <a:t>Subject</a:t>
                      </a:r>
                    </a:p>
                  </a:txBody>
                  <a:tcPr anchor="ctr">
                    <a:lnL w="22860" cap="flat" cmpd="sng" algn="ctr">
                      <a:solidFill>
                        <a:srgbClr val="3D444D"/>
                      </a:solidFill>
                      <a:prstDash val="solid"/>
                      <a:round/>
                      <a:headEnd type="none" w="med" len="med"/>
                      <a:tailEnd type="none" w="med" len="med"/>
                    </a:lnL>
                    <a:lnR w="22860" cap="flat" cmpd="sng" algn="ctr">
                      <a:solidFill>
                        <a:srgbClr val="FFFFFF"/>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FFFFFF"/>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Median</a:t>
                      </a:r>
                    </a:p>
                  </a:txBody>
                  <a:tcPr anchor="ctr">
                    <a:lnL w="22860" cap="flat" cmpd="sng" algn="ctr">
                      <a:solidFill>
                        <a:srgbClr val="FFFFFF"/>
                      </a:solidFill>
                      <a:prstDash val="solid"/>
                      <a:round/>
                      <a:headEnd type="none" w="med" len="med"/>
                      <a:tailEnd type="none" w="med" len="med"/>
                    </a:lnL>
                    <a:lnR w="22860" cap="flat" cmpd="sng" algn="ctr">
                      <a:solidFill>
                        <a:srgbClr val="FFFFFF"/>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IQR</a:t>
                      </a:r>
                    </a:p>
                  </a:txBody>
                  <a:tcPr anchor="ctr">
                    <a:lnL w="22860" cap="flat" cmpd="sng" algn="ctr">
                      <a:solidFill>
                        <a:srgbClr val="FFFFFF"/>
                      </a:solidFill>
                      <a:prstDash val="solid"/>
                      <a:round/>
                      <a:headEnd type="none" w="med" len="med"/>
                      <a:tailEnd type="none" w="med" len="med"/>
                    </a:lnL>
                    <a:lnR w="22860" cap="flat" cmpd="sng" algn="ctr">
                      <a:solidFill>
                        <a:srgbClr val="FFFFFF"/>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Range</a:t>
                      </a:r>
                    </a:p>
                  </a:txBody>
                  <a:tcPr anchor="ctr">
                    <a:lnL w="22860" cap="flat" cmpd="sng" algn="ctr">
                      <a:solidFill>
                        <a:srgbClr val="FFFFFF"/>
                      </a:solidFill>
                      <a:prstDash val="solid"/>
                      <a:round/>
                      <a:headEnd type="none" w="med" len="med"/>
                      <a:tailEnd type="none" w="med" len="med"/>
                    </a:lnL>
                    <a:lnR w="22860" cap="flat" cmpd="sng" algn="ctr">
                      <a:solidFill>
                        <a:srgbClr val="FFFFFF"/>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14A16"/>
                    </a:solidFill>
                  </a:tcPr>
                </a:tc>
                <a:tc>
                  <a:txBody>
                    <a:bodyPr/>
                    <a:lstStyle/>
                    <a:p>
                      <a:pPr>
                        <a:buNone/>
                      </a:pPr>
                      <a:r>
                        <a:rPr lang="en-US" b="1">
                          <a:solidFill>
                            <a:srgbClr val="FFFFFF"/>
                          </a:solidFill>
                          <a:effectLst/>
                        </a:rPr>
                        <a:t>Outliers</a:t>
                      </a:r>
                    </a:p>
                  </a:txBody>
                  <a:tcPr anchor="ctr">
                    <a:lnL w="22860" cap="flat" cmpd="sng" algn="ctr">
                      <a:solidFill>
                        <a:srgbClr val="FFFFFF"/>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14A16"/>
                    </a:solidFill>
                  </a:tcPr>
                </a:tc>
                <a:extLst>
                  <a:ext uri="{0D108BD9-81ED-4DB2-BD59-A6C34878D82A}">
                    <a16:rowId xmlns:a16="http://schemas.microsoft.com/office/drawing/2014/main" val="3461719701"/>
                  </a:ext>
                </a:extLst>
              </a:tr>
              <a:tr h="656471">
                <a:tc>
                  <a:txBody>
                    <a:bodyPr/>
                    <a:lstStyle/>
                    <a:p>
                      <a:pPr>
                        <a:buNone/>
                      </a:pPr>
                      <a:r>
                        <a:rPr lang="en-US" b="1">
                          <a:solidFill>
                            <a:srgbClr val="FFFFFF"/>
                          </a:solidFill>
                          <a:effectLst/>
                        </a:rPr>
                        <a:t>English</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FFFFFF"/>
                      </a:solidFill>
                      <a:prstDash val="solid"/>
                      <a:round/>
                      <a:headEnd type="none" w="med" len="med"/>
                      <a:tailEnd type="none" w="med" len="med"/>
                    </a:lnT>
                    <a:lnB w="22860" cap="flat" cmpd="sng" algn="ctr">
                      <a:solidFill>
                        <a:srgbClr val="FFFFFF"/>
                      </a:solidFill>
                      <a:prstDash val="solid"/>
                      <a:round/>
                      <a:headEnd type="none" w="med" len="med"/>
                      <a:tailEnd type="none" w="med" len="med"/>
                    </a:lnB>
                    <a:solidFill>
                      <a:srgbClr val="FC9918"/>
                    </a:solidFill>
                  </a:tcPr>
                </a:tc>
                <a:tc>
                  <a:txBody>
                    <a:bodyPr/>
                    <a:lstStyle/>
                    <a:p>
                      <a:pPr>
                        <a:buNone/>
                      </a:pPr>
                      <a:r>
                        <a:rPr lang="en-US">
                          <a:effectLst/>
                        </a:rPr>
                        <a:t>~68</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20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0-100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Few low scores</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extLst>
                  <a:ext uri="{0D108BD9-81ED-4DB2-BD59-A6C34878D82A}">
                    <a16:rowId xmlns:a16="http://schemas.microsoft.com/office/drawing/2014/main" val="820160867"/>
                  </a:ext>
                </a:extLst>
              </a:tr>
              <a:tr h="656471">
                <a:tc>
                  <a:txBody>
                    <a:bodyPr/>
                    <a:lstStyle/>
                    <a:p>
                      <a:pPr>
                        <a:buNone/>
                      </a:pPr>
                      <a:r>
                        <a:rPr lang="en-US" b="1">
                          <a:solidFill>
                            <a:srgbClr val="FFFFFF"/>
                          </a:solidFill>
                          <a:effectLst/>
                        </a:rPr>
                        <a:t>Biology</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FFFFFF"/>
                      </a:solidFill>
                      <a:prstDash val="solid"/>
                      <a:round/>
                      <a:headEnd type="none" w="med" len="med"/>
                      <a:tailEnd type="none" w="med" len="med"/>
                    </a:lnT>
                    <a:lnB w="22860" cap="flat" cmpd="sng" algn="ctr">
                      <a:solidFill>
                        <a:srgbClr val="FFFFFF"/>
                      </a:solidFill>
                      <a:prstDash val="solid"/>
                      <a:round/>
                      <a:headEnd type="none" w="med" len="med"/>
                      <a:tailEnd type="none" w="med" len="med"/>
                    </a:lnB>
                    <a:solidFill>
                      <a:srgbClr val="FC9918"/>
                    </a:solidFill>
                  </a:tcPr>
                </a:tc>
                <a:tc>
                  <a:txBody>
                    <a:bodyPr/>
                    <a:lstStyle/>
                    <a:p>
                      <a:pPr>
                        <a:buNone/>
                      </a:pPr>
                      <a:r>
                        <a:rPr lang="en-US">
                          <a:effectLst/>
                        </a:rPr>
                        <a:t>~67</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18</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0-100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Balanced</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extLst>
                  <a:ext uri="{0D108BD9-81ED-4DB2-BD59-A6C34878D82A}">
                    <a16:rowId xmlns:a16="http://schemas.microsoft.com/office/drawing/2014/main" val="3006311726"/>
                  </a:ext>
                </a:extLst>
              </a:tr>
              <a:tr h="656471">
                <a:tc>
                  <a:txBody>
                    <a:bodyPr/>
                    <a:lstStyle/>
                    <a:p>
                      <a:pPr>
                        <a:buNone/>
                      </a:pPr>
                      <a:r>
                        <a:rPr lang="en-US" b="1">
                          <a:solidFill>
                            <a:srgbClr val="FFFFFF"/>
                          </a:solidFill>
                          <a:effectLst/>
                        </a:rPr>
                        <a:t>Physics</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FFFFFF"/>
                      </a:solidFill>
                      <a:prstDash val="solid"/>
                      <a:round/>
                      <a:headEnd type="none" w="med" len="med"/>
                      <a:tailEnd type="none" w="med" len="med"/>
                    </a:lnT>
                    <a:lnB w="22860" cap="flat" cmpd="sng" algn="ctr">
                      <a:solidFill>
                        <a:srgbClr val="FFFFFF"/>
                      </a:solidFill>
                      <a:prstDash val="solid"/>
                      <a:round/>
                      <a:headEnd type="none" w="med" len="med"/>
                      <a:tailEnd type="none" w="med" len="med"/>
                    </a:lnB>
                    <a:solidFill>
                      <a:srgbClr val="FC9918"/>
                    </a:solidFill>
                  </a:tcPr>
                </a:tc>
                <a:tc>
                  <a:txBody>
                    <a:bodyPr/>
                    <a:lstStyle/>
                    <a:p>
                      <a:pPr>
                        <a:buNone/>
                      </a:pPr>
                      <a:r>
                        <a:rPr lang="en-US">
                          <a:effectLst/>
                        </a:rPr>
                        <a:t>~65</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25</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0-100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Wider spread</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extLst>
                  <a:ext uri="{0D108BD9-81ED-4DB2-BD59-A6C34878D82A}">
                    <a16:rowId xmlns:a16="http://schemas.microsoft.com/office/drawing/2014/main" val="2437610537"/>
                  </a:ext>
                </a:extLst>
              </a:tr>
              <a:tr h="656471">
                <a:tc>
                  <a:txBody>
                    <a:bodyPr/>
                    <a:lstStyle/>
                    <a:p>
                      <a:pPr>
                        <a:buNone/>
                      </a:pPr>
                      <a:r>
                        <a:rPr lang="en-US" b="1">
                          <a:solidFill>
                            <a:srgbClr val="FFFFFF"/>
                          </a:solidFill>
                          <a:effectLst/>
                        </a:rPr>
                        <a:t>Chemistry</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FFFFFF"/>
                      </a:solidFill>
                      <a:prstDash val="solid"/>
                      <a:round/>
                      <a:headEnd type="none" w="med" len="med"/>
                      <a:tailEnd type="none" w="med" len="med"/>
                    </a:lnT>
                    <a:lnB w="22860" cap="flat" cmpd="sng" algn="ctr">
                      <a:solidFill>
                        <a:srgbClr val="FFFFFF"/>
                      </a:solidFill>
                      <a:prstDash val="solid"/>
                      <a:round/>
                      <a:headEnd type="none" w="med" len="med"/>
                      <a:tailEnd type="none" w="med" len="med"/>
                    </a:lnB>
                    <a:solidFill>
                      <a:srgbClr val="FC9918"/>
                    </a:solidFill>
                  </a:tcPr>
                </a:tc>
                <a:tc>
                  <a:txBody>
                    <a:bodyPr/>
                    <a:lstStyle/>
                    <a:p>
                      <a:pPr>
                        <a:buNone/>
                      </a:pPr>
                      <a:r>
                        <a:rPr lang="en-US">
                          <a:effectLst/>
                        </a:rPr>
                        <a:t>~70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22</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0-100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Mixed</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extLst>
                  <a:ext uri="{0D108BD9-81ED-4DB2-BD59-A6C34878D82A}">
                    <a16:rowId xmlns:a16="http://schemas.microsoft.com/office/drawing/2014/main" val="1998307902"/>
                  </a:ext>
                </a:extLst>
              </a:tr>
              <a:tr h="656471">
                <a:tc>
                  <a:txBody>
                    <a:bodyPr/>
                    <a:lstStyle/>
                    <a:p>
                      <a:pPr>
                        <a:buNone/>
                      </a:pPr>
                      <a:r>
                        <a:rPr lang="en-US" b="1">
                          <a:solidFill>
                            <a:srgbClr val="FFFFFF"/>
                          </a:solidFill>
                          <a:effectLst/>
                        </a:rPr>
                        <a:t>Math</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FFFFFF"/>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C9918"/>
                    </a:solidFill>
                  </a:tcPr>
                </a:tc>
                <a:tc>
                  <a:txBody>
                    <a:bodyPr/>
                    <a:lstStyle/>
                    <a:p>
                      <a:pPr>
                        <a:buNone/>
                      </a:pPr>
                      <a:r>
                        <a:rPr lang="en-US">
                          <a:effectLst/>
                        </a:rPr>
                        <a:t>~65</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20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a:effectLst/>
                        </a:rPr>
                        <a:t>0-100</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tc>
                  <a:txBody>
                    <a:bodyPr/>
                    <a:lstStyle/>
                    <a:p>
                      <a:pPr>
                        <a:buNone/>
                      </a:pPr>
                      <a:r>
                        <a:rPr lang="en-US" dirty="0">
                          <a:effectLst/>
                        </a:rPr>
                        <a:t>Many outliers</a:t>
                      </a:r>
                    </a:p>
                  </a:txBody>
                  <a:tcPr anchor="ctr">
                    <a:lnL w="22860" cap="flat" cmpd="sng" algn="ctr">
                      <a:solidFill>
                        <a:srgbClr val="3D444D"/>
                      </a:solidFill>
                      <a:prstDash val="solid"/>
                      <a:round/>
                      <a:headEnd type="none" w="med" len="med"/>
                      <a:tailEnd type="none" w="med" len="med"/>
                    </a:lnL>
                    <a:lnR w="22860" cap="flat" cmpd="sng" algn="ctr">
                      <a:solidFill>
                        <a:srgbClr val="3D444D"/>
                      </a:solidFill>
                      <a:prstDash val="solid"/>
                      <a:round/>
                      <a:headEnd type="none" w="med" len="med"/>
                      <a:tailEnd type="none" w="med" len="med"/>
                    </a:lnR>
                    <a:lnT w="22860" cap="flat" cmpd="sng" algn="ctr">
                      <a:solidFill>
                        <a:srgbClr val="3D444D"/>
                      </a:solidFill>
                      <a:prstDash val="solid"/>
                      <a:round/>
                      <a:headEnd type="none" w="med" len="med"/>
                      <a:tailEnd type="none" w="med" len="med"/>
                    </a:lnT>
                    <a:lnB w="22860" cap="flat" cmpd="sng" algn="ctr">
                      <a:solidFill>
                        <a:srgbClr val="3D444D"/>
                      </a:solidFill>
                      <a:prstDash val="solid"/>
                      <a:round/>
                      <a:headEnd type="none" w="med" len="med"/>
                      <a:tailEnd type="none" w="med" len="med"/>
                    </a:lnB>
                    <a:solidFill>
                      <a:srgbClr val="FFFFFF"/>
                    </a:solidFill>
                  </a:tcPr>
                </a:tc>
                <a:extLst>
                  <a:ext uri="{0D108BD9-81ED-4DB2-BD59-A6C34878D82A}">
                    <a16:rowId xmlns:a16="http://schemas.microsoft.com/office/drawing/2014/main" val="3356534979"/>
                  </a:ext>
                </a:extLst>
              </a:tr>
            </a:tbl>
          </a:graphicData>
        </a:graphic>
      </p:graphicFrame>
      <p:sp>
        <p:nvSpPr>
          <p:cNvPr id="11" name="Rectangle 1">
            <a:extLst>
              <a:ext uri="{FF2B5EF4-FFF2-40B4-BE49-F238E27FC236}">
                <a16:creationId xmlns:a16="http://schemas.microsoft.com/office/drawing/2014/main" id="{5CBBCFDB-AEEA-973F-0610-D863518F3624}"/>
              </a:ext>
            </a:extLst>
          </p:cNvPr>
          <p:cNvSpPr>
            <a:spLocks noChangeArrowheads="1"/>
          </p:cNvSpPr>
          <p:nvPr/>
        </p:nvSpPr>
        <p:spPr bwMode="auto">
          <a:xfrm>
            <a:off x="-4061437" y="4769496"/>
            <a:ext cx="26754666"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3728645">
            <a:off x="-5230573" y="-4304575"/>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2">
              <a:alphaModFix amt="9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6509347" y="-436691"/>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0" y="9459925"/>
            <a:ext cx="18288000" cy="827075"/>
            <a:chOff x="0" y="0"/>
            <a:chExt cx="24384000" cy="1102766"/>
          </a:xfrm>
        </p:grpSpPr>
        <p:sp>
          <p:nvSpPr>
            <p:cNvPr id="5" name="Freeform 5"/>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6"/>
              <a:stretch>
                <a:fillRect/>
              </a:stretch>
            </a:blipFill>
            <a:ln cap="sq">
              <a:noFill/>
              <a:prstDash val="solid"/>
              <a:miter/>
            </a:ln>
          </p:spPr>
        </p:sp>
        <p:sp>
          <p:nvSpPr>
            <p:cNvPr id="6" name="Freeform 6"/>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7"/>
              <a:stretch>
                <a:fillRect/>
              </a:stretch>
            </a:blipFill>
            <a:ln cap="sq">
              <a:noFill/>
              <a:prstDash val="solid"/>
              <a:miter/>
            </a:ln>
          </p:spPr>
        </p:sp>
      </p:grpSp>
      <p:sp>
        <p:nvSpPr>
          <p:cNvPr id="7" name="Freeform 7"/>
          <p:cNvSpPr/>
          <p:nvPr/>
        </p:nvSpPr>
        <p:spPr>
          <a:xfrm>
            <a:off x="381937" y="762468"/>
            <a:ext cx="17524126" cy="8762063"/>
          </a:xfrm>
          <a:custGeom>
            <a:avLst/>
            <a:gdLst/>
            <a:ahLst/>
            <a:cxnLst/>
            <a:rect l="l" t="t" r="r" b="b"/>
            <a:pathLst>
              <a:path w="17524126" h="8762063">
                <a:moveTo>
                  <a:pt x="0" y="0"/>
                </a:moveTo>
                <a:lnTo>
                  <a:pt x="17524126" y="0"/>
                </a:lnTo>
                <a:lnTo>
                  <a:pt x="17524126" y="8762064"/>
                </a:lnTo>
                <a:lnTo>
                  <a:pt x="0" y="8762064"/>
                </a:lnTo>
                <a:lnTo>
                  <a:pt x="0" y="0"/>
                </a:lnTo>
                <a:close/>
              </a:path>
            </a:pathLst>
          </a:custGeom>
          <a:blipFill>
            <a:blip r:embed="rId8"/>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3205398" y="-5125203"/>
            <a:ext cx="5804607" cy="5804607"/>
          </a:xfrm>
          <a:custGeom>
            <a:avLst/>
            <a:gdLst/>
            <a:ahLst/>
            <a:cxnLst/>
            <a:rect l="l" t="t" r="r" b="b"/>
            <a:pathLst>
              <a:path w="5804607" h="5804607">
                <a:moveTo>
                  <a:pt x="0" y="0"/>
                </a:moveTo>
                <a:lnTo>
                  <a:pt x="5804607" y="0"/>
                </a:lnTo>
                <a:lnTo>
                  <a:pt x="5804607" y="5804607"/>
                </a:lnTo>
                <a:lnTo>
                  <a:pt x="0" y="58046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687743" y="7816322"/>
            <a:ext cx="5804607" cy="5804607"/>
          </a:xfrm>
          <a:custGeom>
            <a:avLst/>
            <a:gdLst/>
            <a:ahLst/>
            <a:cxnLst/>
            <a:rect l="l" t="t" r="r" b="b"/>
            <a:pathLst>
              <a:path w="5804607" h="5804607">
                <a:moveTo>
                  <a:pt x="0" y="0"/>
                </a:moveTo>
                <a:lnTo>
                  <a:pt x="5804607" y="0"/>
                </a:lnTo>
                <a:lnTo>
                  <a:pt x="5804607" y="5804607"/>
                </a:lnTo>
                <a:lnTo>
                  <a:pt x="0" y="5804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903581" y="1304641"/>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7259300" y="-1579450"/>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7259300" y="9258300"/>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0" y="473455"/>
            <a:ext cx="15469162" cy="1408123"/>
          </a:xfrm>
          <a:prstGeom prst="rect">
            <a:avLst/>
          </a:prstGeom>
        </p:spPr>
        <p:txBody>
          <a:bodyPr lIns="0" tIns="0" rIns="0" bIns="0" rtlCol="0" anchor="t">
            <a:spAutoFit/>
          </a:bodyPr>
          <a:lstStyle/>
          <a:p>
            <a:pPr algn="l">
              <a:lnSpc>
                <a:spcPts val="11180"/>
              </a:lnSpc>
            </a:pPr>
            <a:r>
              <a:rPr lang="en-US" sz="9090">
                <a:solidFill>
                  <a:srgbClr val="000000"/>
                </a:solidFill>
                <a:latin typeface="League Spartan"/>
                <a:ea typeface="League Spartan"/>
                <a:cs typeface="League Spartan"/>
                <a:sym typeface="League Spartan"/>
              </a:rPr>
              <a:t>Key Findings &amp; Insights:</a:t>
            </a:r>
          </a:p>
        </p:txBody>
      </p:sp>
      <p:sp>
        <p:nvSpPr>
          <p:cNvPr id="8" name="TextBox 8"/>
          <p:cNvSpPr txBox="1"/>
          <p:nvPr/>
        </p:nvSpPr>
        <p:spPr>
          <a:xfrm>
            <a:off x="602907" y="3217255"/>
            <a:ext cx="9820102" cy="3434098"/>
          </a:xfrm>
          <a:prstGeom prst="rect">
            <a:avLst/>
          </a:prstGeom>
        </p:spPr>
        <p:txBody>
          <a:bodyPr lIns="0" tIns="0" rIns="0" bIns="0" rtlCol="0" anchor="t">
            <a:spAutoFit/>
          </a:bodyPr>
          <a:lstStyle/>
          <a:p>
            <a:pPr algn="l">
              <a:lnSpc>
                <a:spcPts val="4521"/>
              </a:lnSpc>
            </a:pPr>
            <a:r>
              <a:rPr lang="en-US" sz="3675">
                <a:solidFill>
                  <a:srgbClr val="000000"/>
                </a:solidFill>
                <a:latin typeface="League Spartan"/>
                <a:ea typeface="League Spartan"/>
                <a:cs typeface="League Spartan"/>
                <a:sym typeface="League Spartan"/>
              </a:rPr>
              <a:t>1. Attendance Crisis (Critical):</a:t>
            </a:r>
          </a:p>
          <a:p>
            <a:pPr marL="793580" lvl="1" indent="-396790" algn="l">
              <a:lnSpc>
                <a:spcPts val="4521"/>
              </a:lnSpc>
              <a:buFont typeface="Arial"/>
              <a:buChar char="•"/>
            </a:pPr>
            <a:r>
              <a:rPr lang="en-US" sz="3675">
                <a:solidFill>
                  <a:srgbClr val="000000"/>
                </a:solidFill>
                <a:latin typeface="Futura"/>
                <a:ea typeface="Futura"/>
                <a:cs typeface="Futura"/>
                <a:sym typeface="Futura"/>
              </a:rPr>
              <a:t>Attendance average: 50.2%</a:t>
            </a:r>
          </a:p>
          <a:p>
            <a:pPr marL="793580" lvl="1" indent="-396790" algn="l">
              <a:lnSpc>
                <a:spcPts val="4521"/>
              </a:lnSpc>
              <a:buFont typeface="Arial"/>
              <a:buChar char="•"/>
            </a:pPr>
            <a:r>
              <a:rPr lang="en-US" sz="3675">
                <a:solidFill>
                  <a:srgbClr val="000000"/>
                </a:solidFill>
                <a:latin typeface="Futura"/>
                <a:ea typeface="Futura"/>
                <a:cs typeface="Futura"/>
                <a:sym typeface="Futura"/>
              </a:rPr>
              <a:t>30% zero scores directly linked to absences</a:t>
            </a:r>
          </a:p>
          <a:p>
            <a:pPr marL="793580" lvl="1" indent="-396790" algn="l">
              <a:lnSpc>
                <a:spcPts val="4521"/>
              </a:lnSpc>
              <a:buFont typeface="Arial"/>
              <a:buChar char="•"/>
            </a:pPr>
            <a:r>
              <a:rPr lang="en-US" sz="3675">
                <a:solidFill>
                  <a:srgbClr val="000000"/>
                </a:solidFill>
                <a:latin typeface="Futura"/>
                <a:ea typeface="Futura"/>
                <a:cs typeface="Futura"/>
                <a:sym typeface="Futura"/>
              </a:rPr>
              <a:t>Affects 73% of students</a:t>
            </a:r>
          </a:p>
          <a:p>
            <a:pPr marL="793580" lvl="1" indent="-396790" algn="l">
              <a:lnSpc>
                <a:spcPts val="4521"/>
              </a:lnSpc>
              <a:buFont typeface="Arial"/>
              <a:buChar char="•"/>
            </a:pPr>
            <a:r>
              <a:rPr lang="en-US" sz="3675">
                <a:solidFill>
                  <a:srgbClr val="000000"/>
                </a:solidFill>
                <a:latin typeface="Futura"/>
                <a:ea typeface="Futura"/>
                <a:cs typeface="Futura"/>
                <a:sym typeface="Futura"/>
              </a:rPr>
              <a:t>Attendance must reach 70% in 2 months</a:t>
            </a:r>
          </a:p>
          <a:p>
            <a:pPr algn="l">
              <a:lnSpc>
                <a:spcPts val="4521"/>
              </a:lnSpc>
            </a:pPr>
            <a:endParaRPr lang="en-US" sz="3675">
              <a:solidFill>
                <a:srgbClr val="000000"/>
              </a:solidFill>
              <a:latin typeface="Futura"/>
              <a:ea typeface="Futura"/>
              <a:cs typeface="Futura"/>
              <a:sym typeface="Futura"/>
            </a:endParaRPr>
          </a:p>
        </p:txBody>
      </p:sp>
      <p:sp>
        <p:nvSpPr>
          <p:cNvPr id="9" name="TextBox 9"/>
          <p:cNvSpPr txBox="1"/>
          <p:nvPr/>
        </p:nvSpPr>
        <p:spPr>
          <a:xfrm>
            <a:off x="2676654" y="6921434"/>
            <a:ext cx="11449954" cy="2616472"/>
          </a:xfrm>
          <a:prstGeom prst="rect">
            <a:avLst/>
          </a:prstGeom>
        </p:spPr>
        <p:txBody>
          <a:bodyPr lIns="0" tIns="0" rIns="0" bIns="0" rtlCol="0" anchor="t">
            <a:spAutoFit/>
          </a:bodyPr>
          <a:lstStyle/>
          <a:p>
            <a:pPr algn="l">
              <a:lnSpc>
                <a:spcPts val="4133"/>
              </a:lnSpc>
            </a:pPr>
            <a:r>
              <a:rPr lang="en-US" sz="3360">
                <a:solidFill>
                  <a:srgbClr val="000000"/>
                </a:solidFill>
                <a:latin typeface="League Spartan"/>
                <a:ea typeface="League Spartan"/>
                <a:cs typeface="League Spartan"/>
                <a:sym typeface="League Spartan"/>
              </a:rPr>
              <a:t>2. Physics Performance Gap (High Priority)</a:t>
            </a:r>
          </a:p>
          <a:p>
            <a:pPr marL="725526" lvl="1" indent="-362763" algn="l">
              <a:lnSpc>
                <a:spcPts val="4133"/>
              </a:lnSpc>
              <a:buFont typeface="Arial"/>
              <a:buChar char="•"/>
            </a:pPr>
            <a:r>
              <a:rPr lang="en-US" sz="3360">
                <a:solidFill>
                  <a:srgbClr val="000000"/>
                </a:solidFill>
                <a:latin typeface="Futura"/>
                <a:ea typeface="Futura"/>
                <a:cs typeface="Futura"/>
                <a:sym typeface="Futura"/>
              </a:rPr>
              <a:t>Lowest average score (55.34)</a:t>
            </a:r>
          </a:p>
          <a:p>
            <a:pPr marL="725526" lvl="1" indent="-362763" algn="l">
              <a:lnSpc>
                <a:spcPts val="4133"/>
              </a:lnSpc>
              <a:buFont typeface="Arial"/>
              <a:buChar char="•"/>
            </a:pPr>
            <a:r>
              <a:rPr lang="en-US" sz="3360">
                <a:solidFill>
                  <a:srgbClr val="000000"/>
                </a:solidFill>
                <a:latin typeface="Futura"/>
                <a:ea typeface="Futura"/>
                <a:cs typeface="Futura"/>
                <a:sym typeface="Futura"/>
              </a:rPr>
              <a:t>High variability → inconsistent teaching</a:t>
            </a:r>
          </a:p>
          <a:p>
            <a:pPr marL="725526" lvl="1" indent="-362763" algn="l">
              <a:lnSpc>
                <a:spcPts val="4133"/>
              </a:lnSpc>
              <a:buFont typeface="Arial"/>
              <a:buChar char="•"/>
            </a:pPr>
            <a:r>
              <a:rPr lang="en-US" sz="3360">
                <a:solidFill>
                  <a:srgbClr val="000000"/>
                </a:solidFill>
                <a:latin typeface="Futura"/>
                <a:ea typeface="Futura"/>
                <a:cs typeface="Futura"/>
                <a:sym typeface="Futura"/>
              </a:rPr>
              <a:t>Requires tutoring, curriculum review, mentoring programs</a:t>
            </a:r>
          </a:p>
          <a:p>
            <a:pPr algn="l">
              <a:lnSpc>
                <a:spcPts val="4133"/>
              </a:lnSpc>
            </a:pPr>
            <a:endParaRPr lang="en-US" sz="3360">
              <a:solidFill>
                <a:srgbClr val="000000"/>
              </a:solidFill>
              <a:latin typeface="Futura"/>
              <a:ea typeface="Futura"/>
              <a:cs typeface="Futura"/>
              <a:sym typeface="Futura"/>
            </a:endParaRPr>
          </a:p>
        </p:txBody>
      </p:sp>
      <p:grpSp>
        <p:nvGrpSpPr>
          <p:cNvPr id="10" name="Group 10"/>
          <p:cNvGrpSpPr/>
          <p:nvPr/>
        </p:nvGrpSpPr>
        <p:grpSpPr>
          <a:xfrm>
            <a:off x="0" y="9459925"/>
            <a:ext cx="18288000" cy="827075"/>
            <a:chOff x="0" y="0"/>
            <a:chExt cx="24384000" cy="1102766"/>
          </a:xfrm>
        </p:grpSpPr>
        <p:sp>
          <p:nvSpPr>
            <p:cNvPr id="11" name="Freeform 11"/>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2"/>
              <a:stretch>
                <a:fillRect/>
              </a:stretch>
            </a:blipFill>
            <a:ln cap="sq">
              <a:noFill/>
              <a:prstDash val="solid"/>
              <a:miter/>
            </a:ln>
          </p:spPr>
        </p:sp>
        <p:sp>
          <p:nvSpPr>
            <p:cNvPr id="12" name="Freeform 12"/>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3"/>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7182562" y="-2902304"/>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571076" y="8998041"/>
            <a:ext cx="5804607" cy="5804607"/>
          </a:xfrm>
          <a:custGeom>
            <a:avLst/>
            <a:gdLst/>
            <a:ahLst/>
            <a:cxnLst/>
            <a:rect l="l" t="t" r="r" b="b"/>
            <a:pathLst>
              <a:path w="5804607" h="5804607">
                <a:moveTo>
                  <a:pt x="0" y="0"/>
                </a:moveTo>
                <a:lnTo>
                  <a:pt x="5804607" y="0"/>
                </a:lnTo>
                <a:lnTo>
                  <a:pt x="5804607" y="5804607"/>
                </a:lnTo>
                <a:lnTo>
                  <a:pt x="0" y="58046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204565" y="-6289806"/>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7259300" y="-740631"/>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7259300" y="9258300"/>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207550" y="1225111"/>
            <a:ext cx="15469162" cy="1408123"/>
          </a:xfrm>
          <a:prstGeom prst="rect">
            <a:avLst/>
          </a:prstGeom>
        </p:spPr>
        <p:txBody>
          <a:bodyPr lIns="0" tIns="0" rIns="0" bIns="0" rtlCol="0" anchor="t">
            <a:spAutoFit/>
          </a:bodyPr>
          <a:lstStyle/>
          <a:p>
            <a:pPr algn="l">
              <a:lnSpc>
                <a:spcPts val="11180"/>
              </a:lnSpc>
            </a:pPr>
            <a:r>
              <a:rPr lang="en-US" sz="9090">
                <a:solidFill>
                  <a:srgbClr val="000000"/>
                </a:solidFill>
                <a:latin typeface="League Spartan"/>
                <a:ea typeface="League Spartan"/>
                <a:cs typeface="League Spartan"/>
                <a:sym typeface="League Spartan"/>
              </a:rPr>
              <a:t>Key Findings &amp; Insights:</a:t>
            </a:r>
          </a:p>
        </p:txBody>
      </p:sp>
      <p:sp>
        <p:nvSpPr>
          <p:cNvPr id="8" name="TextBox 8"/>
          <p:cNvSpPr txBox="1"/>
          <p:nvPr/>
        </p:nvSpPr>
        <p:spPr>
          <a:xfrm>
            <a:off x="1512991" y="3966772"/>
            <a:ext cx="12443180" cy="2343932"/>
          </a:xfrm>
          <a:prstGeom prst="rect">
            <a:avLst/>
          </a:prstGeom>
        </p:spPr>
        <p:txBody>
          <a:bodyPr lIns="0" tIns="0" rIns="0" bIns="0" rtlCol="0" anchor="t">
            <a:spAutoFit/>
          </a:bodyPr>
          <a:lstStyle/>
          <a:p>
            <a:pPr algn="l">
              <a:lnSpc>
                <a:spcPts val="3701"/>
              </a:lnSpc>
            </a:pPr>
            <a:r>
              <a:rPr lang="en-US" sz="3009">
                <a:solidFill>
                  <a:srgbClr val="000000"/>
                </a:solidFill>
                <a:latin typeface="League Spartan"/>
                <a:ea typeface="League Spartan"/>
                <a:cs typeface="League Spartan"/>
                <a:sym typeface="League Spartan"/>
              </a:rPr>
              <a:t>3. Senior Performance Decline (High Priority)</a:t>
            </a:r>
          </a:p>
          <a:p>
            <a:pPr marL="649676" lvl="1" indent="-324838" algn="l">
              <a:lnSpc>
                <a:spcPts val="3701"/>
              </a:lnSpc>
              <a:buFont typeface="Arial"/>
              <a:buChar char="•"/>
            </a:pPr>
            <a:r>
              <a:rPr lang="en-US" sz="3009">
                <a:solidFill>
                  <a:srgbClr val="000000"/>
                </a:solidFill>
                <a:latin typeface="Futura"/>
                <a:ea typeface="Futura"/>
                <a:cs typeface="Futura"/>
                <a:sym typeface="Futura"/>
              </a:rPr>
              <a:t>Senior average: 54.2 (3 points lower than Freshman)</a:t>
            </a:r>
          </a:p>
          <a:p>
            <a:pPr marL="649676" lvl="1" indent="-324838" algn="l">
              <a:lnSpc>
                <a:spcPts val="3701"/>
              </a:lnSpc>
              <a:buFont typeface="Arial"/>
              <a:buChar char="•"/>
            </a:pPr>
            <a:r>
              <a:rPr lang="en-US" sz="3009">
                <a:solidFill>
                  <a:srgbClr val="000000"/>
                </a:solidFill>
                <a:latin typeface="Futura"/>
                <a:ea typeface="Futura"/>
                <a:cs typeface="Futura"/>
                <a:sym typeface="Futura"/>
              </a:rPr>
              <a:t>Indicates burnout and structural issues</a:t>
            </a:r>
          </a:p>
          <a:p>
            <a:pPr marL="649676" lvl="1" indent="-324838" algn="l">
              <a:lnSpc>
                <a:spcPts val="3701"/>
              </a:lnSpc>
              <a:buFont typeface="Arial"/>
              <a:buChar char="•"/>
            </a:pPr>
            <a:r>
              <a:rPr lang="en-US" sz="3009">
                <a:solidFill>
                  <a:srgbClr val="000000"/>
                </a:solidFill>
                <a:latin typeface="Futura"/>
                <a:ea typeface="Futura"/>
                <a:cs typeface="Futura"/>
                <a:sym typeface="Futura"/>
              </a:rPr>
              <a:t>Needs direct support and prerequisite checks</a:t>
            </a:r>
          </a:p>
          <a:p>
            <a:pPr algn="l">
              <a:lnSpc>
                <a:spcPts val="3701"/>
              </a:lnSpc>
            </a:pPr>
            <a:endParaRPr lang="en-US" sz="3009">
              <a:solidFill>
                <a:srgbClr val="000000"/>
              </a:solidFill>
              <a:latin typeface="Futura"/>
              <a:ea typeface="Futura"/>
              <a:cs typeface="Futura"/>
              <a:sym typeface="Futura"/>
            </a:endParaRPr>
          </a:p>
        </p:txBody>
      </p:sp>
      <p:grpSp>
        <p:nvGrpSpPr>
          <p:cNvPr id="9" name="Group 9"/>
          <p:cNvGrpSpPr/>
          <p:nvPr/>
        </p:nvGrpSpPr>
        <p:grpSpPr>
          <a:xfrm>
            <a:off x="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2"/>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3"/>
              <a:stretch>
                <a:fillRect/>
              </a:stretch>
            </a:blipFill>
            <a:ln cap="sq">
              <a:noFill/>
              <a:prstDash val="solid"/>
              <a:miter/>
            </a:ln>
          </p:spPr>
        </p:sp>
      </p:grpSp>
      <p:sp>
        <p:nvSpPr>
          <p:cNvPr id="12" name="TextBox 12"/>
          <p:cNvSpPr txBox="1"/>
          <p:nvPr/>
        </p:nvSpPr>
        <p:spPr>
          <a:xfrm>
            <a:off x="3233531" y="7115994"/>
            <a:ext cx="12443180" cy="2343932"/>
          </a:xfrm>
          <a:prstGeom prst="rect">
            <a:avLst/>
          </a:prstGeom>
        </p:spPr>
        <p:txBody>
          <a:bodyPr lIns="0" tIns="0" rIns="0" bIns="0" rtlCol="0" anchor="t">
            <a:spAutoFit/>
          </a:bodyPr>
          <a:lstStyle/>
          <a:p>
            <a:pPr algn="l">
              <a:lnSpc>
                <a:spcPts val="3701"/>
              </a:lnSpc>
            </a:pPr>
            <a:r>
              <a:rPr lang="en-US" sz="3009">
                <a:solidFill>
                  <a:srgbClr val="000000"/>
                </a:solidFill>
                <a:latin typeface="League Spartan"/>
                <a:ea typeface="League Spartan"/>
                <a:cs typeface="League Spartan"/>
                <a:sym typeface="League Spartan"/>
              </a:rPr>
              <a:t>4. Excellence is Achievable</a:t>
            </a:r>
          </a:p>
          <a:p>
            <a:pPr marL="649676" lvl="1" indent="-324838" algn="l">
              <a:lnSpc>
                <a:spcPts val="3701"/>
              </a:lnSpc>
              <a:buFont typeface="Arial"/>
              <a:buChar char="•"/>
            </a:pPr>
            <a:r>
              <a:rPr lang="en-US" sz="3009">
                <a:solidFill>
                  <a:srgbClr val="000000"/>
                </a:solidFill>
                <a:latin typeface="Futura"/>
                <a:ea typeface="Futura"/>
                <a:cs typeface="Futura"/>
                <a:sym typeface="Futura"/>
              </a:rPr>
              <a:t>Perfect scores in all subjects</a:t>
            </a:r>
          </a:p>
          <a:p>
            <a:pPr marL="649676" lvl="1" indent="-324838" algn="l">
              <a:lnSpc>
                <a:spcPts val="3701"/>
              </a:lnSpc>
              <a:buFont typeface="Arial"/>
              <a:buChar char="•"/>
            </a:pPr>
            <a:r>
              <a:rPr lang="en-US" sz="3009">
                <a:solidFill>
                  <a:srgbClr val="000000"/>
                </a:solidFill>
                <a:latin typeface="Futura"/>
                <a:ea typeface="Futura"/>
                <a:cs typeface="Futura"/>
                <a:sym typeface="Futura"/>
              </a:rPr>
              <a:t>Top performers score 89+</a:t>
            </a:r>
          </a:p>
          <a:p>
            <a:pPr marL="649676" lvl="1" indent="-324838" algn="l">
              <a:lnSpc>
                <a:spcPts val="3701"/>
              </a:lnSpc>
              <a:buFont typeface="Arial"/>
              <a:buChar char="•"/>
            </a:pPr>
            <a:r>
              <a:rPr lang="en-US" sz="3009">
                <a:solidFill>
                  <a:srgbClr val="000000"/>
                </a:solidFill>
                <a:latin typeface="Futura"/>
                <a:ea typeface="Futura"/>
                <a:cs typeface="Futura"/>
                <a:sym typeface="Futura"/>
              </a:rPr>
              <a:t>Their success can guide improvement strategies</a:t>
            </a:r>
          </a:p>
          <a:p>
            <a:pPr algn="l">
              <a:lnSpc>
                <a:spcPts val="3701"/>
              </a:lnSpc>
            </a:pPr>
            <a:endParaRPr lang="en-US" sz="3009">
              <a:solidFill>
                <a:srgbClr val="000000"/>
              </a:solidFill>
              <a:latin typeface="Futura"/>
              <a:ea typeface="Futura"/>
              <a:cs typeface="Futura"/>
              <a:sym typeface="Futura"/>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5400000">
            <a:off x="11527683" y="2930421"/>
            <a:ext cx="16073566" cy="8453182"/>
          </a:xfrm>
          <a:custGeom>
            <a:avLst/>
            <a:gdLst/>
            <a:ahLst/>
            <a:cxnLst/>
            <a:rect l="l" t="t" r="r" b="b"/>
            <a:pathLst>
              <a:path w="16073566" h="8453182">
                <a:moveTo>
                  <a:pt x="0" y="0"/>
                </a:moveTo>
                <a:lnTo>
                  <a:pt x="16073566" y="0"/>
                </a:lnTo>
                <a:lnTo>
                  <a:pt x="16073566" y="8453182"/>
                </a:lnTo>
                <a:lnTo>
                  <a:pt x="0" y="8453182"/>
                </a:lnTo>
                <a:lnTo>
                  <a:pt x="0" y="0"/>
                </a:lnTo>
                <a:close/>
              </a:path>
            </a:pathLst>
          </a:custGeom>
          <a:blipFill>
            <a:blip r:embed="rId2">
              <a:alphaModFix amt="89000"/>
              <a:extLst>
                <a:ext uri="{96DAC541-7B7A-43D3-8B79-37D633B846F1}">
                  <asvg:svgBlip xmlns:asvg="http://schemas.microsoft.com/office/drawing/2016/SVG/main" r:embed="rId3"/>
                </a:ext>
              </a:extLst>
            </a:blip>
            <a:stretch>
              <a:fillRect t="-90148"/>
            </a:stretch>
          </a:blipFill>
        </p:spPr>
      </p:sp>
      <p:sp>
        <p:nvSpPr>
          <p:cNvPr id="3" name="TextBox 3"/>
          <p:cNvSpPr txBox="1"/>
          <p:nvPr/>
        </p:nvSpPr>
        <p:spPr>
          <a:xfrm>
            <a:off x="324542" y="1982059"/>
            <a:ext cx="6007140" cy="1273646"/>
          </a:xfrm>
          <a:prstGeom prst="rect">
            <a:avLst/>
          </a:prstGeom>
        </p:spPr>
        <p:txBody>
          <a:bodyPr lIns="0" tIns="0" rIns="0" bIns="0" rtlCol="0" anchor="t">
            <a:spAutoFit/>
          </a:bodyPr>
          <a:lstStyle/>
          <a:p>
            <a:pPr algn="l">
              <a:lnSpc>
                <a:spcPts val="10097"/>
              </a:lnSpc>
            </a:pPr>
            <a:r>
              <a:rPr lang="en-US" sz="8209">
                <a:solidFill>
                  <a:srgbClr val="000000"/>
                </a:solidFill>
                <a:latin typeface="League Spartan"/>
                <a:ea typeface="League Spartan"/>
                <a:cs typeface="League Spartan"/>
                <a:sym typeface="League Spartan"/>
              </a:rPr>
              <a:t>Conclusion</a:t>
            </a:r>
          </a:p>
        </p:txBody>
      </p:sp>
      <p:sp>
        <p:nvSpPr>
          <p:cNvPr id="4" name="Freeform 4"/>
          <p:cNvSpPr/>
          <p:nvPr/>
        </p:nvSpPr>
        <p:spPr>
          <a:xfrm>
            <a:off x="15759394" y="393689"/>
            <a:ext cx="1499906" cy="1746616"/>
          </a:xfrm>
          <a:custGeom>
            <a:avLst/>
            <a:gdLst/>
            <a:ahLst/>
            <a:cxnLst/>
            <a:rect l="l" t="t" r="r" b="b"/>
            <a:pathLst>
              <a:path w="1499906" h="1746616">
                <a:moveTo>
                  <a:pt x="0" y="0"/>
                </a:moveTo>
                <a:lnTo>
                  <a:pt x="1499906" y="0"/>
                </a:lnTo>
                <a:lnTo>
                  <a:pt x="1499906" y="1746615"/>
                </a:lnTo>
                <a:lnTo>
                  <a:pt x="0" y="17466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3728645">
            <a:off x="-636995" y="-4777433"/>
            <a:ext cx="6303208" cy="6303208"/>
          </a:xfrm>
          <a:custGeom>
            <a:avLst/>
            <a:gdLst/>
            <a:ahLst/>
            <a:cxnLst/>
            <a:rect l="l" t="t" r="r" b="b"/>
            <a:pathLst>
              <a:path w="6303208" h="6303208">
                <a:moveTo>
                  <a:pt x="0" y="0"/>
                </a:moveTo>
                <a:lnTo>
                  <a:pt x="6303208" y="0"/>
                </a:lnTo>
                <a:lnTo>
                  <a:pt x="6303208" y="6303208"/>
                </a:lnTo>
                <a:lnTo>
                  <a:pt x="0" y="6303208"/>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581832" y="3964459"/>
            <a:ext cx="17124336" cy="5795010"/>
          </a:xfrm>
          <a:prstGeom prst="rect">
            <a:avLst/>
          </a:prstGeom>
        </p:spPr>
        <p:txBody>
          <a:bodyPr lIns="0" tIns="0" rIns="0" bIns="0" rtlCol="0" anchor="t">
            <a:spAutoFit/>
          </a:bodyPr>
          <a:lstStyle/>
          <a:p>
            <a:pPr algn="l">
              <a:lnSpc>
                <a:spcPts val="5040"/>
              </a:lnSpc>
            </a:pPr>
            <a:r>
              <a:rPr lang="en-US" sz="3600" b="1">
                <a:solidFill>
                  <a:srgbClr val="000000"/>
                </a:solidFill>
                <a:latin typeface="Futura Bold"/>
                <a:ea typeface="Futura Bold"/>
                <a:cs typeface="Futura Bold"/>
                <a:sym typeface="Futura Bold"/>
              </a:rPr>
              <a:t>The Student Performance Analysis System successfully transformed messy, fragmented data into clear, actionable insights. Through ETL, database design, SQL analysis, and visualizations, the project identified critical issues like attendance, subject difficulty, and performance decline—while also highlighting opportunities for excellence.</a:t>
            </a:r>
          </a:p>
          <a:p>
            <a:pPr algn="l">
              <a:lnSpc>
                <a:spcPts val="5040"/>
              </a:lnSpc>
            </a:pPr>
            <a:endParaRPr lang="en-US" sz="3600" b="1">
              <a:solidFill>
                <a:srgbClr val="000000"/>
              </a:solidFill>
              <a:latin typeface="Futura Bold"/>
              <a:ea typeface="Futura Bold"/>
              <a:cs typeface="Futura Bold"/>
              <a:sym typeface="Futura Bold"/>
            </a:endParaRPr>
          </a:p>
          <a:p>
            <a:pPr algn="l">
              <a:lnSpc>
                <a:spcPts val="5040"/>
              </a:lnSpc>
            </a:pPr>
            <a:endParaRPr lang="en-US" sz="3600" b="1">
              <a:solidFill>
                <a:srgbClr val="000000"/>
              </a:solidFill>
              <a:latin typeface="Futura Bold"/>
              <a:ea typeface="Futura Bold"/>
              <a:cs typeface="Futura Bold"/>
              <a:sym typeface="Futura Bold"/>
            </a:endParaRPr>
          </a:p>
          <a:p>
            <a:pPr algn="l">
              <a:lnSpc>
                <a:spcPts val="5040"/>
              </a:lnSpc>
            </a:pPr>
            <a:r>
              <a:rPr lang="en-US" sz="3600" b="1">
                <a:solidFill>
                  <a:srgbClr val="000000"/>
                </a:solidFill>
                <a:latin typeface="Futura Bold"/>
                <a:ea typeface="Futura Bold"/>
                <a:cs typeface="Futura Bold"/>
                <a:sym typeface="Futura Bold"/>
              </a:rPr>
              <a:t>The system now provides a solid foundation for informed decision-making, performance improvement, and long-term institutional growth.</a:t>
            </a:r>
          </a:p>
          <a:p>
            <a:pPr algn="l">
              <a:lnSpc>
                <a:spcPts val="5040"/>
              </a:lnSpc>
            </a:pPr>
            <a:endParaRPr lang="en-US" sz="3600" b="1">
              <a:solidFill>
                <a:srgbClr val="000000"/>
              </a:solidFill>
              <a:latin typeface="Futura Bold"/>
              <a:ea typeface="Futura Bold"/>
              <a:cs typeface="Futura Bold"/>
              <a:sym typeface="Futura Bold"/>
            </a:endParaRPr>
          </a:p>
        </p:txBody>
      </p:sp>
      <p:grpSp>
        <p:nvGrpSpPr>
          <p:cNvPr id="7" name="Group 7"/>
          <p:cNvGrpSpPr/>
          <p:nvPr/>
        </p:nvGrpSpPr>
        <p:grpSpPr>
          <a:xfrm rot="-5400000">
            <a:off x="1479568" y="5073628"/>
            <a:ext cx="413551" cy="4580320"/>
            <a:chOff x="0" y="0"/>
            <a:chExt cx="2354580" cy="26078363"/>
          </a:xfrm>
        </p:grpSpPr>
        <p:sp>
          <p:nvSpPr>
            <p:cNvPr id="8" name="Freeform 8"/>
            <p:cNvSpPr/>
            <p:nvPr/>
          </p:nvSpPr>
          <p:spPr>
            <a:xfrm>
              <a:off x="0" y="0"/>
              <a:ext cx="2353310" cy="26078362"/>
            </a:xfrm>
            <a:custGeom>
              <a:avLst/>
              <a:gdLst/>
              <a:ahLst/>
              <a:cxnLst/>
              <a:rect l="l" t="t" r="r" b="b"/>
              <a:pathLst>
                <a:path w="2353310" h="26078362">
                  <a:moveTo>
                    <a:pt x="784860" y="26011054"/>
                  </a:moveTo>
                  <a:cubicBezTo>
                    <a:pt x="905510" y="26051694"/>
                    <a:pt x="1042670" y="26078362"/>
                    <a:pt x="1177290" y="26078362"/>
                  </a:cubicBezTo>
                  <a:cubicBezTo>
                    <a:pt x="1311910" y="26078362"/>
                    <a:pt x="1441450" y="26055504"/>
                    <a:pt x="1560830" y="26014862"/>
                  </a:cubicBezTo>
                  <a:cubicBezTo>
                    <a:pt x="1563370" y="26013594"/>
                    <a:pt x="1565910" y="26013594"/>
                    <a:pt x="1568450" y="26012322"/>
                  </a:cubicBezTo>
                  <a:cubicBezTo>
                    <a:pt x="2016760" y="25849763"/>
                    <a:pt x="2346960" y="25420503"/>
                    <a:pt x="2353310" y="24847440"/>
                  </a:cubicBezTo>
                  <a:lnTo>
                    <a:pt x="2353310" y="0"/>
                  </a:lnTo>
                  <a:lnTo>
                    <a:pt x="0" y="0"/>
                  </a:lnTo>
                  <a:lnTo>
                    <a:pt x="0" y="24828316"/>
                  </a:lnTo>
                  <a:cubicBezTo>
                    <a:pt x="6350" y="25423042"/>
                    <a:pt x="331470" y="25852303"/>
                    <a:pt x="784860" y="26011054"/>
                  </a:cubicBezTo>
                  <a:close/>
                </a:path>
              </a:pathLst>
            </a:custGeom>
            <a:solidFill>
              <a:srgbClr val="000000"/>
            </a:solidFill>
          </p:spPr>
        </p:sp>
      </p:grpSp>
      <p:grpSp>
        <p:nvGrpSpPr>
          <p:cNvPr id="9" name="Group 9"/>
          <p:cNvGrpSpPr/>
          <p:nvPr/>
        </p:nvGrpSpPr>
        <p:grpSpPr>
          <a:xfrm>
            <a:off x="57150" y="9459925"/>
            <a:ext cx="18288000" cy="827075"/>
            <a:chOff x="0" y="0"/>
            <a:chExt cx="24384000" cy="1102766"/>
          </a:xfrm>
        </p:grpSpPr>
        <p:sp>
          <p:nvSpPr>
            <p:cNvPr id="10" name="Freeform 10"/>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8"/>
              <a:stretch>
                <a:fillRect/>
              </a:stretch>
            </a:blipFill>
            <a:ln cap="sq">
              <a:noFill/>
              <a:prstDash val="solid"/>
              <a:miter/>
            </a:ln>
          </p:spPr>
        </p:sp>
        <p:sp>
          <p:nvSpPr>
            <p:cNvPr id="11" name="Freeform 11"/>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9"/>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rot="8100000">
            <a:off x="13497880" y="2230873"/>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144000" y="2230873"/>
            <a:ext cx="5804607" cy="5804607"/>
          </a:xfrm>
          <a:custGeom>
            <a:avLst/>
            <a:gdLst/>
            <a:ahLst/>
            <a:cxnLst/>
            <a:rect l="l" t="t" r="r" b="b"/>
            <a:pathLst>
              <a:path w="5804607" h="5804607">
                <a:moveTo>
                  <a:pt x="0" y="0"/>
                </a:moveTo>
                <a:lnTo>
                  <a:pt x="5804607" y="0"/>
                </a:lnTo>
                <a:lnTo>
                  <a:pt x="5804607" y="5804608"/>
                </a:lnTo>
                <a:lnTo>
                  <a:pt x="0" y="58046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43526" y="7597308"/>
            <a:ext cx="8233265" cy="8233265"/>
          </a:xfrm>
          <a:custGeom>
            <a:avLst/>
            <a:gdLst/>
            <a:ahLst/>
            <a:cxnLst/>
            <a:rect l="l" t="t" r="r" b="b"/>
            <a:pathLst>
              <a:path w="8233265" h="8233265">
                <a:moveTo>
                  <a:pt x="0" y="0"/>
                </a:moveTo>
                <a:lnTo>
                  <a:pt x="8233265" y="0"/>
                </a:lnTo>
                <a:lnTo>
                  <a:pt x="8233265" y="8233265"/>
                </a:lnTo>
                <a:lnTo>
                  <a:pt x="0" y="8233265"/>
                </a:lnTo>
                <a:lnTo>
                  <a:pt x="0" y="0"/>
                </a:lnTo>
                <a:close/>
              </a:path>
            </a:pathLst>
          </a:custGeom>
          <a:blipFill>
            <a:blip r:embed="rId6">
              <a:alphaModFix amt="96000"/>
              <a:extLst>
                <a:ext uri="{96DAC541-7B7A-43D3-8B79-37D633B846F1}">
                  <asvg:svgBlip xmlns:asvg="http://schemas.microsoft.com/office/drawing/2016/SVG/main" r:embed="rId7"/>
                </a:ext>
              </a:extLst>
            </a:blip>
            <a:stretch>
              <a:fillRect/>
            </a:stretch>
          </a:blipFill>
        </p:spPr>
      </p:sp>
      <p:sp>
        <p:nvSpPr>
          <p:cNvPr id="5" name="Freeform 5"/>
          <p:cNvSpPr/>
          <p:nvPr/>
        </p:nvSpPr>
        <p:spPr>
          <a:xfrm>
            <a:off x="15980388" y="1346208"/>
            <a:ext cx="1740378" cy="1769331"/>
          </a:xfrm>
          <a:custGeom>
            <a:avLst/>
            <a:gdLst/>
            <a:ahLst/>
            <a:cxnLst/>
            <a:rect l="l" t="t" r="r" b="b"/>
            <a:pathLst>
              <a:path w="1740378" h="1769331">
                <a:moveTo>
                  <a:pt x="0" y="0"/>
                </a:moveTo>
                <a:lnTo>
                  <a:pt x="1740378" y="0"/>
                </a:lnTo>
                <a:lnTo>
                  <a:pt x="1740378" y="1769331"/>
                </a:lnTo>
                <a:lnTo>
                  <a:pt x="0" y="176933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448701" y="6288865"/>
            <a:ext cx="1499906" cy="1746616"/>
          </a:xfrm>
          <a:custGeom>
            <a:avLst/>
            <a:gdLst/>
            <a:ahLst/>
            <a:cxnLst/>
            <a:rect l="l" t="t" r="r" b="b"/>
            <a:pathLst>
              <a:path w="1499906" h="1746616">
                <a:moveTo>
                  <a:pt x="0" y="0"/>
                </a:moveTo>
                <a:lnTo>
                  <a:pt x="1499906" y="0"/>
                </a:lnTo>
                <a:lnTo>
                  <a:pt x="1499906" y="1746616"/>
                </a:lnTo>
                <a:lnTo>
                  <a:pt x="0" y="17466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592828" y="4803910"/>
            <a:ext cx="7122369" cy="1408034"/>
          </a:xfrm>
          <a:prstGeom prst="rect">
            <a:avLst/>
          </a:prstGeom>
        </p:spPr>
        <p:txBody>
          <a:bodyPr lIns="0" tIns="0" rIns="0" bIns="0" rtlCol="0" anchor="t">
            <a:spAutoFit/>
          </a:bodyPr>
          <a:lstStyle/>
          <a:p>
            <a:pPr algn="l">
              <a:lnSpc>
                <a:spcPts val="11180"/>
              </a:lnSpc>
            </a:pPr>
            <a:r>
              <a:rPr lang="en-US" sz="9090">
                <a:solidFill>
                  <a:srgbClr val="000000"/>
                </a:solidFill>
                <a:latin typeface="League Spartan"/>
                <a:ea typeface="League Spartan"/>
                <a:cs typeface="League Spartan"/>
                <a:sym typeface="League Spartan"/>
              </a:rPr>
              <a:t>Thank you</a:t>
            </a:r>
          </a:p>
        </p:txBody>
      </p:sp>
      <p:grpSp>
        <p:nvGrpSpPr>
          <p:cNvPr id="8" name="Group 8"/>
          <p:cNvGrpSpPr/>
          <p:nvPr/>
        </p:nvGrpSpPr>
        <p:grpSpPr>
          <a:xfrm>
            <a:off x="1592828" y="1123164"/>
            <a:ext cx="2494042" cy="446087"/>
            <a:chOff x="0" y="-297392"/>
            <a:chExt cx="3325390" cy="594783"/>
          </a:xfrm>
        </p:grpSpPr>
        <p:sp>
          <p:nvSpPr>
            <p:cNvPr id="9" name="AutoShape 9"/>
            <p:cNvSpPr/>
            <p:nvPr/>
          </p:nvSpPr>
          <p:spPr>
            <a:xfrm>
              <a:off x="0" y="0"/>
              <a:ext cx="3325390" cy="0"/>
            </a:xfrm>
            <a:prstGeom prst="line">
              <a:avLst/>
            </a:prstGeom>
            <a:ln w="863600" cap="rnd">
              <a:solidFill>
                <a:srgbClr val="000000"/>
              </a:solidFill>
              <a:prstDash val="solid"/>
              <a:headEnd type="none" w="sm" len="sm"/>
              <a:tailEnd type="none" w="sm" len="sm"/>
            </a:ln>
          </p:spPr>
        </p:sp>
        <p:sp>
          <p:nvSpPr>
            <p:cNvPr id="10" name="TextBox 10"/>
            <p:cNvSpPr txBox="1"/>
            <p:nvPr/>
          </p:nvSpPr>
          <p:spPr>
            <a:xfrm>
              <a:off x="481236" y="-297392"/>
              <a:ext cx="2362918" cy="594783"/>
            </a:xfrm>
            <a:prstGeom prst="rect">
              <a:avLst/>
            </a:prstGeom>
          </p:spPr>
          <p:txBody>
            <a:bodyPr lIns="0" tIns="0" rIns="0" bIns="0" rtlCol="0" anchor="t">
              <a:spAutoFit/>
            </a:bodyPr>
            <a:lstStyle/>
            <a:p>
              <a:pPr algn="ctr">
                <a:lnSpc>
                  <a:spcPts val="3499"/>
                </a:lnSpc>
              </a:pPr>
              <a:r>
                <a:rPr lang="en-US" sz="2499" dirty="0">
                  <a:solidFill>
                    <a:srgbClr val="FFFFFF"/>
                  </a:solidFill>
                  <a:latin typeface="Futura"/>
                  <a:ea typeface="Futura"/>
                  <a:cs typeface="Futura"/>
                  <a:sym typeface="Futura"/>
                </a:rPr>
                <a:t>End</a:t>
              </a:r>
            </a:p>
          </p:txBody>
        </p:sp>
      </p:grpSp>
      <p:sp>
        <p:nvSpPr>
          <p:cNvPr id="11" name="TextBox 11"/>
          <p:cNvSpPr txBox="1"/>
          <p:nvPr/>
        </p:nvSpPr>
        <p:spPr>
          <a:xfrm>
            <a:off x="1684420" y="6230935"/>
            <a:ext cx="6233659" cy="521970"/>
          </a:xfrm>
          <a:prstGeom prst="rect">
            <a:avLst/>
          </a:prstGeom>
        </p:spPr>
        <p:txBody>
          <a:bodyPr lIns="0" tIns="0" rIns="0" bIns="0" rtlCol="0" anchor="t">
            <a:spAutoFit/>
          </a:bodyPr>
          <a:lstStyle/>
          <a:p>
            <a:pPr algn="l">
              <a:lnSpc>
                <a:spcPts val="3690"/>
              </a:lnSpc>
            </a:pPr>
            <a:r>
              <a:rPr lang="en-US" sz="3000">
                <a:solidFill>
                  <a:srgbClr val="000000"/>
                </a:solidFill>
                <a:latin typeface="Futura"/>
                <a:ea typeface="Futura"/>
                <a:cs typeface="Futura"/>
                <a:sym typeface="Futura"/>
              </a:rPr>
              <a:t>Do you have any questions?</a:t>
            </a:r>
          </a:p>
        </p:txBody>
      </p:sp>
      <p:grpSp>
        <p:nvGrpSpPr>
          <p:cNvPr id="12" name="Group 12"/>
          <p:cNvGrpSpPr/>
          <p:nvPr/>
        </p:nvGrpSpPr>
        <p:grpSpPr>
          <a:xfrm>
            <a:off x="28575" y="9459925"/>
            <a:ext cx="18288000" cy="827075"/>
            <a:chOff x="0" y="0"/>
            <a:chExt cx="24384000" cy="1102766"/>
          </a:xfrm>
        </p:grpSpPr>
        <p:sp>
          <p:nvSpPr>
            <p:cNvPr id="13" name="Freeform 13"/>
            <p:cNvSpPr/>
            <p:nvPr/>
          </p:nvSpPr>
          <p:spPr>
            <a:xfrm>
              <a:off x="0" y="0"/>
              <a:ext cx="1961249" cy="1102766"/>
            </a:xfrm>
            <a:custGeom>
              <a:avLst/>
              <a:gdLst/>
              <a:ahLst/>
              <a:cxnLst/>
              <a:rect l="l" t="t" r="r" b="b"/>
              <a:pathLst>
                <a:path w="1961249" h="1102766">
                  <a:moveTo>
                    <a:pt x="0" y="0"/>
                  </a:moveTo>
                  <a:lnTo>
                    <a:pt x="1961249" y="0"/>
                  </a:lnTo>
                  <a:lnTo>
                    <a:pt x="1961249" y="1102766"/>
                  </a:lnTo>
                  <a:lnTo>
                    <a:pt x="0" y="1102766"/>
                  </a:lnTo>
                  <a:lnTo>
                    <a:pt x="0" y="0"/>
                  </a:lnTo>
                  <a:close/>
                </a:path>
              </a:pathLst>
            </a:custGeom>
            <a:blipFill>
              <a:blip r:embed="rId12"/>
              <a:stretch>
                <a:fillRect/>
              </a:stretch>
            </a:blipFill>
            <a:ln cap="sq">
              <a:noFill/>
              <a:prstDash val="solid"/>
              <a:miter/>
            </a:ln>
          </p:spPr>
        </p:sp>
        <p:sp>
          <p:nvSpPr>
            <p:cNvPr id="14" name="Freeform 14"/>
            <p:cNvSpPr/>
            <p:nvPr/>
          </p:nvSpPr>
          <p:spPr>
            <a:xfrm>
              <a:off x="22313036" y="38511"/>
              <a:ext cx="2070964" cy="1025744"/>
            </a:xfrm>
            <a:custGeom>
              <a:avLst/>
              <a:gdLst/>
              <a:ahLst/>
              <a:cxnLst/>
              <a:rect l="l" t="t" r="r" b="b"/>
              <a:pathLst>
                <a:path w="2070964" h="1025744">
                  <a:moveTo>
                    <a:pt x="0" y="0"/>
                  </a:moveTo>
                  <a:lnTo>
                    <a:pt x="2070964" y="0"/>
                  </a:lnTo>
                  <a:lnTo>
                    <a:pt x="2070964" y="1025744"/>
                  </a:lnTo>
                  <a:lnTo>
                    <a:pt x="0" y="1025744"/>
                  </a:lnTo>
                  <a:lnTo>
                    <a:pt x="0" y="0"/>
                  </a:lnTo>
                  <a:close/>
                </a:path>
              </a:pathLst>
            </a:custGeom>
            <a:blipFill>
              <a:blip r:embed="rId13"/>
              <a:stretch>
                <a:fillRect/>
              </a:stretch>
            </a:blipFill>
            <a:ln cap="sq">
              <a:noFill/>
              <a:prstDash val="solid"/>
              <a:miter/>
            </a:ln>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1523</Words>
  <Application>Microsoft Office PowerPoint</Application>
  <PresentationFormat>Custom</PresentationFormat>
  <Paragraphs>403</Paragraphs>
  <Slides>34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League Spartan</vt:lpstr>
      <vt:lpstr>Futura Bold</vt:lpstr>
      <vt:lpstr>Calibri</vt:lpstr>
      <vt:lpstr>Futura</vt:lpstr>
      <vt:lpstr>Arial</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Analysis System (Presentation)</dc:title>
  <cp:lastModifiedBy>Omar Reda Mansour Khamis Elshaer</cp:lastModifiedBy>
  <cp:revision>3</cp:revision>
  <dcterms:created xsi:type="dcterms:W3CDTF">2006-08-16T00:00:00Z</dcterms:created>
  <dcterms:modified xsi:type="dcterms:W3CDTF">2025-12-01T03:48:50Z</dcterms:modified>
  <dc:identifier>DAG6O0URp7g</dc:identifier>
</cp:coreProperties>
</file>